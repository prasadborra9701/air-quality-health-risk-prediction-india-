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7"/>
  </p:notesMasterIdLst>
  <p:sldIdLst>
    <p:sldId id="256" r:id="rId2"/>
    <p:sldId id="257" r:id="rId3"/>
    <p:sldId id="258" r:id="rId4"/>
    <p:sldId id="265" r:id="rId5"/>
    <p:sldId id="259" r:id="rId6"/>
    <p:sldId id="260" r:id="rId7"/>
    <p:sldId id="261" r:id="rId8"/>
    <p:sldId id="262" r:id="rId9"/>
    <p:sldId id="269" r:id="rId10"/>
    <p:sldId id="270" r:id="rId11"/>
    <p:sldId id="263" r:id="rId12"/>
    <p:sldId id="266" r:id="rId13"/>
    <p:sldId id="267" r:id="rId14"/>
    <p:sldId id="271"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rita Panda" userId="c6f3231e7eb97569" providerId="LiveId" clId="{BF648E9B-477D-42D6-B814-DEB95DBF407C}"/>
    <pc:docChg chg="undo custSel addSld delSld modSld">
      <pc:chgData name="Susrita Panda" userId="c6f3231e7eb97569" providerId="LiveId" clId="{BF648E9B-477D-42D6-B814-DEB95DBF407C}" dt="2026-04-18T05:50:33.883" v="3761" actId="20577"/>
      <pc:docMkLst>
        <pc:docMk/>
      </pc:docMkLst>
      <pc:sldChg chg="modSp new mod">
        <pc:chgData name="Susrita Panda" userId="c6f3231e7eb97569" providerId="LiveId" clId="{BF648E9B-477D-42D6-B814-DEB95DBF407C}" dt="2026-04-07T09:31:41.044" v="3610"/>
        <pc:sldMkLst>
          <pc:docMk/>
          <pc:sldMk cId="2369239565" sldId="256"/>
        </pc:sldMkLst>
        <pc:spChg chg="mod">
          <ac:chgData name="Susrita Panda" userId="c6f3231e7eb97569" providerId="LiveId" clId="{BF648E9B-477D-42D6-B814-DEB95DBF407C}" dt="2026-04-07T09:31:15.544" v="3605" actId="14100"/>
          <ac:spMkLst>
            <pc:docMk/>
            <pc:sldMk cId="2369239565" sldId="256"/>
            <ac:spMk id="2" creationId="{C9B3086A-F6C8-4AC9-38D7-9B0F29B0245A}"/>
          </ac:spMkLst>
        </pc:spChg>
        <pc:spChg chg="mod">
          <ac:chgData name="Susrita Panda" userId="c6f3231e7eb97569" providerId="LiveId" clId="{BF648E9B-477D-42D6-B814-DEB95DBF407C}" dt="2026-04-07T09:31:41.044" v="3610"/>
          <ac:spMkLst>
            <pc:docMk/>
            <pc:sldMk cId="2369239565" sldId="256"/>
            <ac:spMk id="3" creationId="{E3CCC2D9-1D38-19B4-7929-2B2E74EC6BEE}"/>
          </ac:spMkLst>
        </pc:spChg>
      </pc:sldChg>
      <pc:sldChg chg="addSp modSp new mod">
        <pc:chgData name="Susrita Panda" userId="c6f3231e7eb97569" providerId="LiveId" clId="{BF648E9B-477D-42D6-B814-DEB95DBF407C}" dt="2026-04-07T09:46:48.036" v="3738" actId="255"/>
        <pc:sldMkLst>
          <pc:docMk/>
          <pc:sldMk cId="2065994219" sldId="257"/>
        </pc:sldMkLst>
        <pc:spChg chg="mod">
          <ac:chgData name="Susrita Panda" userId="c6f3231e7eb97569" providerId="LiveId" clId="{BF648E9B-477D-42D6-B814-DEB95DBF407C}" dt="2026-04-07T09:46:48.036" v="3738" actId="255"/>
          <ac:spMkLst>
            <pc:docMk/>
            <pc:sldMk cId="2065994219" sldId="257"/>
            <ac:spMk id="2" creationId="{5900D0E4-0A8C-58DD-E113-5708DD28576D}"/>
          </ac:spMkLst>
        </pc:spChg>
        <pc:spChg chg="mod">
          <ac:chgData name="Susrita Panda" userId="c6f3231e7eb97569" providerId="LiveId" clId="{BF648E9B-477D-42D6-B814-DEB95DBF407C}" dt="2026-04-07T09:32:05.694" v="3611" actId="255"/>
          <ac:spMkLst>
            <pc:docMk/>
            <pc:sldMk cId="2065994219" sldId="257"/>
            <ac:spMk id="3" creationId="{6C54F613-EA80-2A8D-FE51-D3074D74121B}"/>
          </ac:spMkLst>
        </pc:spChg>
      </pc:sldChg>
      <pc:sldChg chg="addSp delSp modSp new mod">
        <pc:chgData name="Susrita Panda" userId="c6f3231e7eb97569" providerId="LiveId" clId="{BF648E9B-477D-42D6-B814-DEB95DBF407C}" dt="2026-04-07T09:46:07.389" v="3734" actId="255"/>
        <pc:sldMkLst>
          <pc:docMk/>
          <pc:sldMk cId="831850037" sldId="258"/>
        </pc:sldMkLst>
        <pc:spChg chg="mod">
          <ac:chgData name="Susrita Panda" userId="c6f3231e7eb97569" providerId="LiveId" clId="{BF648E9B-477D-42D6-B814-DEB95DBF407C}" dt="2026-04-07T09:46:07.389" v="3734" actId="255"/>
          <ac:spMkLst>
            <pc:docMk/>
            <pc:sldMk cId="831850037" sldId="258"/>
            <ac:spMk id="2" creationId="{3A5B03C8-591F-6478-3C31-AF588C09B913}"/>
          </ac:spMkLst>
        </pc:spChg>
        <pc:graphicFrameChg chg="add mod ord modGraphic">
          <ac:chgData name="Susrita Panda" userId="c6f3231e7eb97569" providerId="LiveId" clId="{BF648E9B-477D-42D6-B814-DEB95DBF407C}" dt="2026-04-07T09:34:07.802" v="3616"/>
          <ac:graphicFrameMkLst>
            <pc:docMk/>
            <pc:sldMk cId="831850037" sldId="258"/>
            <ac:graphicFrameMk id="4" creationId="{9EC6221E-34F8-9D41-EAA5-9563F3B983DE}"/>
          </ac:graphicFrameMkLst>
        </pc:graphicFrameChg>
      </pc:sldChg>
      <pc:sldChg chg="addSp delSp modSp new mod">
        <pc:chgData name="Susrita Panda" userId="c6f3231e7eb97569" providerId="LiveId" clId="{BF648E9B-477D-42D6-B814-DEB95DBF407C}" dt="2026-04-07T09:46:14.486" v="3735" actId="255"/>
        <pc:sldMkLst>
          <pc:docMk/>
          <pc:sldMk cId="2593978148" sldId="259"/>
        </pc:sldMkLst>
        <pc:spChg chg="mod">
          <ac:chgData name="Susrita Panda" userId="c6f3231e7eb97569" providerId="LiveId" clId="{BF648E9B-477D-42D6-B814-DEB95DBF407C}" dt="2026-04-07T09:46:14.486" v="3735" actId="255"/>
          <ac:spMkLst>
            <pc:docMk/>
            <pc:sldMk cId="2593978148" sldId="259"/>
            <ac:spMk id="2" creationId="{E1F75C8B-3679-60AD-B9A1-5D611CB699F3}"/>
          </ac:spMkLst>
        </pc:spChg>
        <pc:spChg chg="mod">
          <ac:chgData name="Susrita Panda" userId="c6f3231e7eb97569" providerId="LiveId" clId="{BF648E9B-477D-42D6-B814-DEB95DBF407C}" dt="2026-04-07T09:38:17.668" v="3641" actId="14100"/>
          <ac:spMkLst>
            <pc:docMk/>
            <pc:sldMk cId="2593978148" sldId="259"/>
            <ac:spMk id="3" creationId="{4ECCDBE4-0D72-A584-FFB5-718646C5DB1F}"/>
          </ac:spMkLst>
        </pc:spChg>
        <pc:spChg chg="mod">
          <ac:chgData name="Susrita Panda" userId="c6f3231e7eb97569" providerId="LiveId" clId="{BF648E9B-477D-42D6-B814-DEB95DBF407C}" dt="2026-04-07T09:38:10.868" v="3640" actId="14100"/>
          <ac:spMkLst>
            <pc:docMk/>
            <pc:sldMk cId="2593978148" sldId="259"/>
            <ac:spMk id="5" creationId="{AE6A3F03-C190-0C18-A9E6-275C3DD4720E}"/>
          </ac:spMkLst>
        </pc:spChg>
        <pc:graphicFrameChg chg="add mod ord modGraphic">
          <ac:chgData name="Susrita Panda" userId="c6f3231e7eb97569" providerId="LiveId" clId="{BF648E9B-477D-42D6-B814-DEB95DBF407C}" dt="2026-04-07T09:36:40.792" v="3629" actId="122"/>
          <ac:graphicFrameMkLst>
            <pc:docMk/>
            <pc:sldMk cId="2593978148" sldId="259"/>
            <ac:graphicFrameMk id="7" creationId="{849945A8-38DD-8BE4-3544-64579897F483}"/>
          </ac:graphicFrameMkLst>
        </pc:graphicFrameChg>
        <pc:graphicFrameChg chg="add mod ord modGraphic">
          <ac:chgData name="Susrita Panda" userId="c6f3231e7eb97569" providerId="LiveId" clId="{BF648E9B-477D-42D6-B814-DEB95DBF407C}" dt="2026-04-07T09:38:01.012" v="3639" actId="14100"/>
          <ac:graphicFrameMkLst>
            <pc:docMk/>
            <pc:sldMk cId="2593978148" sldId="259"/>
            <ac:graphicFrameMk id="8" creationId="{8FE0116B-E7CF-A2E8-09ED-695D8C6BF093}"/>
          </ac:graphicFrameMkLst>
        </pc:graphicFrameChg>
      </pc:sldChg>
      <pc:sldChg chg="addSp delSp modSp new mod">
        <pc:chgData name="Susrita Panda" userId="c6f3231e7eb97569" providerId="LiveId" clId="{BF648E9B-477D-42D6-B814-DEB95DBF407C}" dt="2026-04-07T09:46:22.946" v="3736" actId="255"/>
        <pc:sldMkLst>
          <pc:docMk/>
          <pc:sldMk cId="2642637703" sldId="260"/>
        </pc:sldMkLst>
        <pc:spChg chg="mod">
          <ac:chgData name="Susrita Panda" userId="c6f3231e7eb97569" providerId="LiveId" clId="{BF648E9B-477D-42D6-B814-DEB95DBF407C}" dt="2026-04-07T09:46:22.946" v="3736" actId="255"/>
          <ac:spMkLst>
            <pc:docMk/>
            <pc:sldMk cId="2642637703" sldId="260"/>
            <ac:spMk id="2" creationId="{2D24656B-2F55-EE7A-D002-FDF9A7933E83}"/>
          </ac:spMkLst>
        </pc:spChg>
        <pc:graphicFrameChg chg="add mod ord modGraphic">
          <ac:chgData name="Susrita Panda" userId="c6f3231e7eb97569" providerId="LiveId" clId="{BF648E9B-477D-42D6-B814-DEB95DBF407C}" dt="2026-04-07T09:39:01.756" v="3647"/>
          <ac:graphicFrameMkLst>
            <pc:docMk/>
            <pc:sldMk cId="2642637703" sldId="260"/>
            <ac:graphicFrameMk id="4" creationId="{3B061D3A-3F60-EED6-153E-229A247607A3}"/>
          </ac:graphicFrameMkLst>
        </pc:graphicFrameChg>
      </pc:sldChg>
      <pc:sldChg chg="addSp delSp modSp new mod">
        <pc:chgData name="Susrita Panda" userId="c6f3231e7eb97569" providerId="LiveId" clId="{BF648E9B-477D-42D6-B814-DEB95DBF407C}" dt="2026-04-18T05:50:33.883" v="3761" actId="20577"/>
        <pc:sldMkLst>
          <pc:docMk/>
          <pc:sldMk cId="4262764540" sldId="261"/>
        </pc:sldMkLst>
        <pc:spChg chg="mod">
          <ac:chgData name="Susrita Panda" userId="c6f3231e7eb97569" providerId="LiveId" clId="{BF648E9B-477D-42D6-B814-DEB95DBF407C}" dt="2026-04-07T09:46:30.391" v="3737" actId="255"/>
          <ac:spMkLst>
            <pc:docMk/>
            <pc:sldMk cId="4262764540" sldId="261"/>
            <ac:spMk id="2" creationId="{B4033320-868E-FCB6-3FD8-4542C7EBD407}"/>
          </ac:spMkLst>
        </pc:spChg>
        <pc:spChg chg="mod">
          <ac:chgData name="Susrita Panda" userId="c6f3231e7eb97569" providerId="LiveId" clId="{BF648E9B-477D-42D6-B814-DEB95DBF407C}" dt="2026-04-07T09:39:23.223" v="3649" actId="207"/>
          <ac:spMkLst>
            <pc:docMk/>
            <pc:sldMk cId="4262764540" sldId="261"/>
            <ac:spMk id="3" creationId="{86B05303-5E19-FD5B-3CE2-81DD1BD9AFF5}"/>
          </ac:spMkLst>
        </pc:spChg>
        <pc:spChg chg="mod">
          <ac:chgData name="Susrita Panda" userId="c6f3231e7eb97569" providerId="LiveId" clId="{BF648E9B-477D-42D6-B814-DEB95DBF407C}" dt="2026-04-07T09:30:01.791" v="3591" actId="27636"/>
          <ac:spMkLst>
            <pc:docMk/>
            <pc:sldMk cId="4262764540" sldId="261"/>
            <ac:spMk id="4" creationId="{277E1315-315D-D1A4-43E4-A2E8A3D3FBC5}"/>
          </ac:spMkLst>
        </pc:spChg>
        <pc:spChg chg="mod">
          <ac:chgData name="Susrita Panda" userId="c6f3231e7eb97569" providerId="LiveId" clId="{BF648E9B-477D-42D6-B814-DEB95DBF407C}" dt="2026-04-07T09:39:27.727" v="3650" actId="207"/>
          <ac:spMkLst>
            <pc:docMk/>
            <pc:sldMk cId="4262764540" sldId="261"/>
            <ac:spMk id="5" creationId="{6263116C-9527-875E-1CD8-4729CB6D3E94}"/>
          </ac:spMkLst>
        </pc:spChg>
        <pc:spChg chg="mod">
          <ac:chgData name="Susrita Panda" userId="c6f3231e7eb97569" providerId="LiveId" clId="{BF648E9B-477D-42D6-B814-DEB95DBF407C}" dt="2026-04-18T05:50:33.883" v="3761" actId="20577"/>
          <ac:spMkLst>
            <pc:docMk/>
            <pc:sldMk cId="4262764540" sldId="261"/>
            <ac:spMk id="6" creationId="{657E5E8A-7E52-489A-57FD-CF35BDB9C4F1}"/>
          </ac:spMkLst>
        </pc:spChg>
        <pc:picChg chg="add mod">
          <ac:chgData name="Susrita Panda" userId="c6f3231e7eb97569" providerId="LiveId" clId="{BF648E9B-477D-42D6-B814-DEB95DBF407C}" dt="2026-04-15T05:07:36.983" v="3740" actId="1076"/>
          <ac:picMkLst>
            <pc:docMk/>
            <pc:sldMk cId="4262764540" sldId="261"/>
            <ac:picMk id="8" creationId="{1CF2F586-B978-56E1-776C-C16B34AF0DF5}"/>
          </ac:picMkLst>
        </pc:picChg>
        <pc:picChg chg="add mod">
          <ac:chgData name="Susrita Panda" userId="c6f3231e7eb97569" providerId="LiveId" clId="{BF648E9B-477D-42D6-B814-DEB95DBF407C}" dt="2026-04-15T12:14:11.781" v="3751" actId="1036"/>
          <ac:picMkLst>
            <pc:docMk/>
            <pc:sldMk cId="4262764540" sldId="261"/>
            <ac:picMk id="12" creationId="{0D678391-6D3E-3FE5-67D0-2081F1988DAA}"/>
          </ac:picMkLst>
        </pc:picChg>
      </pc:sldChg>
      <pc:sldChg chg="addSp delSp modSp new mod">
        <pc:chgData name="Susrita Panda" userId="c6f3231e7eb97569" providerId="LiveId" clId="{BF648E9B-477D-42D6-B814-DEB95DBF407C}" dt="2026-04-07T09:40:44.874" v="3670" actId="20577"/>
        <pc:sldMkLst>
          <pc:docMk/>
          <pc:sldMk cId="3760885407" sldId="262"/>
        </pc:sldMkLst>
        <pc:spChg chg="mod">
          <ac:chgData name="Susrita Panda" userId="c6f3231e7eb97569" providerId="LiveId" clId="{BF648E9B-477D-42D6-B814-DEB95DBF407C}" dt="2026-04-07T09:40:00.876" v="3656" actId="255"/>
          <ac:spMkLst>
            <pc:docMk/>
            <pc:sldMk cId="3760885407" sldId="262"/>
            <ac:spMk id="2" creationId="{116A8F48-04BC-FA0C-FC24-88FE2856F48D}"/>
          </ac:spMkLst>
        </pc:spChg>
        <pc:spChg chg="mod">
          <ac:chgData name="Susrita Panda" userId="c6f3231e7eb97569" providerId="LiveId" clId="{BF648E9B-477D-42D6-B814-DEB95DBF407C}" dt="2026-04-07T09:40:04.595" v="3657" actId="207"/>
          <ac:spMkLst>
            <pc:docMk/>
            <pc:sldMk cId="3760885407" sldId="262"/>
            <ac:spMk id="3" creationId="{846FDDB6-2E56-C51D-1725-9A6748B44651}"/>
          </ac:spMkLst>
        </pc:spChg>
        <pc:spChg chg="mod">
          <ac:chgData name="Susrita Panda" userId="c6f3231e7eb97569" providerId="LiveId" clId="{BF648E9B-477D-42D6-B814-DEB95DBF407C}" dt="2026-04-07T09:40:31.230" v="3665" actId="20577"/>
          <ac:spMkLst>
            <pc:docMk/>
            <pc:sldMk cId="3760885407" sldId="262"/>
            <ac:spMk id="4" creationId="{6FFBDB13-3543-B85D-F1C2-E0C50F649E98}"/>
          </ac:spMkLst>
        </pc:spChg>
        <pc:spChg chg="mod">
          <ac:chgData name="Susrita Panda" userId="c6f3231e7eb97569" providerId="LiveId" clId="{BF648E9B-477D-42D6-B814-DEB95DBF407C}" dt="2026-04-07T09:40:10.045" v="3658" actId="207"/>
          <ac:spMkLst>
            <pc:docMk/>
            <pc:sldMk cId="3760885407" sldId="262"/>
            <ac:spMk id="5" creationId="{BF33955F-169E-8F56-2091-E8E2D88D6287}"/>
          </ac:spMkLst>
        </pc:spChg>
        <pc:spChg chg="add mod">
          <ac:chgData name="Susrita Panda" userId="c6f3231e7eb97569" providerId="LiveId" clId="{BF648E9B-477D-42D6-B814-DEB95DBF407C}" dt="2026-04-07T09:40:44.874" v="3670" actId="20577"/>
          <ac:spMkLst>
            <pc:docMk/>
            <pc:sldMk cId="3760885407" sldId="262"/>
            <ac:spMk id="10" creationId="{291F7CB1-2438-D3FE-6454-0ECECA5CF0D6}"/>
          </ac:spMkLst>
        </pc:spChg>
        <pc:picChg chg="add mod">
          <ac:chgData name="Susrita Panda" userId="c6f3231e7eb97569" providerId="LiveId" clId="{BF648E9B-477D-42D6-B814-DEB95DBF407C}" dt="2026-04-07T09:40:36.170" v="3666" actId="1076"/>
          <ac:picMkLst>
            <pc:docMk/>
            <pc:sldMk cId="3760885407" sldId="262"/>
            <ac:picMk id="12" creationId="{9B10F664-B650-0477-07B4-F6C3A2026F5D}"/>
          </ac:picMkLst>
        </pc:picChg>
        <pc:picChg chg="add mod">
          <ac:chgData name="Susrita Panda" userId="c6f3231e7eb97569" providerId="LiveId" clId="{BF648E9B-477D-42D6-B814-DEB95DBF407C}" dt="2026-04-07T09:40:39.739" v="3667" actId="1076"/>
          <ac:picMkLst>
            <pc:docMk/>
            <pc:sldMk cId="3760885407" sldId="262"/>
            <ac:picMk id="18" creationId="{EA08AEC1-5BE9-4486-8286-7A005C1D34F6}"/>
          </ac:picMkLst>
        </pc:picChg>
      </pc:sldChg>
      <pc:sldChg chg="addSp modSp new mod">
        <pc:chgData name="Susrita Panda" userId="c6f3231e7eb97569" providerId="LiveId" clId="{BF648E9B-477D-42D6-B814-DEB95DBF407C}" dt="2026-04-15T11:37:15.707" v="3749" actId="14100"/>
        <pc:sldMkLst>
          <pc:docMk/>
          <pc:sldMk cId="3653959448" sldId="263"/>
        </pc:sldMkLst>
        <pc:spChg chg="mod">
          <ac:chgData name="Susrita Panda" userId="c6f3231e7eb97569" providerId="LiveId" clId="{BF648E9B-477D-42D6-B814-DEB95DBF407C}" dt="2026-04-07T09:43:12.175" v="3706" actId="14100"/>
          <ac:spMkLst>
            <pc:docMk/>
            <pc:sldMk cId="3653959448" sldId="263"/>
            <ac:spMk id="2" creationId="{66D89D61-FCC4-BFC9-061B-901950B93ADD}"/>
          </ac:spMkLst>
        </pc:spChg>
        <pc:spChg chg="mod">
          <ac:chgData name="Susrita Panda" userId="c6f3231e7eb97569" providerId="LiveId" clId="{BF648E9B-477D-42D6-B814-DEB95DBF407C}" dt="2026-04-07T09:43:16.917" v="3707" actId="207"/>
          <ac:spMkLst>
            <pc:docMk/>
            <pc:sldMk cId="3653959448" sldId="263"/>
            <ac:spMk id="3" creationId="{F1F1B1D7-73F4-C939-A391-A7A771ED6393}"/>
          </ac:spMkLst>
        </pc:spChg>
        <pc:spChg chg="mod">
          <ac:chgData name="Susrita Panda" userId="c6f3231e7eb97569" providerId="LiveId" clId="{BF648E9B-477D-42D6-B814-DEB95DBF407C}" dt="2026-04-07T07:32:14.788" v="2058" actId="20577"/>
          <ac:spMkLst>
            <pc:docMk/>
            <pc:sldMk cId="3653959448" sldId="263"/>
            <ac:spMk id="4" creationId="{6A2FE2BF-6BDC-5953-146E-C2D4D2D8FFA2}"/>
          </ac:spMkLst>
        </pc:spChg>
        <pc:spChg chg="mod">
          <ac:chgData name="Susrita Panda" userId="c6f3231e7eb97569" providerId="LiveId" clId="{BF648E9B-477D-42D6-B814-DEB95DBF407C}" dt="2026-04-07T09:43:21.918" v="3708" actId="207"/>
          <ac:spMkLst>
            <pc:docMk/>
            <pc:sldMk cId="3653959448" sldId="263"/>
            <ac:spMk id="5" creationId="{E92FE1BB-3004-8727-6055-6FE271EDE73A}"/>
          </ac:spMkLst>
        </pc:spChg>
        <pc:spChg chg="mod">
          <ac:chgData name="Susrita Panda" userId="c6f3231e7eb97569" providerId="LiveId" clId="{BF648E9B-477D-42D6-B814-DEB95DBF407C}" dt="2026-04-15T11:37:15.707" v="3749" actId="14100"/>
          <ac:spMkLst>
            <pc:docMk/>
            <pc:sldMk cId="3653959448" sldId="263"/>
            <ac:spMk id="6" creationId="{2ACA7922-FAA1-C09D-570D-96523F8830C9}"/>
          </ac:spMkLst>
        </pc:spChg>
        <pc:picChg chg="add mod">
          <ac:chgData name="Susrita Panda" userId="c6f3231e7eb97569" providerId="LiveId" clId="{BF648E9B-477D-42D6-B814-DEB95DBF407C}" dt="2026-04-07T09:44:40.306" v="3720" actId="1440"/>
          <ac:picMkLst>
            <pc:docMk/>
            <pc:sldMk cId="3653959448" sldId="263"/>
            <ac:picMk id="8" creationId="{397B24DC-E88C-43A0-0EB6-17DA3D07D3AA}"/>
          </ac:picMkLst>
        </pc:picChg>
        <pc:picChg chg="add mod">
          <ac:chgData name="Susrita Panda" userId="c6f3231e7eb97569" providerId="LiveId" clId="{BF648E9B-477D-42D6-B814-DEB95DBF407C}" dt="2026-04-15T08:27:16.462" v="3747" actId="14100"/>
          <ac:picMkLst>
            <pc:docMk/>
            <pc:sldMk cId="3653959448" sldId="263"/>
            <ac:picMk id="10" creationId="{200ECAF1-6526-6723-D393-0D9874127D43}"/>
          </ac:picMkLst>
        </pc:picChg>
      </pc:sldChg>
      <pc:sldChg chg="add setBg">
        <pc:chgData name="Susrita Panda" userId="c6f3231e7eb97569" providerId="LiveId" clId="{BF648E9B-477D-42D6-B814-DEB95DBF407C}" dt="2026-04-07T08:05:04.300" v="2166"/>
        <pc:sldMkLst>
          <pc:docMk/>
          <pc:sldMk cId="0" sldId="265"/>
        </pc:sldMkLst>
      </pc:sldChg>
      <pc:sldChg chg="addSp modSp new mod">
        <pc:chgData name="Susrita Panda" userId="c6f3231e7eb97569" providerId="LiveId" clId="{BF648E9B-477D-42D6-B814-DEB95DBF407C}" dt="2026-04-15T08:27:09.895" v="3746" actId="1076"/>
        <pc:sldMkLst>
          <pc:docMk/>
          <pc:sldMk cId="3572025437" sldId="266"/>
        </pc:sldMkLst>
        <pc:spChg chg="mod">
          <ac:chgData name="Susrita Panda" userId="c6f3231e7eb97569" providerId="LiveId" clId="{BF648E9B-477D-42D6-B814-DEB95DBF407C}" dt="2026-04-07T09:44:23.742" v="3717" actId="255"/>
          <ac:spMkLst>
            <pc:docMk/>
            <pc:sldMk cId="3572025437" sldId="266"/>
            <ac:spMk id="2" creationId="{CE1B26C8-B59B-C69C-B7C7-CE54535B9801}"/>
          </ac:spMkLst>
        </pc:spChg>
        <pc:spChg chg="mod">
          <ac:chgData name="Susrita Panda" userId="c6f3231e7eb97569" providerId="LiveId" clId="{BF648E9B-477D-42D6-B814-DEB95DBF407C}" dt="2026-04-07T09:44:27.752" v="3718" actId="207"/>
          <ac:spMkLst>
            <pc:docMk/>
            <pc:sldMk cId="3572025437" sldId="266"/>
            <ac:spMk id="3" creationId="{0864BF5C-43A1-A266-8E11-0E25F4F1912C}"/>
          </ac:spMkLst>
        </pc:spChg>
        <pc:spChg chg="mod">
          <ac:chgData name="Susrita Panda" userId="c6f3231e7eb97569" providerId="LiveId" clId="{BF648E9B-477D-42D6-B814-DEB95DBF407C}" dt="2026-04-07T08:21:39.325" v="2521" actId="27636"/>
          <ac:spMkLst>
            <pc:docMk/>
            <pc:sldMk cId="3572025437" sldId="266"/>
            <ac:spMk id="4" creationId="{EEB16DA4-8524-898D-54E6-510AB4D1FD88}"/>
          </ac:spMkLst>
        </pc:spChg>
        <pc:spChg chg="mod">
          <ac:chgData name="Susrita Panda" userId="c6f3231e7eb97569" providerId="LiveId" clId="{BF648E9B-477D-42D6-B814-DEB95DBF407C}" dt="2026-04-07T09:44:32.795" v="3719" actId="207"/>
          <ac:spMkLst>
            <pc:docMk/>
            <pc:sldMk cId="3572025437" sldId="266"/>
            <ac:spMk id="5" creationId="{027A6C10-5592-06D4-CD6B-EB9FCF7667F3}"/>
          </ac:spMkLst>
        </pc:spChg>
        <pc:spChg chg="mod">
          <ac:chgData name="Susrita Panda" userId="c6f3231e7eb97569" providerId="LiveId" clId="{BF648E9B-477D-42D6-B814-DEB95DBF407C}" dt="2026-04-07T08:21:48.853" v="2528" actId="20577"/>
          <ac:spMkLst>
            <pc:docMk/>
            <pc:sldMk cId="3572025437" sldId="266"/>
            <ac:spMk id="6" creationId="{E0BE1343-9A46-CE6E-64BE-F045AA2F5E93}"/>
          </ac:spMkLst>
        </pc:spChg>
        <pc:picChg chg="add mod">
          <ac:chgData name="Susrita Panda" userId="c6f3231e7eb97569" providerId="LiveId" clId="{BF648E9B-477D-42D6-B814-DEB95DBF407C}" dt="2026-04-15T08:26:05.130" v="3744" actId="1076"/>
          <ac:picMkLst>
            <pc:docMk/>
            <pc:sldMk cId="3572025437" sldId="266"/>
            <ac:picMk id="8" creationId="{26E0124C-4AF7-9A63-47BD-D9A7D97644D6}"/>
          </ac:picMkLst>
        </pc:picChg>
        <pc:picChg chg="add mod">
          <ac:chgData name="Susrita Panda" userId="c6f3231e7eb97569" providerId="LiveId" clId="{BF648E9B-477D-42D6-B814-DEB95DBF407C}" dt="2026-04-15T08:27:09.895" v="3746" actId="1076"/>
          <ac:picMkLst>
            <pc:docMk/>
            <pc:sldMk cId="3572025437" sldId="266"/>
            <ac:picMk id="10" creationId="{137747E1-1A59-7E8D-B93B-99F3B615754E}"/>
          </ac:picMkLst>
        </pc:picChg>
      </pc:sldChg>
      <pc:sldChg chg="addSp modSp new mod">
        <pc:chgData name="Susrita Panda" userId="c6f3231e7eb97569" providerId="LiveId" clId="{BF648E9B-477D-42D6-B814-DEB95DBF407C}" dt="2026-04-07T09:45:11.518" v="3726" actId="1440"/>
        <pc:sldMkLst>
          <pc:docMk/>
          <pc:sldMk cId="1323832630" sldId="267"/>
        </pc:sldMkLst>
        <pc:spChg chg="mod">
          <ac:chgData name="Susrita Panda" userId="c6f3231e7eb97569" providerId="LiveId" clId="{BF648E9B-477D-42D6-B814-DEB95DBF407C}" dt="2026-04-07T09:45:06.658" v="3725" actId="27636"/>
          <ac:spMkLst>
            <pc:docMk/>
            <pc:sldMk cId="1323832630" sldId="267"/>
            <ac:spMk id="2" creationId="{E21C708C-1E6B-B5DE-6021-10A4F439B4CD}"/>
          </ac:spMkLst>
        </pc:spChg>
        <pc:spChg chg="mod">
          <ac:chgData name="Susrita Panda" userId="c6f3231e7eb97569" providerId="LiveId" clId="{BF648E9B-477D-42D6-B814-DEB95DBF407C}" dt="2026-04-07T08:29:50.625" v="2674" actId="5793"/>
          <ac:spMkLst>
            <pc:docMk/>
            <pc:sldMk cId="1323832630" sldId="267"/>
            <ac:spMk id="3" creationId="{7355708B-B5DE-4A74-EF3F-F57BDDB83811}"/>
          </ac:spMkLst>
        </pc:spChg>
        <pc:picChg chg="add mod">
          <ac:chgData name="Susrita Panda" userId="c6f3231e7eb97569" providerId="LiveId" clId="{BF648E9B-477D-42D6-B814-DEB95DBF407C}" dt="2026-04-07T09:45:11.518" v="3726" actId="1440"/>
          <ac:picMkLst>
            <pc:docMk/>
            <pc:sldMk cId="1323832630" sldId="267"/>
            <ac:picMk id="5" creationId="{D13183F3-2789-9517-A933-A78FD3EA8E03}"/>
          </ac:picMkLst>
        </pc:picChg>
      </pc:sldChg>
      <pc:sldChg chg="addSp modSp new mod">
        <pc:chgData name="Susrita Panda" userId="c6f3231e7eb97569" providerId="LiveId" clId="{BF648E9B-477D-42D6-B814-DEB95DBF407C}" dt="2026-04-15T14:55:54.466" v="3753" actId="1076"/>
        <pc:sldMkLst>
          <pc:docMk/>
          <pc:sldMk cId="406386044" sldId="269"/>
        </pc:sldMkLst>
        <pc:spChg chg="mod">
          <ac:chgData name="Susrita Panda" userId="c6f3231e7eb97569" providerId="LiveId" clId="{BF648E9B-477D-42D6-B814-DEB95DBF407C}" dt="2026-04-07T09:41:01.787" v="3671" actId="255"/>
          <ac:spMkLst>
            <pc:docMk/>
            <pc:sldMk cId="406386044" sldId="269"/>
            <ac:spMk id="2" creationId="{B57F937D-14BD-1F40-A17C-51A3BDD20227}"/>
          </ac:spMkLst>
        </pc:spChg>
        <pc:spChg chg="mod">
          <ac:chgData name="Susrita Panda" userId="c6f3231e7eb97569" providerId="LiveId" clId="{BF648E9B-477D-42D6-B814-DEB95DBF407C}" dt="2026-04-15T12:24:40.431" v="3752" actId="14100"/>
          <ac:spMkLst>
            <pc:docMk/>
            <pc:sldMk cId="406386044" sldId="269"/>
            <ac:spMk id="3" creationId="{62DAE0A8-61C8-2EB4-494D-31FDD13B1B78}"/>
          </ac:spMkLst>
        </pc:spChg>
        <pc:spChg chg="mod">
          <ac:chgData name="Susrita Panda" userId="c6f3231e7eb97569" providerId="LiveId" clId="{BF648E9B-477D-42D6-B814-DEB95DBF407C}" dt="2026-04-07T09:41:38.510" v="3686" actId="20577"/>
          <ac:spMkLst>
            <pc:docMk/>
            <pc:sldMk cId="406386044" sldId="269"/>
            <ac:spMk id="4" creationId="{BB42EF18-0D4E-E1E1-606D-6DFA55CF5FC5}"/>
          </ac:spMkLst>
        </pc:spChg>
        <pc:spChg chg="mod">
          <ac:chgData name="Susrita Panda" userId="c6f3231e7eb97569" providerId="LiveId" clId="{BF648E9B-477D-42D6-B814-DEB95DBF407C}" dt="2026-04-07T09:41:21.520" v="3682" actId="27636"/>
          <ac:spMkLst>
            <pc:docMk/>
            <pc:sldMk cId="406386044" sldId="269"/>
            <ac:spMk id="5" creationId="{2D2F34A0-F65E-FFAF-45E1-56239BE405C1}"/>
          </ac:spMkLst>
        </pc:spChg>
        <pc:spChg chg="mod">
          <ac:chgData name="Susrita Panda" userId="c6f3231e7eb97569" providerId="LiveId" clId="{BF648E9B-477D-42D6-B814-DEB95DBF407C}" dt="2026-04-07T09:41:42.886" v="3688" actId="20577"/>
          <ac:spMkLst>
            <pc:docMk/>
            <pc:sldMk cId="406386044" sldId="269"/>
            <ac:spMk id="6" creationId="{A3D0A25C-9EE4-9D80-22E2-62461B416B46}"/>
          </ac:spMkLst>
        </pc:spChg>
        <pc:picChg chg="add mod">
          <ac:chgData name="Susrita Panda" userId="c6f3231e7eb97569" providerId="LiveId" clId="{BF648E9B-477D-42D6-B814-DEB95DBF407C}" dt="2026-04-07T09:41:27.779" v="3683" actId="1440"/>
          <ac:picMkLst>
            <pc:docMk/>
            <pc:sldMk cId="406386044" sldId="269"/>
            <ac:picMk id="7" creationId="{C7BDC90C-3C6C-3ECA-4F61-1E32661D76D4}"/>
          </ac:picMkLst>
        </pc:picChg>
        <pc:picChg chg="add mod">
          <ac:chgData name="Susrita Panda" userId="c6f3231e7eb97569" providerId="LiveId" clId="{BF648E9B-477D-42D6-B814-DEB95DBF407C}" dt="2026-04-15T14:55:54.466" v="3753" actId="1076"/>
          <ac:picMkLst>
            <pc:docMk/>
            <pc:sldMk cId="406386044" sldId="269"/>
            <ac:picMk id="8" creationId="{C8F44B75-5AD6-2424-5D15-D98FC08D0429}"/>
          </ac:picMkLst>
        </pc:picChg>
        <pc:picChg chg="add mod">
          <ac:chgData name="Susrita Panda" userId="c6f3231e7eb97569" providerId="LiveId" clId="{BF648E9B-477D-42D6-B814-DEB95DBF407C}" dt="2026-04-07T09:41:32.294" v="3685" actId="1440"/>
          <ac:picMkLst>
            <pc:docMk/>
            <pc:sldMk cId="406386044" sldId="269"/>
            <ac:picMk id="9" creationId="{432B9750-A084-8334-45D8-150BD8B97654}"/>
          </ac:picMkLst>
        </pc:picChg>
      </pc:sldChg>
      <pc:sldChg chg="addSp modSp new mod">
        <pc:chgData name="Susrita Panda" userId="c6f3231e7eb97569" providerId="LiveId" clId="{BF648E9B-477D-42D6-B814-DEB95DBF407C}" dt="2026-04-15T15:49:59.024" v="3756" actId="1035"/>
        <pc:sldMkLst>
          <pc:docMk/>
          <pc:sldMk cId="3110410220" sldId="270"/>
        </pc:sldMkLst>
        <pc:spChg chg="mod">
          <ac:chgData name="Susrita Panda" userId="c6f3231e7eb97569" providerId="LiveId" clId="{BF648E9B-477D-42D6-B814-DEB95DBF407C}" dt="2026-04-07T09:41:57.737" v="3689" actId="255"/>
          <ac:spMkLst>
            <pc:docMk/>
            <pc:sldMk cId="3110410220" sldId="270"/>
            <ac:spMk id="2" creationId="{944728E0-820E-5A72-989E-7B855BB3E411}"/>
          </ac:spMkLst>
        </pc:spChg>
        <pc:spChg chg="mod">
          <ac:chgData name="Susrita Panda" userId="c6f3231e7eb97569" providerId="LiveId" clId="{BF648E9B-477D-42D6-B814-DEB95DBF407C}" dt="2026-04-07T09:42:56.455" v="3704" actId="14100"/>
          <ac:spMkLst>
            <pc:docMk/>
            <pc:sldMk cId="3110410220" sldId="270"/>
            <ac:spMk id="3" creationId="{912EEE9C-82C1-586F-BCD0-A46A81CB41F5}"/>
          </ac:spMkLst>
        </pc:spChg>
        <pc:spChg chg="mod">
          <ac:chgData name="Susrita Panda" userId="c6f3231e7eb97569" providerId="LiveId" clId="{BF648E9B-477D-42D6-B814-DEB95DBF407C}" dt="2026-04-07T09:42:37.693" v="3699" actId="20577"/>
          <ac:spMkLst>
            <pc:docMk/>
            <pc:sldMk cId="3110410220" sldId="270"/>
            <ac:spMk id="4" creationId="{5B0F08AA-2C24-CE93-C6FF-ADCBE4E02AA9}"/>
          </ac:spMkLst>
        </pc:spChg>
        <pc:spChg chg="mod">
          <ac:chgData name="Susrita Panda" userId="c6f3231e7eb97569" providerId="LiveId" clId="{BF648E9B-477D-42D6-B814-DEB95DBF407C}" dt="2026-04-07T09:42:51.206" v="3703" actId="14100"/>
          <ac:spMkLst>
            <pc:docMk/>
            <pc:sldMk cId="3110410220" sldId="270"/>
            <ac:spMk id="5" creationId="{833FEB29-13C5-E7B6-8493-B0DF1F4B59E4}"/>
          </ac:spMkLst>
        </pc:spChg>
        <pc:spChg chg="mod">
          <ac:chgData name="Susrita Panda" userId="c6f3231e7eb97569" providerId="LiveId" clId="{BF648E9B-477D-42D6-B814-DEB95DBF407C}" dt="2026-04-07T09:42:44.478" v="3702" actId="20577"/>
          <ac:spMkLst>
            <pc:docMk/>
            <pc:sldMk cId="3110410220" sldId="270"/>
            <ac:spMk id="6" creationId="{5639C010-CBB7-D838-A4A4-C5892BEC5D0B}"/>
          </ac:spMkLst>
        </pc:spChg>
        <pc:picChg chg="add mod">
          <ac:chgData name="Susrita Panda" userId="c6f3231e7eb97569" providerId="LiveId" clId="{BF648E9B-477D-42D6-B814-DEB95DBF407C}" dt="2026-04-15T15:49:59.024" v="3756" actId="1035"/>
          <ac:picMkLst>
            <pc:docMk/>
            <pc:sldMk cId="3110410220" sldId="270"/>
            <ac:picMk id="8" creationId="{BA314B7C-EA0F-5A34-224C-09B1CDE9D67A}"/>
          </ac:picMkLst>
        </pc:picChg>
        <pc:picChg chg="add mod">
          <ac:chgData name="Susrita Panda" userId="c6f3231e7eb97569" providerId="LiveId" clId="{BF648E9B-477D-42D6-B814-DEB95DBF407C}" dt="2026-04-07T09:42:41.717" v="3700" actId="1076"/>
          <ac:picMkLst>
            <pc:docMk/>
            <pc:sldMk cId="3110410220" sldId="270"/>
            <ac:picMk id="10" creationId="{6E56833E-095B-90D4-FF97-41BCA0C1C14B}"/>
          </ac:picMkLst>
        </pc:picChg>
      </pc:sldChg>
      <pc:sldChg chg="addSp modSp new mod">
        <pc:chgData name="Susrita Panda" userId="c6f3231e7eb97569" providerId="LiveId" clId="{BF648E9B-477D-42D6-B814-DEB95DBF407C}" dt="2026-04-07T09:45:36.117" v="3731" actId="1440"/>
        <pc:sldMkLst>
          <pc:docMk/>
          <pc:sldMk cId="1401116200" sldId="271"/>
        </pc:sldMkLst>
        <pc:spChg chg="mod">
          <ac:chgData name="Susrita Panda" userId="c6f3231e7eb97569" providerId="LiveId" clId="{BF648E9B-477D-42D6-B814-DEB95DBF407C}" dt="2026-04-07T09:45:22.681" v="3727" actId="255"/>
          <ac:spMkLst>
            <pc:docMk/>
            <pc:sldMk cId="1401116200" sldId="271"/>
            <ac:spMk id="2" creationId="{4506A002-66D8-74AC-00BE-8D2E59E8F52F}"/>
          </ac:spMkLst>
        </pc:spChg>
        <pc:spChg chg="mod">
          <ac:chgData name="Susrita Panda" userId="c6f3231e7eb97569" providerId="LiveId" clId="{BF648E9B-477D-42D6-B814-DEB95DBF407C}" dt="2026-04-07T09:45:26.178" v="3728" actId="207"/>
          <ac:spMkLst>
            <pc:docMk/>
            <pc:sldMk cId="1401116200" sldId="271"/>
            <ac:spMk id="3" creationId="{222E1491-2997-A97C-5524-75DB7FB3D1B9}"/>
          </ac:spMkLst>
        </pc:spChg>
        <pc:spChg chg="mod">
          <ac:chgData name="Susrita Panda" userId="c6f3231e7eb97569" providerId="LiveId" clId="{BF648E9B-477D-42D6-B814-DEB95DBF407C}" dt="2026-04-07T09:09:04.588" v="3420" actId="2711"/>
          <ac:spMkLst>
            <pc:docMk/>
            <pc:sldMk cId="1401116200" sldId="271"/>
            <ac:spMk id="4" creationId="{971F515C-4082-6420-AD76-7D7BB12B63B9}"/>
          </ac:spMkLst>
        </pc:spChg>
        <pc:spChg chg="mod">
          <ac:chgData name="Susrita Panda" userId="c6f3231e7eb97569" providerId="LiveId" clId="{BF648E9B-477D-42D6-B814-DEB95DBF407C}" dt="2026-04-07T09:45:29.806" v="3729" actId="207"/>
          <ac:spMkLst>
            <pc:docMk/>
            <pc:sldMk cId="1401116200" sldId="271"/>
            <ac:spMk id="5" creationId="{60B73B09-6AFD-C911-9E60-E7FD787DDD2B}"/>
          </ac:spMkLst>
        </pc:spChg>
        <pc:spChg chg="mod">
          <ac:chgData name="Susrita Panda" userId="c6f3231e7eb97569" providerId="LiveId" clId="{BF648E9B-477D-42D6-B814-DEB95DBF407C}" dt="2026-04-07T09:11:37.791" v="3473" actId="2711"/>
          <ac:spMkLst>
            <pc:docMk/>
            <pc:sldMk cId="1401116200" sldId="271"/>
            <ac:spMk id="6" creationId="{0B1E85F6-5BBC-21F3-A81C-1C10F43963AD}"/>
          </ac:spMkLst>
        </pc:spChg>
        <pc:picChg chg="add mod">
          <ac:chgData name="Susrita Panda" userId="c6f3231e7eb97569" providerId="LiveId" clId="{BF648E9B-477D-42D6-B814-DEB95DBF407C}" dt="2026-04-07T09:45:33.615" v="3730" actId="1440"/>
          <ac:picMkLst>
            <pc:docMk/>
            <pc:sldMk cId="1401116200" sldId="271"/>
            <ac:picMk id="8" creationId="{D1550620-A667-4184-0BAB-BE7784EB82AA}"/>
          </ac:picMkLst>
        </pc:picChg>
        <pc:picChg chg="add mod">
          <ac:chgData name="Susrita Panda" userId="c6f3231e7eb97569" providerId="LiveId" clId="{BF648E9B-477D-42D6-B814-DEB95DBF407C}" dt="2026-04-07T09:45:36.117" v="3731" actId="1440"/>
          <ac:picMkLst>
            <pc:docMk/>
            <pc:sldMk cId="1401116200" sldId="271"/>
            <ac:picMk id="10" creationId="{CA307A7B-882F-2AD2-95AB-8241AB0FE2E1}"/>
          </ac:picMkLst>
        </pc:picChg>
      </pc:sldChg>
      <pc:sldChg chg="modSp new mod">
        <pc:chgData name="Susrita Panda" userId="c6f3231e7eb97569" providerId="LiveId" clId="{BF648E9B-477D-42D6-B814-DEB95DBF407C}" dt="2026-04-07T09:45:47.561" v="3732" actId="255"/>
        <pc:sldMkLst>
          <pc:docMk/>
          <pc:sldMk cId="467256279" sldId="272"/>
        </pc:sldMkLst>
        <pc:spChg chg="mod">
          <ac:chgData name="Susrita Panda" userId="c6f3231e7eb97569" providerId="LiveId" clId="{BF648E9B-477D-42D6-B814-DEB95DBF407C}" dt="2026-04-07T09:45:47.561" v="3732" actId="255"/>
          <ac:spMkLst>
            <pc:docMk/>
            <pc:sldMk cId="467256279" sldId="272"/>
            <ac:spMk id="2" creationId="{68D9EDE0-734E-2382-E1B4-DED3E87BE720}"/>
          </ac:spMkLst>
        </pc:spChg>
        <pc:spChg chg="mod">
          <ac:chgData name="Susrita Panda" userId="c6f3231e7eb97569" providerId="LiveId" clId="{BF648E9B-477D-42D6-B814-DEB95DBF407C}" dt="2026-04-07T09:24:13.587" v="3547" actId="255"/>
          <ac:spMkLst>
            <pc:docMk/>
            <pc:sldMk cId="467256279" sldId="272"/>
            <ac:spMk id="3" creationId="{B8C0F23E-CECB-7E68-EAB9-EC06C9093D97}"/>
          </ac:spMkLst>
        </pc:spChg>
      </pc:sldChg>
      <pc:sldChg chg="modSp new del mod">
        <pc:chgData name="Susrita Panda" userId="c6f3231e7eb97569" providerId="LiveId" clId="{BF648E9B-477D-42D6-B814-DEB95DBF407C}" dt="2026-04-18T05:50:00.456" v="3757" actId="2696"/>
        <pc:sldMkLst>
          <pc:docMk/>
          <pc:sldMk cId="997270987"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6EE7AF-511D-4B59-9BE5-C1E5F737A46D}" type="datetimeFigureOut">
              <a:rPr lang="en-IN" smtClean="0"/>
              <a:t>18-04-2026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7AF6DC-C30D-4942-9797-5703DDC22179}" type="slidenum">
              <a:rPr lang="en-IN" smtClean="0"/>
              <a:t>‹#›</a:t>
            </a:fld>
            <a:endParaRPr lang="en-IN"/>
          </a:p>
        </p:txBody>
      </p:sp>
    </p:spTree>
    <p:extLst>
      <p:ext uri="{BB962C8B-B14F-4D97-AF65-F5344CB8AC3E}">
        <p14:creationId xmlns:p14="http://schemas.microsoft.com/office/powerpoint/2010/main" val="1106569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56CFC0D-BE15-4F64-8F61-A43C3C5945AB}" type="datetimeFigureOut">
              <a:rPr lang="en-IN" smtClean="0"/>
              <a:t>18-04-2026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3401F31-F12D-46E6-8C46-317727C68D9A}" type="slidenum">
              <a:rPr lang="en-IN" smtClean="0"/>
              <a:t>‹#›</a:t>
            </a:fld>
            <a:endParaRPr lang="en-IN"/>
          </a:p>
        </p:txBody>
      </p:sp>
    </p:spTree>
    <p:extLst>
      <p:ext uri="{BB962C8B-B14F-4D97-AF65-F5344CB8AC3E}">
        <p14:creationId xmlns:p14="http://schemas.microsoft.com/office/powerpoint/2010/main" val="2056331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6CFC0D-BE15-4F64-8F61-A43C3C5945AB}" type="datetimeFigureOut">
              <a:rPr lang="en-IN" smtClean="0"/>
              <a:t>18-04-2026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401F31-F12D-46E6-8C46-317727C68D9A}" type="slidenum">
              <a:rPr lang="en-IN" smtClean="0"/>
              <a:t>‹#›</a:t>
            </a:fld>
            <a:endParaRPr lang="en-IN"/>
          </a:p>
        </p:txBody>
      </p:sp>
    </p:spTree>
    <p:extLst>
      <p:ext uri="{BB962C8B-B14F-4D97-AF65-F5344CB8AC3E}">
        <p14:creationId xmlns:p14="http://schemas.microsoft.com/office/powerpoint/2010/main" val="312096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356CFC0D-BE15-4F64-8F61-A43C3C5945AB}" type="datetimeFigureOut">
              <a:rPr lang="en-IN" smtClean="0"/>
              <a:t>18-04-2026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43401F31-F12D-46E6-8C46-317727C68D9A}" type="slidenum">
              <a:rPr lang="en-IN" smtClean="0"/>
              <a:t>‹#›</a:t>
            </a:fld>
            <a:endParaRPr lang="en-IN"/>
          </a:p>
        </p:txBody>
      </p:sp>
    </p:spTree>
    <p:extLst>
      <p:ext uri="{BB962C8B-B14F-4D97-AF65-F5344CB8AC3E}">
        <p14:creationId xmlns:p14="http://schemas.microsoft.com/office/powerpoint/2010/main" val="6724456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6CFC0D-BE15-4F64-8F61-A43C3C5945AB}" type="datetimeFigureOut">
              <a:rPr lang="en-IN" smtClean="0"/>
              <a:t>18-04-2026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401F31-F12D-46E6-8C46-317727C68D9A}" type="slidenum">
              <a:rPr lang="en-IN" smtClean="0"/>
              <a:t>‹#›</a:t>
            </a:fld>
            <a:endParaRPr lang="en-IN"/>
          </a:p>
        </p:txBody>
      </p:sp>
    </p:spTree>
    <p:extLst>
      <p:ext uri="{BB962C8B-B14F-4D97-AF65-F5344CB8AC3E}">
        <p14:creationId xmlns:p14="http://schemas.microsoft.com/office/powerpoint/2010/main" val="3072824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6CFC0D-BE15-4F64-8F61-A43C3C5945AB}" type="datetimeFigureOut">
              <a:rPr lang="en-IN" smtClean="0"/>
              <a:t>18-04-2026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401F31-F12D-46E6-8C46-317727C68D9A}" type="slidenum">
              <a:rPr lang="en-IN" smtClean="0"/>
              <a:t>‹#›</a:t>
            </a:fld>
            <a:endParaRPr lang="en-IN"/>
          </a:p>
        </p:txBody>
      </p:sp>
    </p:spTree>
    <p:extLst>
      <p:ext uri="{BB962C8B-B14F-4D97-AF65-F5344CB8AC3E}">
        <p14:creationId xmlns:p14="http://schemas.microsoft.com/office/powerpoint/2010/main" val="3338142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6CFC0D-BE15-4F64-8F61-A43C3C5945AB}" type="datetimeFigureOut">
              <a:rPr lang="en-IN" smtClean="0"/>
              <a:t>18-04-2026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401F31-F12D-46E6-8C46-317727C68D9A}" type="slidenum">
              <a:rPr lang="en-IN" smtClean="0"/>
              <a:t>‹#›</a:t>
            </a:fld>
            <a:endParaRPr lang="en-IN"/>
          </a:p>
        </p:txBody>
      </p:sp>
    </p:spTree>
    <p:extLst>
      <p:ext uri="{BB962C8B-B14F-4D97-AF65-F5344CB8AC3E}">
        <p14:creationId xmlns:p14="http://schemas.microsoft.com/office/powerpoint/2010/main" val="3469016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6CFC0D-BE15-4F64-8F61-A43C3C5945AB}" type="datetimeFigureOut">
              <a:rPr lang="en-IN" smtClean="0"/>
              <a:t>18-04-2026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401F31-F12D-46E6-8C46-317727C68D9A}" type="slidenum">
              <a:rPr lang="en-IN" smtClean="0"/>
              <a:t>‹#›</a:t>
            </a:fld>
            <a:endParaRPr lang="en-IN"/>
          </a:p>
        </p:txBody>
      </p:sp>
    </p:spTree>
    <p:extLst>
      <p:ext uri="{BB962C8B-B14F-4D97-AF65-F5344CB8AC3E}">
        <p14:creationId xmlns:p14="http://schemas.microsoft.com/office/powerpoint/2010/main" val="2348973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356CFC0D-BE15-4F64-8F61-A43C3C5945AB}" type="datetimeFigureOut">
              <a:rPr lang="en-IN" smtClean="0"/>
              <a:t>18-04-2026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3401F31-F12D-46E6-8C46-317727C68D9A}"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48419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356CFC0D-BE15-4F64-8F61-A43C3C5945AB}" type="datetimeFigureOut">
              <a:rPr lang="en-IN" smtClean="0"/>
              <a:t>18-04-2026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3401F31-F12D-46E6-8C46-317727C68D9A}"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28197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6CFC0D-BE15-4F64-8F61-A43C3C5945AB}"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401F31-F12D-46E6-8C46-317727C68D9A}" type="slidenum">
              <a:rPr lang="en-IN" smtClean="0"/>
              <a:t>‹#›</a:t>
            </a:fld>
            <a:endParaRPr lang="en-IN"/>
          </a:p>
        </p:txBody>
      </p:sp>
    </p:spTree>
    <p:extLst>
      <p:ext uri="{BB962C8B-B14F-4D97-AF65-F5344CB8AC3E}">
        <p14:creationId xmlns:p14="http://schemas.microsoft.com/office/powerpoint/2010/main" val="1909502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6CFC0D-BE15-4F64-8F61-A43C3C5945AB}" type="datetimeFigureOut">
              <a:rPr lang="en-IN" smtClean="0"/>
              <a:t>18-04-2026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401F31-F12D-46E6-8C46-317727C68D9A}" type="slidenum">
              <a:rPr lang="en-IN" smtClean="0"/>
              <a:t>‹#›</a:t>
            </a:fld>
            <a:endParaRPr lang="en-IN"/>
          </a:p>
        </p:txBody>
      </p:sp>
    </p:spTree>
    <p:extLst>
      <p:ext uri="{BB962C8B-B14F-4D97-AF65-F5344CB8AC3E}">
        <p14:creationId xmlns:p14="http://schemas.microsoft.com/office/powerpoint/2010/main" val="3744820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800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356CFC0D-BE15-4F64-8F61-A43C3C5945AB}" type="datetimeFigureOut">
              <a:rPr lang="en-IN" smtClean="0"/>
              <a:t>18-04-2026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3401F31-F12D-46E6-8C46-317727C68D9A}" type="slidenum">
              <a:rPr lang="en-IN" smtClean="0"/>
              <a:t>‹#›</a:t>
            </a:fld>
            <a:endParaRPr lang="en-IN"/>
          </a:p>
        </p:txBody>
      </p:sp>
    </p:spTree>
    <p:extLst>
      <p:ext uri="{BB962C8B-B14F-4D97-AF65-F5344CB8AC3E}">
        <p14:creationId xmlns:p14="http://schemas.microsoft.com/office/powerpoint/2010/main" val="13433551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3086A-F6C8-4AC9-38D7-9B0F29B0245A}"/>
              </a:ext>
            </a:extLst>
          </p:cNvPr>
          <p:cNvSpPr>
            <a:spLocks noGrp="1"/>
          </p:cNvSpPr>
          <p:nvPr>
            <p:ph type="ctrTitle"/>
          </p:nvPr>
        </p:nvSpPr>
        <p:spPr>
          <a:xfrm>
            <a:off x="1032387" y="2175937"/>
            <a:ext cx="10009239" cy="1963444"/>
          </a:xfrm>
        </p:spPr>
        <p:txBody>
          <a:bodyPr>
            <a:normAutofit/>
          </a:bodyPr>
          <a:lstStyle/>
          <a:p>
            <a:r>
              <a:rPr lang="en-US" sz="2800" dirty="0">
                <a:latin typeface="Times New Roman" panose="02020603050405020304" pitchFamily="18" charset="0"/>
                <a:cs typeface="Times New Roman" panose="02020603050405020304" pitchFamily="18" charset="0"/>
              </a:rPr>
              <a:t>Lag-Based Health Risk Prediction from Urban Air Pollution: A Statistical and Machine Learning Approach Across Indian Cities</a:t>
            </a: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3CCC2D9-1D38-19B4-7929-2B2E74EC6BEE}"/>
              </a:ext>
            </a:extLst>
          </p:cNvPr>
          <p:cNvSpPr>
            <a:spLocks noGrp="1"/>
          </p:cNvSpPr>
          <p:nvPr>
            <p:ph type="subTitle" idx="1"/>
          </p:nvPr>
        </p:nvSpPr>
        <p:spPr>
          <a:xfrm>
            <a:off x="1562100" y="4267200"/>
            <a:ext cx="9070848" cy="1071716"/>
          </a:xfrm>
        </p:spPr>
        <p:txBody>
          <a:bodyPr>
            <a:normAutofit fontScale="85000" lnSpcReduction="20000"/>
          </a:bodyPr>
          <a:lstStyle/>
          <a:p>
            <a:pPr algn="l"/>
            <a:endParaRPr lang="en-US" sz="2800" dirty="0">
              <a:latin typeface="Times New Roman" panose="02020603050405020304" pitchFamily="18" charset="0"/>
              <a:cs typeface="Times New Roman" panose="02020603050405020304" pitchFamily="18" charset="0"/>
            </a:endParaRPr>
          </a:p>
          <a:p>
            <a:pPr algn="l"/>
            <a:r>
              <a:rPr lang="en-US" sz="2800" dirty="0">
                <a:latin typeface="Times New Roman" panose="02020603050405020304" pitchFamily="18" charset="0"/>
                <a:cs typeface="Times New Roman" panose="02020603050405020304" pitchFamily="18" charset="0"/>
              </a:rPr>
              <a:t>NAME: NAGA DESA VARA PRASAD BORRA</a:t>
            </a:r>
          </a:p>
          <a:p>
            <a:pPr algn="l"/>
            <a:r>
              <a:rPr lang="en-US" sz="2800" dirty="0">
                <a:latin typeface="Times New Roman" panose="02020603050405020304" pitchFamily="18" charset="0"/>
                <a:cs typeface="Times New Roman" panose="02020603050405020304" pitchFamily="18" charset="0"/>
              </a:rPr>
              <a:t>ROLL NO: CB.AI.P2DSC25009</a:t>
            </a:r>
          </a:p>
        </p:txBody>
      </p:sp>
    </p:spTree>
    <p:extLst>
      <p:ext uri="{BB962C8B-B14F-4D97-AF65-F5344CB8AC3E}">
        <p14:creationId xmlns:p14="http://schemas.microsoft.com/office/powerpoint/2010/main" val="2369239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0D0E4-0A8C-58DD-E113-5708DD28576D}"/>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54F613-EA80-2A8D-FE51-D3074D74121B}"/>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Air pollution is a critical public health crisis in India — </a:t>
            </a:r>
            <a:r>
              <a:rPr lang="en-US" b="1" dirty="0">
                <a:latin typeface="Times New Roman" panose="02020603050405020304" pitchFamily="18" charset="0"/>
                <a:cs typeface="Times New Roman" panose="02020603050405020304" pitchFamily="18" charset="0"/>
              </a:rPr>
              <a:t>PM2.5, NO₂, SO₂, CO, and O₃</a:t>
            </a:r>
            <a:r>
              <a:rPr lang="en-US" dirty="0">
                <a:latin typeface="Times New Roman" panose="02020603050405020304" pitchFamily="18" charset="0"/>
                <a:cs typeface="Times New Roman" panose="02020603050405020304" pitchFamily="18" charset="0"/>
              </a:rPr>
              <a:t> are directly linked to respiratory and cardiovascular diseases.</a:t>
            </a:r>
          </a:p>
          <a:p>
            <a:r>
              <a:rPr lang="en-US" dirty="0">
                <a:latin typeface="Times New Roman" panose="02020603050405020304" pitchFamily="18" charset="0"/>
                <a:cs typeface="Times New Roman" panose="02020603050405020304" pitchFamily="18" charset="0"/>
              </a:rPr>
              <a:t>Current systems show only today’s AQI, but health effects often appear 1-3 days later. Predicting next-day risk is important, yet missing.</a:t>
            </a:r>
          </a:p>
          <a:p>
            <a:r>
              <a:rPr lang="en-US" dirty="0">
                <a:latin typeface="Times New Roman" panose="02020603050405020304" pitchFamily="18" charset="0"/>
                <a:cs typeface="Times New Roman" panose="02020603050405020304" pitchFamily="18" charset="0"/>
              </a:rPr>
              <a:t>No existing framework integrates </a:t>
            </a:r>
            <a:r>
              <a:rPr lang="en-US" b="1" dirty="0">
                <a:latin typeface="Times New Roman" panose="02020603050405020304" pitchFamily="18" charset="0"/>
                <a:cs typeface="Times New Roman" panose="02020603050405020304" pitchFamily="18" charset="0"/>
              </a:rPr>
              <a:t>multi-source data + statistical validation + lag-based ML prediction</a:t>
            </a:r>
            <a:r>
              <a:rPr lang="en-US" dirty="0">
                <a:latin typeface="Times New Roman" panose="02020603050405020304" pitchFamily="18" charset="0"/>
                <a:cs typeface="Times New Roman" panose="02020603050405020304" pitchFamily="18" charset="0"/>
              </a:rPr>
              <a:t> into a single pipeline.</a:t>
            </a:r>
          </a:p>
          <a:p>
            <a:r>
              <a:rPr lang="en-US" dirty="0">
                <a:latin typeface="Times New Roman" panose="02020603050405020304" pitchFamily="18" charset="0"/>
                <a:cs typeface="Times New Roman" panose="02020603050405020304" pitchFamily="18" charset="0"/>
              </a:rPr>
              <a:t>Analyze air quality data from 26 Indian cities (2015–2020), use statistical tests to confirm how pollution affects health, include 1–3 day delay effects, and build accurate machine learning models to predict next-day health risk.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994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B03C8-591F-6478-3C31-AF588C09B913}"/>
              </a:ext>
            </a:extLst>
          </p:cNvPr>
          <p:cNvSpPr>
            <a:spLocks noGrp="1"/>
          </p:cNvSpPr>
          <p:nvPr>
            <p:ph type="title"/>
          </p:nvPr>
        </p:nvSpPr>
        <p:spPr>
          <a:xfrm>
            <a:off x="838200" y="191729"/>
            <a:ext cx="10515600" cy="653845"/>
          </a:xfrm>
        </p:spPr>
        <p:txBody>
          <a:bodyPr>
            <a:noAutofit/>
          </a:bodyPr>
          <a:lstStyle/>
          <a:p>
            <a:pPr algn="ctr"/>
            <a:r>
              <a:rPr lang="en-US" sz="4000" dirty="0">
                <a:latin typeface="Times New Roman" panose="02020603050405020304" pitchFamily="18" charset="0"/>
                <a:cs typeface="Times New Roman" panose="02020603050405020304" pitchFamily="18" charset="0"/>
              </a:rPr>
              <a:t>RESEARCH GAP IDENTIFIED</a:t>
            </a:r>
            <a:endParaRPr lang="en-IN" sz="40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9EC6221E-34F8-9D41-EAA5-9563F3B983DE}"/>
              </a:ext>
            </a:extLst>
          </p:cNvPr>
          <p:cNvGraphicFramePr>
            <a:graphicFrameLocks noGrp="1"/>
          </p:cNvGraphicFramePr>
          <p:nvPr>
            <p:ph idx="1"/>
            <p:extLst>
              <p:ext uri="{D42A27DB-BD31-4B8C-83A1-F6EECF244321}">
                <p14:modId xmlns:p14="http://schemas.microsoft.com/office/powerpoint/2010/main" val="1380116666"/>
              </p:ext>
            </p:extLst>
          </p:nvPr>
        </p:nvGraphicFramePr>
        <p:xfrm>
          <a:off x="334298" y="1042219"/>
          <a:ext cx="11552901" cy="5624052"/>
        </p:xfrm>
        <a:graphic>
          <a:graphicData uri="http://schemas.openxmlformats.org/drawingml/2006/table">
            <a:tbl>
              <a:tblPr firstRow="1" bandRow="1">
                <a:tableStyleId>{5FD0F851-EC5A-4D38-B0AD-8093EC10F338}</a:tableStyleId>
              </a:tblPr>
              <a:tblGrid>
                <a:gridCol w="3850967">
                  <a:extLst>
                    <a:ext uri="{9D8B030D-6E8A-4147-A177-3AD203B41FA5}">
                      <a16:colId xmlns:a16="http://schemas.microsoft.com/office/drawing/2014/main" val="3597362398"/>
                    </a:ext>
                  </a:extLst>
                </a:gridCol>
                <a:gridCol w="3850967">
                  <a:extLst>
                    <a:ext uri="{9D8B030D-6E8A-4147-A177-3AD203B41FA5}">
                      <a16:colId xmlns:a16="http://schemas.microsoft.com/office/drawing/2014/main" val="3325822905"/>
                    </a:ext>
                  </a:extLst>
                </a:gridCol>
                <a:gridCol w="3850967">
                  <a:extLst>
                    <a:ext uri="{9D8B030D-6E8A-4147-A177-3AD203B41FA5}">
                      <a16:colId xmlns:a16="http://schemas.microsoft.com/office/drawing/2014/main" val="3612974041"/>
                    </a:ext>
                  </a:extLst>
                </a:gridCol>
              </a:tblGrid>
              <a:tr h="368790">
                <a:tc>
                  <a:txBody>
                    <a:bodyPr/>
                    <a:lstStyle/>
                    <a:p>
                      <a:pPr algn="ctr"/>
                      <a:r>
                        <a:rPr lang="en-US" dirty="0">
                          <a:latin typeface="Times New Roman" panose="02020603050405020304" pitchFamily="18" charset="0"/>
                          <a:cs typeface="Times New Roman" panose="02020603050405020304" pitchFamily="18" charset="0"/>
                        </a:rPr>
                        <a:t>What Existing Studies Did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Gap Identified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Novelty</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9457564"/>
                  </a:ext>
                </a:extLst>
              </a:tr>
              <a:tr h="6453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Predicted AQI as a continuous numerical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dirty="0">
                          <a:latin typeface="Times New Roman" panose="02020603050405020304" pitchFamily="18" charset="0"/>
                          <a:cs typeface="Times New Roman" panose="02020603050405020304" pitchFamily="18" charset="0"/>
                        </a:rPr>
                        <a:t>Never classified AQI into actual </a:t>
                      </a:r>
                      <a:r>
                        <a:rPr lang="en-US" b="1" dirty="0">
                          <a:latin typeface="Times New Roman" panose="02020603050405020304" pitchFamily="18" charset="0"/>
                          <a:cs typeface="Times New Roman" panose="02020603050405020304" pitchFamily="18" charset="0"/>
                        </a:rPr>
                        <a:t>health risk categories</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Converted AQI into simple health risk (0 or 1) for easy understanding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7037989"/>
                  </a:ext>
                </a:extLst>
              </a:tr>
              <a:tr h="6453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Used only </a:t>
                      </a:r>
                      <a:r>
                        <a:rPr lang="en-US" b="1" dirty="0">
                          <a:latin typeface="Times New Roman" panose="02020603050405020304" pitchFamily="18" charset="0"/>
                          <a:cs typeface="Times New Roman" panose="02020603050405020304" pitchFamily="18" charset="0"/>
                        </a:rPr>
                        <a:t>current-day</a:t>
                      </a:r>
                      <a:r>
                        <a:rPr lang="en-US" dirty="0">
                          <a:latin typeface="Times New Roman" panose="02020603050405020304" pitchFamily="18" charset="0"/>
                          <a:cs typeface="Times New Roman" panose="02020603050405020304" pitchFamily="18" charset="0"/>
                        </a:rPr>
                        <a:t> pollutant values for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dirty="0">
                          <a:latin typeface="Times New Roman" panose="02020603050405020304" pitchFamily="18" charset="0"/>
                          <a:cs typeface="Times New Roman" panose="02020603050405020304" pitchFamily="18" charset="0"/>
                        </a:rPr>
                        <a:t>Ignored the body’s delayed response to pollution.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Created lag features to capture 1–3 day delayed effects of pollution.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5293504"/>
                  </a:ext>
                </a:extLst>
              </a:tr>
              <a:tr h="921976">
                <a:tc>
                  <a:txBody>
                    <a:bodyPr/>
                    <a:lstStyle/>
                    <a:p>
                      <a:pPr algn="ctr"/>
                      <a:r>
                        <a:rPr lang="en-US" dirty="0">
                          <a:latin typeface="Times New Roman" panose="02020603050405020304" pitchFamily="18" charset="0"/>
                          <a:cs typeface="Times New Roman" panose="02020603050405020304" pitchFamily="18" charset="0"/>
                        </a:rPr>
                        <a:t>Used a </a:t>
                      </a:r>
                      <a:r>
                        <a:rPr lang="en-US" b="1" dirty="0">
                          <a:latin typeface="Times New Roman" panose="02020603050405020304" pitchFamily="18" charset="0"/>
                          <a:cs typeface="Times New Roman" panose="02020603050405020304" pitchFamily="18" charset="0"/>
                        </a:rPr>
                        <a:t>single data source</a:t>
                      </a:r>
                      <a:r>
                        <a:rPr lang="en-US" dirty="0">
                          <a:latin typeface="Times New Roman" panose="02020603050405020304" pitchFamily="18" charset="0"/>
                          <a:cs typeface="Times New Roman" panose="02020603050405020304" pitchFamily="18" charset="0"/>
                        </a:rPr>
                        <a:t> (either city-level or station-level)</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Did not check or compare results across different data 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Integrated </a:t>
                      </a:r>
                      <a:r>
                        <a:rPr lang="en-US" b="1" dirty="0">
                          <a:latin typeface="Times New Roman" panose="02020603050405020304" pitchFamily="18" charset="0"/>
                          <a:cs typeface="Times New Roman" panose="02020603050405020304" pitchFamily="18" charset="0"/>
                        </a:rPr>
                        <a:t>4 data sources</a:t>
                      </a:r>
                      <a:r>
                        <a:rPr lang="en-US" dirty="0">
                          <a:latin typeface="Times New Roman" panose="02020603050405020304" pitchFamily="18" charset="0"/>
                          <a:cs typeface="Times New Roman" panose="02020603050405020304" pitchFamily="18" charset="0"/>
                        </a:rPr>
                        <a:t> — city-day, city-hour, station-day, station-hour — into one unified dataset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6188542"/>
                  </a:ext>
                </a:extLst>
              </a:tr>
              <a:tr h="1198568">
                <a:tc>
                  <a:txBody>
                    <a:bodyPr/>
                    <a:lstStyle/>
                    <a:p>
                      <a:pPr algn="ctr"/>
                      <a:r>
                        <a:rPr lang="en-US" dirty="0">
                          <a:latin typeface="Times New Roman" panose="02020603050405020304" pitchFamily="18" charset="0"/>
                          <a:cs typeface="Times New Roman" panose="02020603050405020304" pitchFamily="18" charset="0"/>
                        </a:rPr>
                        <a:t>Applied </a:t>
                      </a:r>
                      <a:r>
                        <a:rPr lang="en-US" b="1" dirty="0">
                          <a:latin typeface="Times New Roman" panose="02020603050405020304" pitchFamily="18" charset="0"/>
                          <a:cs typeface="Times New Roman" panose="02020603050405020304" pitchFamily="18" charset="0"/>
                        </a:rPr>
                        <a:t>parametric statistical tests</a:t>
                      </a:r>
                      <a:r>
                        <a:rPr lang="en-US" dirty="0">
                          <a:latin typeface="Times New Roman" panose="02020603050405020304" pitchFamily="18" charset="0"/>
                          <a:cs typeface="Times New Roman" panose="02020603050405020304" pitchFamily="18" charset="0"/>
                        </a:rPr>
                        <a:t> (t-test, Pearson) on skewed pollution data</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Did not meet normal data assumptions, so results may be unreliable.</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Applied </a:t>
                      </a:r>
                      <a:r>
                        <a:rPr lang="en-US" b="1" dirty="0">
                          <a:latin typeface="Times New Roman" panose="02020603050405020304" pitchFamily="18" charset="0"/>
                          <a:cs typeface="Times New Roman" panose="02020603050405020304" pitchFamily="18" charset="0"/>
                        </a:rPr>
                        <a:t>non-parametric tests</a:t>
                      </a:r>
                      <a:r>
                        <a:rPr lang="en-US" dirty="0">
                          <a:latin typeface="Times New Roman" panose="02020603050405020304" pitchFamily="18" charset="0"/>
                          <a:cs typeface="Times New Roman" panose="02020603050405020304" pitchFamily="18" charset="0"/>
                        </a:rPr>
                        <a:t> (Mann-Whitney U, Kruskal-Wallis) appropriate for right-skewed distributions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031654"/>
                  </a:ext>
                </a:extLst>
              </a:tr>
              <a:tr h="921976">
                <a:tc>
                  <a:txBody>
                    <a:bodyPr/>
                    <a:lstStyle/>
                    <a:p>
                      <a:pPr algn="ctr"/>
                      <a:r>
                        <a:rPr lang="en-US" dirty="0">
                          <a:latin typeface="Times New Roman" panose="02020603050405020304" pitchFamily="18" charset="0"/>
                          <a:cs typeface="Times New Roman" panose="02020603050405020304" pitchFamily="18" charset="0"/>
                        </a:rPr>
                        <a:t>Rarely checked how health risk differs across locations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Assumed pollution risk is uniform across cities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Used </a:t>
                      </a:r>
                      <a:r>
                        <a:rPr lang="en-US" b="1" dirty="0">
                          <a:latin typeface="Times New Roman" panose="02020603050405020304" pitchFamily="18" charset="0"/>
                          <a:cs typeface="Times New Roman" panose="02020603050405020304" pitchFamily="18" charset="0"/>
                        </a:rPr>
                        <a:t>Chi-Square test</a:t>
                      </a:r>
                      <a:r>
                        <a:rPr lang="en-US" dirty="0">
                          <a:latin typeface="Times New Roman" panose="02020603050405020304" pitchFamily="18" charset="0"/>
                          <a:cs typeface="Times New Roman" panose="02020603050405020304" pitchFamily="18" charset="0"/>
                        </a:rPr>
                        <a:t> to statistically confirm city-wise variation in health risk</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0541914"/>
                  </a:ext>
                </a:extLst>
              </a:tr>
              <a:tr h="921976">
                <a:tc>
                  <a:txBody>
                    <a:bodyPr/>
                    <a:lstStyle/>
                    <a:p>
                      <a:pPr algn="ctr"/>
                      <a:r>
                        <a:rPr lang="en-US" dirty="0">
                          <a:latin typeface="Times New Roman" panose="02020603050405020304" pitchFamily="18" charset="0"/>
                          <a:cs typeface="Times New Roman" panose="02020603050405020304" pitchFamily="18" charset="0"/>
                        </a:rPr>
                        <a:t>Did not address </a:t>
                      </a:r>
                      <a:r>
                        <a:rPr lang="en-US" b="1" dirty="0">
                          <a:latin typeface="Times New Roman" panose="02020603050405020304" pitchFamily="18" charset="0"/>
                          <a:cs typeface="Times New Roman" panose="02020603050405020304" pitchFamily="18" charset="0"/>
                        </a:rPr>
                        <a:t>multicollinearity</a:t>
                      </a:r>
                      <a:r>
                        <a:rPr lang="en-US" dirty="0">
                          <a:latin typeface="Times New Roman" panose="02020603050405020304" pitchFamily="18" charset="0"/>
                          <a:cs typeface="Times New Roman" panose="02020603050405020304" pitchFamily="18" charset="0"/>
                        </a:rPr>
                        <a:t> among pollutants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Repeated features increased model errors.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Applied </a:t>
                      </a:r>
                      <a:r>
                        <a:rPr lang="en-US" b="1" dirty="0">
                          <a:latin typeface="Times New Roman" panose="02020603050405020304" pitchFamily="18" charset="0"/>
                          <a:cs typeface="Times New Roman" panose="02020603050405020304" pitchFamily="18" charset="0"/>
                        </a:rPr>
                        <a:t>VIF analysis</a:t>
                      </a:r>
                      <a:r>
                        <a:rPr lang="en-US" dirty="0">
                          <a:latin typeface="Times New Roman" panose="02020603050405020304" pitchFamily="18" charset="0"/>
                          <a:cs typeface="Times New Roman" panose="02020603050405020304" pitchFamily="18" charset="0"/>
                        </a:rPr>
                        <a:t> to reduce 12 pollutants to 7 clean, non-redundant features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7816729"/>
                  </a:ext>
                </a:extLst>
              </a:tr>
            </a:tbl>
          </a:graphicData>
        </a:graphic>
      </p:graphicFrame>
    </p:spTree>
    <p:extLst>
      <p:ext uri="{BB962C8B-B14F-4D97-AF65-F5344CB8AC3E}">
        <p14:creationId xmlns:p14="http://schemas.microsoft.com/office/powerpoint/2010/main" val="831850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24000" y="0"/>
            <a:ext cx="9144000" cy="347472"/>
          </a:xfrm>
          <a:prstGeom prst="roundRect">
            <a:avLst>
              <a:gd name="adj" fmla="val 21053"/>
            </a:avLst>
          </a:prstGeom>
          <a:solidFill>
            <a:srgbClr val="1A1A2E"/>
          </a:solidFill>
          <a:ln w="15240">
            <a:solidFill>
              <a:srgbClr val="1A1A2E"/>
            </a:solidFill>
            <a:prstDash val="solid"/>
          </a:ln>
        </p:spPr>
      </p:sp>
      <p:sp>
        <p:nvSpPr>
          <p:cNvPr id="3" name="Text 1"/>
          <p:cNvSpPr/>
          <p:nvPr/>
        </p:nvSpPr>
        <p:spPr>
          <a:xfrm>
            <a:off x="1524000" y="0"/>
            <a:ext cx="9144000" cy="347472"/>
          </a:xfrm>
          <a:prstGeom prst="rect">
            <a:avLst/>
          </a:prstGeom>
          <a:noFill/>
          <a:ln/>
        </p:spPr>
        <p:txBody>
          <a:bodyPr wrap="square" lIns="12700" tIns="12700" rIns="12700" bIns="12700" rtlCol="0" anchor="ctr"/>
          <a:lstStyle/>
          <a:p>
            <a:pPr algn="ctr"/>
            <a:r>
              <a:rPr lang="en-US" sz="1500" b="1" dirty="0">
                <a:solidFill>
                  <a:srgbClr val="FFFFFF"/>
                </a:solidFill>
                <a:latin typeface="+mj-lt"/>
                <a:ea typeface="Calibri" pitchFamily="34" charset="-122"/>
                <a:cs typeface="Calibri" pitchFamily="34" charset="-120"/>
              </a:rPr>
              <a:t>Air Quality &amp; Health Risk Prediction — Architecture  (India 2015–2020)</a:t>
            </a:r>
            <a:endParaRPr lang="en-US" sz="1500" dirty="0">
              <a:latin typeface="+mj-lt"/>
            </a:endParaRPr>
          </a:p>
        </p:txBody>
      </p:sp>
      <p:sp>
        <p:nvSpPr>
          <p:cNvPr id="4" name="Shape 2"/>
          <p:cNvSpPr/>
          <p:nvPr/>
        </p:nvSpPr>
        <p:spPr>
          <a:xfrm>
            <a:off x="1702309" y="390644"/>
            <a:ext cx="8819393" cy="743203"/>
          </a:xfrm>
          <a:prstGeom prst="roundRect">
            <a:avLst>
              <a:gd name="adj" fmla="val 13514"/>
            </a:avLst>
          </a:prstGeom>
          <a:solidFill>
            <a:srgbClr val="D6E8F7"/>
          </a:solidFill>
          <a:ln w="15240">
            <a:solidFill>
              <a:srgbClr val="1F78C1"/>
            </a:solidFill>
            <a:prstDash val="solid"/>
          </a:ln>
        </p:spPr>
        <p:txBody>
          <a:bodyPr/>
          <a:lstStyle/>
          <a:p>
            <a:endParaRPr lang="en-IN" dirty="0"/>
          </a:p>
        </p:txBody>
      </p:sp>
      <p:sp>
        <p:nvSpPr>
          <p:cNvPr id="5" name="Text 3"/>
          <p:cNvSpPr/>
          <p:nvPr/>
        </p:nvSpPr>
        <p:spPr>
          <a:xfrm>
            <a:off x="1725168" y="384048"/>
            <a:ext cx="8741664" cy="173736"/>
          </a:xfrm>
          <a:prstGeom prst="rect">
            <a:avLst/>
          </a:prstGeom>
          <a:noFill/>
          <a:ln/>
        </p:spPr>
        <p:txBody>
          <a:bodyPr wrap="square" lIns="12700" tIns="12700" rIns="12700" bIns="12700" rtlCol="0" anchor="ctr"/>
          <a:lstStyle/>
          <a:p>
            <a:r>
              <a:rPr lang="en-US" sz="1000" b="1" dirty="0">
                <a:solidFill>
                  <a:srgbClr val="0D3F6E"/>
                </a:solidFill>
                <a:latin typeface="+mj-lt"/>
                <a:ea typeface="Calibri" pitchFamily="34" charset="-122"/>
                <a:cs typeface="Calibri" pitchFamily="34" charset="-120"/>
              </a:rPr>
              <a:t>Phase 1 — Data Sources  (5 CSV files · Kaggle · Jan 2015 – Jul 2020)</a:t>
            </a:r>
            <a:endParaRPr lang="en-US" sz="1000" dirty="0">
              <a:latin typeface="+mj-lt"/>
            </a:endParaRPr>
          </a:p>
        </p:txBody>
      </p:sp>
      <p:sp>
        <p:nvSpPr>
          <p:cNvPr id="6" name="Shape 4"/>
          <p:cNvSpPr/>
          <p:nvPr/>
        </p:nvSpPr>
        <p:spPr>
          <a:xfrm>
            <a:off x="1716024" y="603504"/>
            <a:ext cx="1706270" cy="457200"/>
          </a:xfrm>
          <a:prstGeom prst="roundRect">
            <a:avLst>
              <a:gd name="adj" fmla="val 12000"/>
            </a:avLst>
          </a:prstGeom>
          <a:solidFill>
            <a:srgbClr val="FFFFFF"/>
          </a:solidFill>
          <a:ln w="15240">
            <a:solidFill>
              <a:srgbClr val="1F78C1"/>
            </a:solidFill>
            <a:prstDash val="solid"/>
          </a:ln>
        </p:spPr>
      </p:sp>
      <p:sp>
        <p:nvSpPr>
          <p:cNvPr id="7" name="Text 5"/>
          <p:cNvSpPr/>
          <p:nvPr/>
        </p:nvSpPr>
        <p:spPr>
          <a:xfrm>
            <a:off x="1716024" y="603504"/>
            <a:ext cx="1706270" cy="201168"/>
          </a:xfrm>
          <a:prstGeom prst="rect">
            <a:avLst/>
          </a:prstGeom>
          <a:noFill/>
          <a:ln/>
        </p:spPr>
        <p:txBody>
          <a:bodyPr wrap="square" lIns="12700" tIns="12700" rIns="12700" bIns="12700" rtlCol="0" anchor="ctr"/>
          <a:lstStyle/>
          <a:p>
            <a:pPr algn="ctr"/>
            <a:r>
              <a:rPr lang="en-US" sz="900" b="1" dirty="0">
                <a:solidFill>
                  <a:srgbClr val="0D3F6E"/>
                </a:solidFill>
                <a:latin typeface="+mj-lt"/>
                <a:ea typeface="Calibri" pitchFamily="34" charset="-122"/>
                <a:cs typeface="Calibri" pitchFamily="34" charset="-120"/>
              </a:rPr>
              <a:t>city_day.csv</a:t>
            </a:r>
            <a:endParaRPr lang="en-US" sz="900" dirty="0">
              <a:latin typeface="+mj-lt"/>
            </a:endParaRPr>
          </a:p>
        </p:txBody>
      </p:sp>
      <p:sp>
        <p:nvSpPr>
          <p:cNvPr id="8" name="Text 6"/>
          <p:cNvSpPr/>
          <p:nvPr/>
        </p:nvSpPr>
        <p:spPr>
          <a:xfrm>
            <a:off x="1716024" y="795528"/>
            <a:ext cx="1706270" cy="246888"/>
          </a:xfrm>
          <a:prstGeom prst="rect">
            <a:avLst/>
          </a:prstGeom>
          <a:noFill/>
          <a:ln/>
        </p:spPr>
        <p:txBody>
          <a:bodyPr wrap="square" lIns="12700" tIns="12700" rIns="12700" bIns="12700" rtlCol="0" anchor="ctr"/>
          <a:lstStyle/>
          <a:p>
            <a:pPr algn="ctr"/>
            <a:r>
              <a:rPr lang="en-US" sz="700" dirty="0">
                <a:solidFill>
                  <a:srgbClr val="0D3F6E"/>
                </a:solidFill>
                <a:latin typeface="+mj-lt"/>
                <a:ea typeface="Calibri" pitchFamily="34" charset="-122"/>
                <a:cs typeface="Calibri" pitchFamily="34" charset="-120"/>
              </a:rPr>
              <a:t>Daily AQI</a:t>
            </a:r>
            <a:endParaRPr lang="en-US" sz="700" dirty="0">
              <a:latin typeface="+mj-lt"/>
            </a:endParaRPr>
          </a:p>
          <a:p>
            <a:pPr algn="ctr"/>
            <a:r>
              <a:rPr lang="en-US" sz="700" dirty="0">
                <a:solidFill>
                  <a:srgbClr val="0D3F6E"/>
                </a:solidFill>
                <a:latin typeface="+mj-lt"/>
                <a:ea typeface="Calibri" pitchFamily="34" charset="-122"/>
                <a:cs typeface="Calibri" pitchFamily="34" charset="-120"/>
              </a:rPr>
              <a:t>+ pollutants</a:t>
            </a:r>
            <a:endParaRPr lang="en-US" sz="700" dirty="0">
              <a:latin typeface="+mj-lt"/>
            </a:endParaRPr>
          </a:p>
        </p:txBody>
      </p:sp>
      <p:sp>
        <p:nvSpPr>
          <p:cNvPr id="9" name="Shape 7"/>
          <p:cNvSpPr/>
          <p:nvPr/>
        </p:nvSpPr>
        <p:spPr>
          <a:xfrm>
            <a:off x="3468014" y="603504"/>
            <a:ext cx="1706270" cy="457200"/>
          </a:xfrm>
          <a:prstGeom prst="roundRect">
            <a:avLst>
              <a:gd name="adj" fmla="val 12000"/>
            </a:avLst>
          </a:prstGeom>
          <a:solidFill>
            <a:srgbClr val="FFFFFF"/>
          </a:solidFill>
          <a:ln w="15240">
            <a:solidFill>
              <a:srgbClr val="1F78C1"/>
            </a:solidFill>
            <a:prstDash val="solid"/>
          </a:ln>
        </p:spPr>
      </p:sp>
      <p:sp>
        <p:nvSpPr>
          <p:cNvPr id="10" name="Text 8"/>
          <p:cNvSpPr/>
          <p:nvPr/>
        </p:nvSpPr>
        <p:spPr>
          <a:xfrm>
            <a:off x="3468014" y="603504"/>
            <a:ext cx="1706270" cy="201168"/>
          </a:xfrm>
          <a:prstGeom prst="rect">
            <a:avLst/>
          </a:prstGeom>
          <a:noFill/>
          <a:ln/>
        </p:spPr>
        <p:txBody>
          <a:bodyPr wrap="square" lIns="12700" tIns="12700" rIns="12700" bIns="12700" rtlCol="0" anchor="ctr"/>
          <a:lstStyle/>
          <a:p>
            <a:pPr algn="ctr"/>
            <a:r>
              <a:rPr lang="en-US" sz="900" b="1" dirty="0">
                <a:solidFill>
                  <a:srgbClr val="0D3F6E"/>
                </a:solidFill>
                <a:latin typeface="+mj-lt"/>
                <a:ea typeface="Calibri" pitchFamily="34" charset="-122"/>
                <a:cs typeface="Calibri" pitchFamily="34" charset="-120"/>
              </a:rPr>
              <a:t>city_hour.csv</a:t>
            </a:r>
            <a:endParaRPr lang="en-US" sz="900" dirty="0">
              <a:latin typeface="+mj-lt"/>
            </a:endParaRPr>
          </a:p>
        </p:txBody>
      </p:sp>
      <p:sp>
        <p:nvSpPr>
          <p:cNvPr id="11" name="Text 9"/>
          <p:cNvSpPr/>
          <p:nvPr/>
        </p:nvSpPr>
        <p:spPr>
          <a:xfrm>
            <a:off x="3468014" y="795528"/>
            <a:ext cx="1706270" cy="246888"/>
          </a:xfrm>
          <a:prstGeom prst="rect">
            <a:avLst/>
          </a:prstGeom>
          <a:noFill/>
          <a:ln/>
        </p:spPr>
        <p:txBody>
          <a:bodyPr wrap="square" lIns="12700" tIns="12700" rIns="12700" bIns="12700" rtlCol="0" anchor="ctr"/>
          <a:lstStyle/>
          <a:p>
            <a:pPr algn="ctr"/>
            <a:r>
              <a:rPr lang="en-US" sz="700" dirty="0">
                <a:solidFill>
                  <a:srgbClr val="0D3F6E"/>
                </a:solidFill>
                <a:latin typeface="+mj-lt"/>
                <a:ea typeface="Calibri" pitchFamily="34" charset="-122"/>
                <a:cs typeface="Calibri" pitchFamily="34" charset="-120"/>
              </a:rPr>
              <a:t>Hourly pollutants</a:t>
            </a:r>
            <a:endParaRPr lang="en-US" sz="700" dirty="0">
              <a:latin typeface="+mj-lt"/>
            </a:endParaRPr>
          </a:p>
          <a:p>
            <a:pPr algn="ctr"/>
            <a:r>
              <a:rPr lang="en-US" sz="700" dirty="0">
                <a:solidFill>
                  <a:srgbClr val="0D3F6E"/>
                </a:solidFill>
                <a:latin typeface="+mj-lt"/>
                <a:ea typeface="Calibri" pitchFamily="34" charset="-122"/>
                <a:cs typeface="Calibri" pitchFamily="34" charset="-120"/>
              </a:rPr>
              <a:t>→ daily avg</a:t>
            </a:r>
            <a:endParaRPr lang="en-US" sz="700" dirty="0">
              <a:latin typeface="+mj-lt"/>
            </a:endParaRPr>
          </a:p>
        </p:txBody>
      </p:sp>
      <p:sp>
        <p:nvSpPr>
          <p:cNvPr id="12" name="Shape 10"/>
          <p:cNvSpPr/>
          <p:nvPr/>
        </p:nvSpPr>
        <p:spPr>
          <a:xfrm>
            <a:off x="5220005" y="603504"/>
            <a:ext cx="1706270" cy="457200"/>
          </a:xfrm>
          <a:prstGeom prst="roundRect">
            <a:avLst>
              <a:gd name="adj" fmla="val 12000"/>
            </a:avLst>
          </a:prstGeom>
          <a:solidFill>
            <a:srgbClr val="FFFFFF"/>
          </a:solidFill>
          <a:ln w="15240">
            <a:solidFill>
              <a:srgbClr val="1F78C1"/>
            </a:solidFill>
            <a:prstDash val="solid"/>
          </a:ln>
        </p:spPr>
      </p:sp>
      <p:sp>
        <p:nvSpPr>
          <p:cNvPr id="13" name="Text 11"/>
          <p:cNvSpPr/>
          <p:nvPr/>
        </p:nvSpPr>
        <p:spPr>
          <a:xfrm>
            <a:off x="5220005" y="603504"/>
            <a:ext cx="1706270" cy="201168"/>
          </a:xfrm>
          <a:prstGeom prst="rect">
            <a:avLst/>
          </a:prstGeom>
          <a:noFill/>
          <a:ln/>
        </p:spPr>
        <p:txBody>
          <a:bodyPr wrap="square" lIns="12700" tIns="12700" rIns="12700" bIns="12700" rtlCol="0" anchor="ctr"/>
          <a:lstStyle/>
          <a:p>
            <a:pPr algn="ctr"/>
            <a:r>
              <a:rPr lang="en-US" sz="900" b="1" dirty="0">
                <a:solidFill>
                  <a:srgbClr val="0D3F6E"/>
                </a:solidFill>
                <a:latin typeface="+mj-lt"/>
                <a:ea typeface="Calibri" pitchFamily="34" charset="-122"/>
                <a:cs typeface="Calibri" pitchFamily="34" charset="-120"/>
              </a:rPr>
              <a:t>station_day.csv</a:t>
            </a:r>
            <a:endParaRPr lang="en-US" sz="900" dirty="0">
              <a:latin typeface="+mj-lt"/>
            </a:endParaRPr>
          </a:p>
        </p:txBody>
      </p:sp>
      <p:sp>
        <p:nvSpPr>
          <p:cNvPr id="14" name="Text 12"/>
          <p:cNvSpPr/>
          <p:nvPr/>
        </p:nvSpPr>
        <p:spPr>
          <a:xfrm>
            <a:off x="5220005" y="795528"/>
            <a:ext cx="1706270" cy="246888"/>
          </a:xfrm>
          <a:prstGeom prst="rect">
            <a:avLst/>
          </a:prstGeom>
          <a:noFill/>
          <a:ln/>
        </p:spPr>
        <p:txBody>
          <a:bodyPr wrap="square" lIns="12700" tIns="12700" rIns="12700" bIns="12700" rtlCol="0" anchor="ctr"/>
          <a:lstStyle/>
          <a:p>
            <a:pPr algn="ctr"/>
            <a:r>
              <a:rPr lang="en-US" sz="700" dirty="0">
                <a:solidFill>
                  <a:srgbClr val="0D3F6E"/>
                </a:solidFill>
                <a:latin typeface="+mj-lt"/>
                <a:ea typeface="Calibri" pitchFamily="34" charset="-122"/>
                <a:cs typeface="Calibri" pitchFamily="34" charset="-120"/>
              </a:rPr>
              <a:t>Station daily</a:t>
            </a:r>
            <a:endParaRPr lang="en-US" sz="700" dirty="0">
              <a:latin typeface="+mj-lt"/>
            </a:endParaRPr>
          </a:p>
          <a:p>
            <a:pPr algn="ctr"/>
            <a:r>
              <a:rPr lang="en-US" sz="700" dirty="0">
                <a:solidFill>
                  <a:srgbClr val="0D3F6E"/>
                </a:solidFill>
                <a:latin typeface="+mj-lt"/>
                <a:ea typeface="Calibri" pitchFamily="34" charset="-122"/>
                <a:cs typeface="Calibri" pitchFamily="34" charset="-120"/>
              </a:rPr>
              <a:t>pollutants</a:t>
            </a:r>
            <a:endParaRPr lang="en-US" sz="700" dirty="0">
              <a:latin typeface="+mj-lt"/>
            </a:endParaRPr>
          </a:p>
        </p:txBody>
      </p:sp>
      <p:sp>
        <p:nvSpPr>
          <p:cNvPr id="15" name="Shape 13"/>
          <p:cNvSpPr/>
          <p:nvPr/>
        </p:nvSpPr>
        <p:spPr>
          <a:xfrm>
            <a:off x="6971995" y="603504"/>
            <a:ext cx="1706270" cy="457200"/>
          </a:xfrm>
          <a:prstGeom prst="roundRect">
            <a:avLst>
              <a:gd name="adj" fmla="val 12000"/>
            </a:avLst>
          </a:prstGeom>
          <a:solidFill>
            <a:srgbClr val="FFFFFF"/>
          </a:solidFill>
          <a:ln w="15240">
            <a:solidFill>
              <a:srgbClr val="1F78C1"/>
            </a:solidFill>
            <a:prstDash val="solid"/>
          </a:ln>
        </p:spPr>
      </p:sp>
      <p:sp>
        <p:nvSpPr>
          <p:cNvPr id="16" name="Text 14"/>
          <p:cNvSpPr/>
          <p:nvPr/>
        </p:nvSpPr>
        <p:spPr>
          <a:xfrm>
            <a:off x="6971995" y="603504"/>
            <a:ext cx="1706270" cy="201168"/>
          </a:xfrm>
          <a:prstGeom prst="rect">
            <a:avLst/>
          </a:prstGeom>
          <a:noFill/>
          <a:ln/>
        </p:spPr>
        <p:txBody>
          <a:bodyPr wrap="square" lIns="12700" tIns="12700" rIns="12700" bIns="12700" rtlCol="0" anchor="ctr"/>
          <a:lstStyle/>
          <a:p>
            <a:pPr algn="ctr"/>
            <a:r>
              <a:rPr lang="en-US" sz="900" b="1" dirty="0">
                <a:solidFill>
                  <a:srgbClr val="0D3F6E"/>
                </a:solidFill>
                <a:latin typeface="+mj-lt"/>
                <a:ea typeface="Calibri" pitchFamily="34" charset="-122"/>
                <a:cs typeface="Calibri" pitchFamily="34" charset="-120"/>
              </a:rPr>
              <a:t>station_hour.csv</a:t>
            </a:r>
            <a:endParaRPr lang="en-US" sz="900" dirty="0">
              <a:latin typeface="+mj-lt"/>
            </a:endParaRPr>
          </a:p>
        </p:txBody>
      </p:sp>
      <p:sp>
        <p:nvSpPr>
          <p:cNvPr id="17" name="Text 15"/>
          <p:cNvSpPr/>
          <p:nvPr/>
        </p:nvSpPr>
        <p:spPr>
          <a:xfrm>
            <a:off x="6971995" y="795528"/>
            <a:ext cx="1706270" cy="246888"/>
          </a:xfrm>
          <a:prstGeom prst="rect">
            <a:avLst/>
          </a:prstGeom>
          <a:noFill/>
          <a:ln/>
        </p:spPr>
        <p:txBody>
          <a:bodyPr wrap="square" lIns="12700" tIns="12700" rIns="12700" bIns="12700" rtlCol="0" anchor="ctr"/>
          <a:lstStyle/>
          <a:p>
            <a:pPr algn="ctr"/>
            <a:r>
              <a:rPr lang="en-US" sz="700" dirty="0">
                <a:solidFill>
                  <a:srgbClr val="0D3F6E"/>
                </a:solidFill>
                <a:latin typeface="+mj-lt"/>
                <a:ea typeface="Calibri" pitchFamily="34" charset="-122"/>
                <a:cs typeface="Calibri" pitchFamily="34" charset="-120"/>
              </a:rPr>
              <a:t>Station hourly</a:t>
            </a:r>
            <a:endParaRPr lang="en-US" sz="700" dirty="0">
              <a:latin typeface="+mj-lt"/>
            </a:endParaRPr>
          </a:p>
          <a:p>
            <a:pPr algn="ctr"/>
            <a:r>
              <a:rPr lang="en-US" sz="700" dirty="0">
                <a:solidFill>
                  <a:srgbClr val="0D3F6E"/>
                </a:solidFill>
                <a:latin typeface="+mj-lt"/>
                <a:ea typeface="Calibri" pitchFamily="34" charset="-122"/>
                <a:cs typeface="Calibri" pitchFamily="34" charset="-120"/>
              </a:rPr>
              <a:t>→ daily avg</a:t>
            </a:r>
            <a:endParaRPr lang="en-US" sz="700" dirty="0">
              <a:latin typeface="+mj-lt"/>
            </a:endParaRPr>
          </a:p>
        </p:txBody>
      </p:sp>
      <p:sp>
        <p:nvSpPr>
          <p:cNvPr id="18" name="Shape 16"/>
          <p:cNvSpPr/>
          <p:nvPr/>
        </p:nvSpPr>
        <p:spPr>
          <a:xfrm>
            <a:off x="8723986" y="603504"/>
            <a:ext cx="1706270" cy="457200"/>
          </a:xfrm>
          <a:prstGeom prst="roundRect">
            <a:avLst>
              <a:gd name="adj" fmla="val 12000"/>
            </a:avLst>
          </a:prstGeom>
          <a:solidFill>
            <a:srgbClr val="FFFFFF"/>
          </a:solidFill>
          <a:ln w="15240">
            <a:solidFill>
              <a:srgbClr val="1F78C1"/>
            </a:solidFill>
            <a:prstDash val="solid"/>
          </a:ln>
        </p:spPr>
      </p:sp>
      <p:sp>
        <p:nvSpPr>
          <p:cNvPr id="19" name="Text 17"/>
          <p:cNvSpPr/>
          <p:nvPr/>
        </p:nvSpPr>
        <p:spPr>
          <a:xfrm>
            <a:off x="8723986" y="603504"/>
            <a:ext cx="1706270" cy="201168"/>
          </a:xfrm>
          <a:prstGeom prst="rect">
            <a:avLst/>
          </a:prstGeom>
          <a:noFill/>
          <a:ln/>
        </p:spPr>
        <p:txBody>
          <a:bodyPr wrap="square" lIns="12700" tIns="12700" rIns="12700" bIns="12700" rtlCol="0" anchor="ctr"/>
          <a:lstStyle/>
          <a:p>
            <a:pPr algn="ctr"/>
            <a:r>
              <a:rPr lang="en-US" sz="900" b="1" dirty="0">
                <a:solidFill>
                  <a:srgbClr val="0D3F6E"/>
                </a:solidFill>
                <a:latin typeface="+mj-lt"/>
                <a:ea typeface="Calibri" pitchFamily="34" charset="-122"/>
                <a:cs typeface="Calibri" pitchFamily="34" charset="-120"/>
              </a:rPr>
              <a:t>stations.csv</a:t>
            </a:r>
            <a:endParaRPr lang="en-US" sz="900" dirty="0">
              <a:latin typeface="+mj-lt"/>
            </a:endParaRPr>
          </a:p>
        </p:txBody>
      </p:sp>
      <p:sp>
        <p:nvSpPr>
          <p:cNvPr id="20" name="Text 18"/>
          <p:cNvSpPr/>
          <p:nvPr/>
        </p:nvSpPr>
        <p:spPr>
          <a:xfrm>
            <a:off x="8723986" y="795528"/>
            <a:ext cx="1706270" cy="246888"/>
          </a:xfrm>
          <a:prstGeom prst="rect">
            <a:avLst/>
          </a:prstGeom>
          <a:noFill/>
          <a:ln/>
        </p:spPr>
        <p:txBody>
          <a:bodyPr wrap="square" lIns="12700" tIns="12700" rIns="12700" bIns="12700" rtlCol="0" anchor="ctr"/>
          <a:lstStyle/>
          <a:p>
            <a:pPr algn="ctr"/>
            <a:r>
              <a:rPr lang="en-US" sz="700" dirty="0">
                <a:solidFill>
                  <a:srgbClr val="0D3F6E"/>
                </a:solidFill>
                <a:latin typeface="+mj-lt"/>
                <a:ea typeface="Calibri" pitchFamily="34" charset="-122"/>
                <a:cs typeface="Calibri" pitchFamily="34" charset="-120"/>
              </a:rPr>
              <a:t>StationId</a:t>
            </a:r>
            <a:endParaRPr lang="en-US" sz="700" dirty="0">
              <a:latin typeface="+mj-lt"/>
            </a:endParaRPr>
          </a:p>
          <a:p>
            <a:pPr algn="ctr"/>
            <a:r>
              <a:rPr lang="en-US" sz="700" dirty="0">
                <a:solidFill>
                  <a:srgbClr val="0D3F6E"/>
                </a:solidFill>
                <a:latin typeface="+mj-lt"/>
                <a:ea typeface="Calibri" pitchFamily="34" charset="-122"/>
                <a:cs typeface="Calibri" pitchFamily="34" charset="-120"/>
              </a:rPr>
              <a:t>→ City map</a:t>
            </a:r>
            <a:endParaRPr lang="en-US" sz="700" dirty="0">
              <a:latin typeface="+mj-lt"/>
            </a:endParaRPr>
          </a:p>
        </p:txBody>
      </p:sp>
      <p:sp>
        <p:nvSpPr>
          <p:cNvPr id="22" name="Shape 20"/>
          <p:cNvSpPr/>
          <p:nvPr/>
        </p:nvSpPr>
        <p:spPr>
          <a:xfrm>
            <a:off x="1688592" y="1371238"/>
            <a:ext cx="8814816" cy="713232"/>
          </a:xfrm>
          <a:prstGeom prst="roundRect">
            <a:avLst>
              <a:gd name="adj" fmla="val 12821"/>
            </a:avLst>
          </a:prstGeom>
          <a:solidFill>
            <a:srgbClr val="D0EDE0"/>
          </a:solidFill>
          <a:ln w="15240">
            <a:solidFill>
              <a:srgbClr val="2A8A58"/>
            </a:solidFill>
            <a:prstDash val="solid"/>
          </a:ln>
        </p:spPr>
      </p:sp>
      <p:sp>
        <p:nvSpPr>
          <p:cNvPr id="23" name="Text 21"/>
          <p:cNvSpPr/>
          <p:nvPr/>
        </p:nvSpPr>
        <p:spPr>
          <a:xfrm>
            <a:off x="1743461" y="1380772"/>
            <a:ext cx="8741664" cy="173736"/>
          </a:xfrm>
          <a:prstGeom prst="rect">
            <a:avLst/>
          </a:prstGeom>
          <a:noFill/>
          <a:ln/>
        </p:spPr>
        <p:txBody>
          <a:bodyPr wrap="square" lIns="12700" tIns="12700" rIns="12700" bIns="12700" rtlCol="0" anchor="ctr"/>
          <a:lstStyle/>
          <a:p>
            <a:r>
              <a:rPr lang="en-US" sz="1000" b="1" dirty="0">
                <a:solidFill>
                  <a:srgbClr val="144D30"/>
                </a:solidFill>
                <a:latin typeface="+mj-lt"/>
                <a:ea typeface="Calibri" pitchFamily="34" charset="-122"/>
                <a:cs typeface="Calibri" pitchFamily="34" charset="-120"/>
              </a:rPr>
              <a:t>Phase 2 — Preprocessing  (29,531 rows · 31 features · zero nulls after imputation)</a:t>
            </a:r>
            <a:endParaRPr lang="en-US" sz="1000" dirty="0">
              <a:latin typeface="+mj-lt"/>
            </a:endParaRPr>
          </a:p>
        </p:txBody>
      </p:sp>
      <p:sp>
        <p:nvSpPr>
          <p:cNvPr id="24" name="Shape 22"/>
          <p:cNvSpPr/>
          <p:nvPr/>
        </p:nvSpPr>
        <p:spPr>
          <a:xfrm>
            <a:off x="1697719" y="1556857"/>
            <a:ext cx="2144268" cy="493776"/>
          </a:xfrm>
          <a:prstGeom prst="roundRect">
            <a:avLst>
              <a:gd name="adj" fmla="val 11111"/>
            </a:avLst>
          </a:prstGeom>
          <a:solidFill>
            <a:srgbClr val="FFFFFF"/>
          </a:solidFill>
          <a:ln w="15240">
            <a:solidFill>
              <a:srgbClr val="2A8A58"/>
            </a:solidFill>
            <a:prstDash val="solid"/>
          </a:ln>
        </p:spPr>
      </p:sp>
      <p:sp>
        <p:nvSpPr>
          <p:cNvPr id="25" name="Text 23"/>
          <p:cNvSpPr/>
          <p:nvPr/>
        </p:nvSpPr>
        <p:spPr>
          <a:xfrm>
            <a:off x="1716024" y="1546475"/>
            <a:ext cx="2144268" cy="217261"/>
          </a:xfrm>
          <a:prstGeom prst="rect">
            <a:avLst/>
          </a:prstGeom>
          <a:noFill/>
          <a:ln/>
        </p:spPr>
        <p:txBody>
          <a:bodyPr wrap="square" lIns="12700" tIns="12700" rIns="12700" bIns="12700" rtlCol="0" anchor="ctr"/>
          <a:lstStyle/>
          <a:p>
            <a:pPr algn="ctr"/>
            <a:r>
              <a:rPr lang="en-US" sz="900" b="1" dirty="0">
                <a:solidFill>
                  <a:srgbClr val="144D30"/>
                </a:solidFill>
                <a:latin typeface="+mj-lt"/>
                <a:ea typeface="Calibri" pitchFamily="34" charset="-122"/>
                <a:cs typeface="Calibri" pitchFamily="34" charset="-120"/>
              </a:rPr>
              <a:t>Deduplication</a:t>
            </a:r>
            <a:endParaRPr lang="en-US" sz="900" dirty="0">
              <a:latin typeface="+mj-lt"/>
            </a:endParaRPr>
          </a:p>
        </p:txBody>
      </p:sp>
      <p:sp>
        <p:nvSpPr>
          <p:cNvPr id="26" name="Text 24"/>
          <p:cNvSpPr/>
          <p:nvPr/>
        </p:nvSpPr>
        <p:spPr>
          <a:xfrm>
            <a:off x="1716024" y="1739417"/>
            <a:ext cx="2144268" cy="270798"/>
          </a:xfrm>
          <a:prstGeom prst="rect">
            <a:avLst/>
          </a:prstGeom>
          <a:noFill/>
          <a:ln/>
        </p:spPr>
        <p:txBody>
          <a:bodyPr wrap="square" lIns="12700" tIns="12700" rIns="12700" bIns="12700" rtlCol="0" anchor="ctr"/>
          <a:lstStyle/>
          <a:p>
            <a:pPr algn="ctr"/>
            <a:r>
              <a:rPr lang="en-US" sz="700" dirty="0">
                <a:solidFill>
                  <a:srgbClr val="144D30"/>
                </a:solidFill>
                <a:latin typeface="+mj-lt"/>
                <a:ea typeface="Calibri" pitchFamily="34" charset="-122"/>
                <a:cs typeface="Calibri" pitchFamily="34" charset="-120"/>
              </a:rPr>
              <a:t>Remove exact</a:t>
            </a:r>
            <a:endParaRPr lang="en-US" sz="700" dirty="0">
              <a:latin typeface="+mj-lt"/>
            </a:endParaRPr>
          </a:p>
          <a:p>
            <a:pPr algn="ctr"/>
            <a:r>
              <a:rPr lang="en-US" sz="700" dirty="0">
                <a:solidFill>
                  <a:srgbClr val="144D30"/>
                </a:solidFill>
                <a:latin typeface="+mj-lt"/>
                <a:ea typeface="Calibri" pitchFamily="34" charset="-122"/>
                <a:cs typeface="Calibri" pitchFamily="34" charset="-120"/>
              </a:rPr>
              <a:t>duplicate rows</a:t>
            </a:r>
            <a:endParaRPr lang="en-US" sz="700" dirty="0">
              <a:latin typeface="+mj-lt"/>
            </a:endParaRPr>
          </a:p>
          <a:p>
            <a:pPr algn="ctr"/>
            <a:r>
              <a:rPr lang="en-US" sz="700" dirty="0">
                <a:solidFill>
                  <a:srgbClr val="144D30"/>
                </a:solidFill>
                <a:latin typeface="+mj-lt"/>
                <a:ea typeface="Calibri" pitchFamily="34" charset="-122"/>
                <a:cs typeface="Calibri" pitchFamily="34" charset="-120"/>
              </a:rPr>
              <a:t>across all 4 files</a:t>
            </a:r>
            <a:endParaRPr lang="en-US" sz="700" dirty="0">
              <a:latin typeface="+mj-lt"/>
            </a:endParaRPr>
          </a:p>
        </p:txBody>
      </p:sp>
      <p:sp>
        <p:nvSpPr>
          <p:cNvPr id="27" name="Shape 25"/>
          <p:cNvSpPr/>
          <p:nvPr/>
        </p:nvSpPr>
        <p:spPr>
          <a:xfrm>
            <a:off x="3896885" y="1573090"/>
            <a:ext cx="2144268" cy="493776"/>
          </a:xfrm>
          <a:prstGeom prst="roundRect">
            <a:avLst>
              <a:gd name="adj" fmla="val 11111"/>
            </a:avLst>
          </a:prstGeom>
          <a:solidFill>
            <a:srgbClr val="FFFFFF"/>
          </a:solidFill>
          <a:ln w="15240">
            <a:solidFill>
              <a:srgbClr val="2A8A58"/>
            </a:solidFill>
            <a:prstDash val="solid"/>
          </a:ln>
        </p:spPr>
      </p:sp>
      <p:sp>
        <p:nvSpPr>
          <p:cNvPr id="28" name="Text 26"/>
          <p:cNvSpPr/>
          <p:nvPr/>
        </p:nvSpPr>
        <p:spPr>
          <a:xfrm>
            <a:off x="3878580" y="1526930"/>
            <a:ext cx="2144268" cy="217261"/>
          </a:xfrm>
          <a:prstGeom prst="rect">
            <a:avLst/>
          </a:prstGeom>
          <a:noFill/>
          <a:ln/>
        </p:spPr>
        <p:txBody>
          <a:bodyPr wrap="square" lIns="12700" tIns="12700" rIns="12700" bIns="12700" rtlCol="0" anchor="ctr"/>
          <a:lstStyle/>
          <a:p>
            <a:pPr algn="ctr"/>
            <a:r>
              <a:rPr lang="en-US" sz="900" b="1" dirty="0">
                <a:solidFill>
                  <a:srgbClr val="144D30"/>
                </a:solidFill>
                <a:latin typeface="+mj-lt"/>
                <a:ea typeface="Calibri" pitchFamily="34" charset="-122"/>
                <a:cs typeface="Calibri" pitchFamily="34" charset="-120"/>
              </a:rPr>
              <a:t>Pollutant Filter</a:t>
            </a:r>
            <a:endParaRPr lang="en-US" sz="900" dirty="0">
              <a:latin typeface="+mj-lt"/>
            </a:endParaRPr>
          </a:p>
        </p:txBody>
      </p:sp>
      <p:sp>
        <p:nvSpPr>
          <p:cNvPr id="29" name="Text 27"/>
          <p:cNvSpPr/>
          <p:nvPr/>
        </p:nvSpPr>
        <p:spPr>
          <a:xfrm>
            <a:off x="3906012" y="1771194"/>
            <a:ext cx="2144268" cy="266639"/>
          </a:xfrm>
          <a:prstGeom prst="rect">
            <a:avLst/>
          </a:prstGeom>
          <a:noFill/>
          <a:ln/>
        </p:spPr>
        <p:txBody>
          <a:bodyPr wrap="square" lIns="12700" tIns="12700" rIns="12700" bIns="12700" rtlCol="0" anchor="ctr"/>
          <a:lstStyle/>
          <a:p>
            <a:pPr algn="ctr"/>
            <a:r>
              <a:rPr lang="en-US" sz="700" dirty="0">
                <a:solidFill>
                  <a:srgbClr val="144D30"/>
                </a:solidFill>
                <a:latin typeface="+mj-lt"/>
                <a:ea typeface="Calibri" pitchFamily="34" charset="-122"/>
                <a:cs typeface="Calibri" pitchFamily="34" charset="-120"/>
              </a:rPr>
              <a:t>Drop &gt;40% missing</a:t>
            </a:r>
            <a:endParaRPr lang="en-US" sz="700" dirty="0">
              <a:latin typeface="+mj-lt"/>
            </a:endParaRPr>
          </a:p>
          <a:p>
            <a:pPr algn="ctr"/>
            <a:r>
              <a:rPr lang="en-US" sz="700" dirty="0">
                <a:solidFill>
                  <a:srgbClr val="144D30"/>
                </a:solidFill>
                <a:latin typeface="+mj-lt"/>
                <a:ea typeface="Calibri" pitchFamily="34" charset="-122"/>
                <a:cs typeface="Calibri" pitchFamily="34" charset="-120"/>
              </a:rPr>
              <a:t>Corr &gt; 0.85 removed</a:t>
            </a:r>
            <a:endParaRPr lang="en-US" sz="700" dirty="0">
              <a:latin typeface="+mj-lt"/>
            </a:endParaRPr>
          </a:p>
          <a:p>
            <a:pPr algn="ctr"/>
            <a:r>
              <a:rPr lang="en-US" sz="700" dirty="0">
                <a:solidFill>
                  <a:srgbClr val="144D30"/>
                </a:solidFill>
                <a:latin typeface="+mj-lt"/>
                <a:ea typeface="Calibri" pitchFamily="34" charset="-122"/>
                <a:cs typeface="Calibri" pitchFamily="34" charset="-120"/>
              </a:rPr>
              <a:t>VIF &gt; 10 removed</a:t>
            </a:r>
            <a:endParaRPr lang="en-US" sz="700" dirty="0">
              <a:latin typeface="+mj-lt"/>
            </a:endParaRPr>
          </a:p>
        </p:txBody>
      </p:sp>
      <p:sp>
        <p:nvSpPr>
          <p:cNvPr id="30" name="Shape 28"/>
          <p:cNvSpPr/>
          <p:nvPr/>
        </p:nvSpPr>
        <p:spPr>
          <a:xfrm>
            <a:off x="6096000" y="1573090"/>
            <a:ext cx="2144268" cy="493776"/>
          </a:xfrm>
          <a:prstGeom prst="roundRect">
            <a:avLst>
              <a:gd name="adj" fmla="val 11111"/>
            </a:avLst>
          </a:prstGeom>
          <a:solidFill>
            <a:srgbClr val="FFFFFF"/>
          </a:solidFill>
          <a:ln w="15240">
            <a:solidFill>
              <a:srgbClr val="2A8A58"/>
            </a:solidFill>
            <a:prstDash val="solid"/>
          </a:ln>
        </p:spPr>
      </p:sp>
      <p:sp>
        <p:nvSpPr>
          <p:cNvPr id="31" name="Text 29"/>
          <p:cNvSpPr/>
          <p:nvPr/>
        </p:nvSpPr>
        <p:spPr>
          <a:xfrm>
            <a:off x="6077729" y="1536605"/>
            <a:ext cx="2144268" cy="217261"/>
          </a:xfrm>
          <a:prstGeom prst="rect">
            <a:avLst/>
          </a:prstGeom>
          <a:noFill/>
          <a:ln/>
        </p:spPr>
        <p:txBody>
          <a:bodyPr wrap="square" lIns="12700" tIns="12700" rIns="12700" bIns="12700" rtlCol="0" anchor="ctr"/>
          <a:lstStyle/>
          <a:p>
            <a:pPr algn="ctr"/>
            <a:r>
              <a:rPr lang="en-US" sz="900" b="1" dirty="0">
                <a:solidFill>
                  <a:srgbClr val="144D30"/>
                </a:solidFill>
                <a:latin typeface="+mj-lt"/>
                <a:ea typeface="Calibri" pitchFamily="34" charset="-122"/>
                <a:cs typeface="Calibri" pitchFamily="34" charset="-120"/>
              </a:rPr>
              <a:t>Final 7 Pollutants</a:t>
            </a:r>
            <a:endParaRPr lang="en-US" sz="900" dirty="0">
              <a:latin typeface="+mj-lt"/>
            </a:endParaRPr>
          </a:p>
        </p:txBody>
      </p:sp>
      <p:sp>
        <p:nvSpPr>
          <p:cNvPr id="32" name="Text 30"/>
          <p:cNvSpPr/>
          <p:nvPr/>
        </p:nvSpPr>
        <p:spPr>
          <a:xfrm>
            <a:off x="6096000" y="1753866"/>
            <a:ext cx="2144268" cy="266639"/>
          </a:xfrm>
          <a:prstGeom prst="rect">
            <a:avLst/>
          </a:prstGeom>
          <a:noFill/>
          <a:ln/>
        </p:spPr>
        <p:txBody>
          <a:bodyPr wrap="square" lIns="12700" tIns="12700" rIns="12700" bIns="12700" rtlCol="0" anchor="ctr"/>
          <a:lstStyle/>
          <a:p>
            <a:pPr algn="ctr"/>
            <a:r>
              <a:rPr lang="en-US" sz="700" dirty="0">
                <a:solidFill>
                  <a:srgbClr val="144D30"/>
                </a:solidFill>
                <a:latin typeface="+mj-lt"/>
                <a:ea typeface="Calibri" pitchFamily="34" charset="-122"/>
                <a:cs typeface="Calibri" pitchFamily="34" charset="-120"/>
              </a:rPr>
              <a:t>PM2.5 · NO2 · NH3</a:t>
            </a:r>
            <a:endParaRPr lang="en-US" sz="700" dirty="0">
              <a:latin typeface="+mj-lt"/>
            </a:endParaRPr>
          </a:p>
          <a:p>
            <a:pPr algn="ctr"/>
            <a:r>
              <a:rPr lang="en-US" sz="700" dirty="0">
                <a:solidFill>
                  <a:srgbClr val="144D30"/>
                </a:solidFill>
                <a:latin typeface="+mj-lt"/>
                <a:ea typeface="Calibri" pitchFamily="34" charset="-122"/>
                <a:cs typeface="Calibri" pitchFamily="34" charset="-120"/>
              </a:rPr>
              <a:t>CO · SO2 · O3</a:t>
            </a:r>
            <a:endParaRPr lang="en-US" sz="700" dirty="0">
              <a:latin typeface="+mj-lt"/>
            </a:endParaRPr>
          </a:p>
          <a:p>
            <a:pPr algn="ctr"/>
            <a:r>
              <a:rPr lang="en-US" sz="700" dirty="0">
                <a:solidFill>
                  <a:srgbClr val="144D30"/>
                </a:solidFill>
                <a:latin typeface="+mj-lt"/>
                <a:ea typeface="Calibri" pitchFamily="34" charset="-122"/>
                <a:cs typeface="Calibri" pitchFamily="34" charset="-120"/>
              </a:rPr>
              <a:t>Benzene retained</a:t>
            </a:r>
            <a:endParaRPr lang="en-US" sz="700" dirty="0">
              <a:latin typeface="+mj-lt"/>
            </a:endParaRPr>
          </a:p>
        </p:txBody>
      </p:sp>
      <p:sp>
        <p:nvSpPr>
          <p:cNvPr id="33" name="Shape 31"/>
          <p:cNvSpPr/>
          <p:nvPr/>
        </p:nvSpPr>
        <p:spPr>
          <a:xfrm>
            <a:off x="8304293" y="1583278"/>
            <a:ext cx="2144268" cy="493776"/>
          </a:xfrm>
          <a:prstGeom prst="roundRect">
            <a:avLst>
              <a:gd name="adj" fmla="val 11111"/>
            </a:avLst>
          </a:prstGeom>
          <a:solidFill>
            <a:srgbClr val="FFFFFF"/>
          </a:solidFill>
          <a:ln w="15240">
            <a:solidFill>
              <a:srgbClr val="2A8A58"/>
            </a:solidFill>
            <a:prstDash val="solid"/>
          </a:ln>
        </p:spPr>
      </p:sp>
      <p:sp>
        <p:nvSpPr>
          <p:cNvPr id="34" name="Text 32"/>
          <p:cNvSpPr/>
          <p:nvPr/>
        </p:nvSpPr>
        <p:spPr>
          <a:xfrm>
            <a:off x="8313420" y="1573091"/>
            <a:ext cx="2144268" cy="217261"/>
          </a:xfrm>
          <a:prstGeom prst="rect">
            <a:avLst/>
          </a:prstGeom>
          <a:noFill/>
          <a:ln/>
        </p:spPr>
        <p:txBody>
          <a:bodyPr wrap="square" lIns="12700" tIns="12700" rIns="12700" bIns="12700" rtlCol="0" anchor="ctr"/>
          <a:lstStyle/>
          <a:p>
            <a:pPr algn="ctr"/>
            <a:r>
              <a:rPr lang="en-US" sz="900" b="1" dirty="0">
                <a:solidFill>
                  <a:srgbClr val="144D30"/>
                </a:solidFill>
                <a:latin typeface="+mj-lt"/>
                <a:ea typeface="Calibri" pitchFamily="34" charset="-122"/>
                <a:cs typeface="Calibri" pitchFamily="34" charset="-120"/>
              </a:rPr>
              <a:t>Imputation &amp; Merge</a:t>
            </a:r>
            <a:endParaRPr lang="en-US" sz="900" dirty="0">
              <a:latin typeface="+mj-lt"/>
            </a:endParaRPr>
          </a:p>
        </p:txBody>
      </p:sp>
      <p:sp>
        <p:nvSpPr>
          <p:cNvPr id="35" name="Text 33"/>
          <p:cNvSpPr/>
          <p:nvPr/>
        </p:nvSpPr>
        <p:spPr>
          <a:xfrm>
            <a:off x="8322564" y="1760105"/>
            <a:ext cx="2144268" cy="266639"/>
          </a:xfrm>
          <a:prstGeom prst="rect">
            <a:avLst/>
          </a:prstGeom>
          <a:noFill/>
          <a:ln/>
        </p:spPr>
        <p:txBody>
          <a:bodyPr wrap="square" lIns="12700" tIns="12700" rIns="12700" bIns="12700" rtlCol="0" anchor="ctr"/>
          <a:lstStyle/>
          <a:p>
            <a:pPr algn="ctr"/>
            <a:r>
              <a:rPr lang="en-US" sz="700" dirty="0">
                <a:solidFill>
                  <a:srgbClr val="144D30"/>
                </a:solidFill>
                <a:latin typeface="+mj-lt"/>
                <a:ea typeface="Calibri" pitchFamily="34" charset="-122"/>
                <a:cs typeface="Calibri" pitchFamily="34" charset="-120"/>
              </a:rPr>
              <a:t>Median fill · zero nulls</a:t>
            </a:r>
            <a:endParaRPr lang="en-US" sz="700" dirty="0">
              <a:latin typeface="+mj-lt"/>
            </a:endParaRPr>
          </a:p>
          <a:p>
            <a:pPr algn="ctr"/>
            <a:r>
              <a:rPr lang="en-US" sz="700" dirty="0">
                <a:solidFill>
                  <a:srgbClr val="144D30"/>
                </a:solidFill>
                <a:latin typeface="+mj-lt"/>
                <a:ea typeface="Calibri" pitchFamily="34" charset="-122"/>
                <a:cs typeface="Calibri" pitchFamily="34" charset="-120"/>
              </a:rPr>
              <a:t>Merge on [City, Date]</a:t>
            </a:r>
            <a:endParaRPr lang="en-US" sz="700" dirty="0">
              <a:latin typeface="+mj-lt"/>
            </a:endParaRPr>
          </a:p>
          <a:p>
            <a:pPr algn="ctr"/>
            <a:r>
              <a:rPr lang="en-US" sz="700" dirty="0">
                <a:solidFill>
                  <a:srgbClr val="144D30"/>
                </a:solidFill>
                <a:latin typeface="+mj-lt"/>
                <a:ea typeface="Calibri" pitchFamily="34" charset="-122"/>
                <a:cs typeface="Calibri" pitchFamily="34" charset="-120"/>
              </a:rPr>
              <a:t>Target: Health_Risk</a:t>
            </a:r>
            <a:endParaRPr lang="en-US" sz="700" dirty="0">
              <a:latin typeface="+mj-lt"/>
            </a:endParaRPr>
          </a:p>
        </p:txBody>
      </p:sp>
      <p:sp>
        <p:nvSpPr>
          <p:cNvPr id="37" name="Shape 35"/>
          <p:cNvSpPr/>
          <p:nvPr/>
        </p:nvSpPr>
        <p:spPr>
          <a:xfrm>
            <a:off x="1686530" y="2378397"/>
            <a:ext cx="8814816" cy="713232"/>
          </a:xfrm>
          <a:prstGeom prst="roundRect">
            <a:avLst>
              <a:gd name="adj" fmla="val 12821"/>
            </a:avLst>
          </a:prstGeom>
          <a:solidFill>
            <a:srgbClr val="E8D8F3"/>
          </a:solidFill>
          <a:ln w="15240">
            <a:solidFill>
              <a:srgbClr val="7B3FA0"/>
            </a:solidFill>
            <a:prstDash val="solid"/>
          </a:ln>
        </p:spPr>
      </p:sp>
      <p:sp>
        <p:nvSpPr>
          <p:cNvPr id="38" name="Text 36"/>
          <p:cNvSpPr/>
          <p:nvPr/>
        </p:nvSpPr>
        <p:spPr>
          <a:xfrm>
            <a:off x="1725168" y="2349911"/>
            <a:ext cx="8741664" cy="173736"/>
          </a:xfrm>
          <a:prstGeom prst="rect">
            <a:avLst/>
          </a:prstGeom>
          <a:noFill/>
          <a:ln/>
        </p:spPr>
        <p:txBody>
          <a:bodyPr wrap="square" lIns="12700" tIns="12700" rIns="12700" bIns="12700" rtlCol="0" anchor="ctr"/>
          <a:lstStyle/>
          <a:p>
            <a:r>
              <a:rPr lang="en-US" sz="1000" b="1" dirty="0">
                <a:solidFill>
                  <a:srgbClr val="4A1870"/>
                </a:solidFill>
                <a:latin typeface="+mj-lt"/>
                <a:ea typeface="Calibri" pitchFamily="34" charset="-122"/>
                <a:cs typeface="Calibri" pitchFamily="34" charset="-120"/>
              </a:rPr>
              <a:t>Phase 3 — Exploratory Data Analysis  (67.6% High Risk · class imbalance · city-level variation)</a:t>
            </a:r>
            <a:endParaRPr lang="en-US" sz="1000" dirty="0">
              <a:latin typeface="+mj-lt"/>
            </a:endParaRPr>
          </a:p>
        </p:txBody>
      </p:sp>
      <p:sp>
        <p:nvSpPr>
          <p:cNvPr id="39" name="Shape 37"/>
          <p:cNvSpPr/>
          <p:nvPr/>
        </p:nvSpPr>
        <p:spPr>
          <a:xfrm>
            <a:off x="1725168" y="2550755"/>
            <a:ext cx="2144268" cy="493776"/>
          </a:xfrm>
          <a:prstGeom prst="roundRect">
            <a:avLst>
              <a:gd name="adj" fmla="val 11111"/>
            </a:avLst>
          </a:prstGeom>
          <a:solidFill>
            <a:srgbClr val="FFFFFF"/>
          </a:solidFill>
          <a:ln w="15240">
            <a:solidFill>
              <a:srgbClr val="7B3FA0"/>
            </a:solidFill>
            <a:prstDash val="solid"/>
          </a:ln>
        </p:spPr>
      </p:sp>
      <p:sp>
        <p:nvSpPr>
          <p:cNvPr id="40" name="Text 38"/>
          <p:cNvSpPr/>
          <p:nvPr/>
        </p:nvSpPr>
        <p:spPr>
          <a:xfrm>
            <a:off x="1797374" y="2507008"/>
            <a:ext cx="2144268" cy="217261"/>
          </a:xfrm>
          <a:prstGeom prst="rect">
            <a:avLst/>
          </a:prstGeom>
          <a:noFill/>
          <a:ln/>
        </p:spPr>
        <p:txBody>
          <a:bodyPr wrap="square" lIns="12700" tIns="12700" rIns="12700" bIns="12700" rtlCol="0" anchor="ctr"/>
          <a:lstStyle/>
          <a:p>
            <a:pPr algn="ctr"/>
            <a:r>
              <a:rPr lang="en-US" sz="900" b="1" dirty="0">
                <a:solidFill>
                  <a:srgbClr val="4A1870"/>
                </a:solidFill>
                <a:latin typeface="+mj-lt"/>
                <a:ea typeface="Calibri" pitchFamily="34" charset="-122"/>
                <a:cs typeface="Calibri" pitchFamily="34" charset="-120"/>
              </a:rPr>
              <a:t>Distributions</a:t>
            </a:r>
            <a:endParaRPr lang="en-US" sz="900" dirty="0">
              <a:latin typeface="+mj-lt"/>
            </a:endParaRPr>
          </a:p>
        </p:txBody>
      </p:sp>
      <p:sp>
        <p:nvSpPr>
          <p:cNvPr id="41" name="Text 39"/>
          <p:cNvSpPr/>
          <p:nvPr/>
        </p:nvSpPr>
        <p:spPr>
          <a:xfrm>
            <a:off x="1650022" y="2706208"/>
            <a:ext cx="2144268" cy="266639"/>
          </a:xfrm>
          <a:prstGeom prst="rect">
            <a:avLst/>
          </a:prstGeom>
          <a:noFill/>
          <a:ln/>
        </p:spPr>
        <p:txBody>
          <a:bodyPr wrap="square" lIns="12700" tIns="12700" rIns="12700" bIns="12700" rtlCol="0" anchor="ctr"/>
          <a:lstStyle/>
          <a:p>
            <a:pPr algn="ctr"/>
            <a:r>
              <a:rPr lang="en-US" sz="700" dirty="0">
                <a:solidFill>
                  <a:srgbClr val="4A1870"/>
                </a:solidFill>
                <a:latin typeface="+mj-lt"/>
                <a:ea typeface="Calibri" pitchFamily="34" charset="-122"/>
                <a:cs typeface="Calibri" pitchFamily="34" charset="-120"/>
              </a:rPr>
              <a:t>Histogram + KDE</a:t>
            </a:r>
            <a:endParaRPr lang="en-US" sz="700" dirty="0">
              <a:latin typeface="+mj-lt"/>
            </a:endParaRPr>
          </a:p>
          <a:p>
            <a:pPr algn="ctr"/>
            <a:r>
              <a:rPr lang="en-US" sz="700" dirty="0">
                <a:solidFill>
                  <a:srgbClr val="4A1870"/>
                </a:solidFill>
                <a:latin typeface="+mj-lt"/>
                <a:ea typeface="Calibri" pitchFamily="34" charset="-122"/>
                <a:cs typeface="Calibri" pitchFamily="34" charset="-120"/>
              </a:rPr>
              <a:t>All 7 pollutants</a:t>
            </a:r>
            <a:endParaRPr lang="en-US" sz="700" dirty="0">
              <a:latin typeface="+mj-lt"/>
            </a:endParaRPr>
          </a:p>
          <a:p>
            <a:pPr algn="ctr"/>
            <a:r>
              <a:rPr lang="en-US" sz="700" dirty="0">
                <a:solidFill>
                  <a:srgbClr val="4A1870"/>
                </a:solidFill>
                <a:latin typeface="+mj-lt"/>
                <a:ea typeface="Calibri" pitchFamily="34" charset="-122"/>
                <a:cs typeface="Calibri" pitchFamily="34" charset="-120"/>
              </a:rPr>
              <a:t>Right-skewed (non-normal)</a:t>
            </a:r>
            <a:endParaRPr lang="en-US" sz="700" dirty="0">
              <a:latin typeface="+mj-lt"/>
            </a:endParaRPr>
          </a:p>
        </p:txBody>
      </p:sp>
      <p:sp>
        <p:nvSpPr>
          <p:cNvPr id="42" name="Shape 40"/>
          <p:cNvSpPr/>
          <p:nvPr/>
        </p:nvSpPr>
        <p:spPr>
          <a:xfrm>
            <a:off x="3906012" y="2570717"/>
            <a:ext cx="2144268" cy="493776"/>
          </a:xfrm>
          <a:prstGeom prst="roundRect">
            <a:avLst>
              <a:gd name="adj" fmla="val 11111"/>
            </a:avLst>
          </a:prstGeom>
          <a:solidFill>
            <a:srgbClr val="FFFFFF"/>
          </a:solidFill>
          <a:ln w="15240">
            <a:solidFill>
              <a:srgbClr val="7B3FA0"/>
            </a:solidFill>
            <a:prstDash val="solid"/>
          </a:ln>
        </p:spPr>
      </p:sp>
      <p:sp>
        <p:nvSpPr>
          <p:cNvPr id="43" name="Text 41"/>
          <p:cNvSpPr/>
          <p:nvPr/>
        </p:nvSpPr>
        <p:spPr>
          <a:xfrm>
            <a:off x="3805720" y="2578117"/>
            <a:ext cx="2144268" cy="217261"/>
          </a:xfrm>
          <a:prstGeom prst="rect">
            <a:avLst/>
          </a:prstGeom>
          <a:noFill/>
          <a:ln/>
        </p:spPr>
        <p:txBody>
          <a:bodyPr wrap="square" lIns="12700" tIns="12700" rIns="12700" bIns="12700" rtlCol="0" anchor="ctr"/>
          <a:lstStyle/>
          <a:p>
            <a:pPr algn="ctr"/>
            <a:r>
              <a:rPr lang="en-US" sz="900" b="1" dirty="0">
                <a:solidFill>
                  <a:srgbClr val="4A1870"/>
                </a:solidFill>
                <a:latin typeface="+mj-lt"/>
                <a:ea typeface="Calibri" pitchFamily="34" charset="-122"/>
                <a:cs typeface="Calibri" pitchFamily="34" charset="-120"/>
              </a:rPr>
              <a:t>Risk Group Compare</a:t>
            </a:r>
            <a:endParaRPr lang="en-US" sz="900" dirty="0">
              <a:latin typeface="+mj-lt"/>
            </a:endParaRPr>
          </a:p>
        </p:txBody>
      </p:sp>
      <p:sp>
        <p:nvSpPr>
          <p:cNvPr id="44" name="Text 42"/>
          <p:cNvSpPr/>
          <p:nvPr/>
        </p:nvSpPr>
        <p:spPr>
          <a:xfrm>
            <a:off x="3869436" y="2776594"/>
            <a:ext cx="2144268" cy="266639"/>
          </a:xfrm>
          <a:prstGeom prst="rect">
            <a:avLst/>
          </a:prstGeom>
          <a:noFill/>
          <a:ln/>
        </p:spPr>
        <p:txBody>
          <a:bodyPr wrap="square" lIns="12700" tIns="12700" rIns="12700" bIns="12700" rtlCol="0" anchor="ctr"/>
          <a:lstStyle/>
          <a:p>
            <a:pPr algn="ctr"/>
            <a:r>
              <a:rPr lang="en-US" sz="700" dirty="0">
                <a:solidFill>
                  <a:srgbClr val="4A1870"/>
                </a:solidFill>
                <a:latin typeface="+mj-lt"/>
                <a:ea typeface="Calibri" pitchFamily="34" charset="-122"/>
                <a:cs typeface="Calibri" pitchFamily="34" charset="-120"/>
              </a:rPr>
              <a:t>Low vs High Risk</a:t>
            </a:r>
            <a:endParaRPr lang="en-US" sz="700" dirty="0">
              <a:latin typeface="+mj-lt"/>
            </a:endParaRPr>
          </a:p>
          <a:p>
            <a:pPr algn="ctr"/>
            <a:r>
              <a:rPr lang="en-US" sz="700" dirty="0">
                <a:solidFill>
                  <a:srgbClr val="4A1870"/>
                </a:solidFill>
                <a:latin typeface="+mj-lt"/>
                <a:ea typeface="Calibri" pitchFamily="34" charset="-122"/>
                <a:cs typeface="Calibri" pitchFamily="34" charset="-120"/>
              </a:rPr>
              <a:t>PM2.5: 29 → 81 µg/m³</a:t>
            </a:r>
            <a:endParaRPr lang="en-US" sz="700" dirty="0">
              <a:latin typeface="+mj-lt"/>
            </a:endParaRPr>
          </a:p>
          <a:p>
            <a:pPr algn="ctr"/>
            <a:r>
              <a:rPr lang="en-US" sz="700" dirty="0">
                <a:solidFill>
                  <a:srgbClr val="4A1870"/>
                </a:solidFill>
                <a:latin typeface="+mj-lt"/>
                <a:ea typeface="Calibri" pitchFamily="34" charset="-122"/>
                <a:cs typeface="Calibri" pitchFamily="34" charset="-120"/>
              </a:rPr>
              <a:t>CO: 0.75 → 2.8</a:t>
            </a:r>
            <a:endParaRPr lang="en-US" sz="700" dirty="0">
              <a:latin typeface="+mj-lt"/>
            </a:endParaRPr>
          </a:p>
        </p:txBody>
      </p:sp>
      <p:sp>
        <p:nvSpPr>
          <p:cNvPr id="45" name="Shape 43"/>
          <p:cNvSpPr/>
          <p:nvPr/>
        </p:nvSpPr>
        <p:spPr>
          <a:xfrm>
            <a:off x="6105879" y="2571217"/>
            <a:ext cx="2144268" cy="493776"/>
          </a:xfrm>
          <a:prstGeom prst="roundRect">
            <a:avLst>
              <a:gd name="adj" fmla="val 11111"/>
            </a:avLst>
          </a:prstGeom>
          <a:solidFill>
            <a:srgbClr val="FFFFFF"/>
          </a:solidFill>
          <a:ln w="15240">
            <a:solidFill>
              <a:srgbClr val="7B3FA0"/>
            </a:solidFill>
            <a:prstDash val="solid"/>
          </a:ln>
        </p:spPr>
      </p:sp>
      <p:sp>
        <p:nvSpPr>
          <p:cNvPr id="46" name="Text 44"/>
          <p:cNvSpPr/>
          <p:nvPr/>
        </p:nvSpPr>
        <p:spPr>
          <a:xfrm>
            <a:off x="6079254" y="2531717"/>
            <a:ext cx="2144268" cy="217261"/>
          </a:xfrm>
          <a:prstGeom prst="rect">
            <a:avLst/>
          </a:prstGeom>
          <a:noFill/>
          <a:ln/>
        </p:spPr>
        <p:txBody>
          <a:bodyPr wrap="square" lIns="12700" tIns="12700" rIns="12700" bIns="12700" rtlCol="0" anchor="ctr"/>
          <a:lstStyle/>
          <a:p>
            <a:pPr algn="ctr"/>
            <a:r>
              <a:rPr lang="en-US" sz="900" b="1" dirty="0">
                <a:solidFill>
                  <a:srgbClr val="4A1870"/>
                </a:solidFill>
                <a:latin typeface="+mj-lt"/>
                <a:ea typeface="Calibri" pitchFamily="34" charset="-122"/>
                <a:cs typeface="Calibri" pitchFamily="34" charset="-120"/>
              </a:rPr>
              <a:t>City Analysis</a:t>
            </a:r>
            <a:endParaRPr lang="en-US" sz="900" dirty="0">
              <a:latin typeface="+mj-lt"/>
            </a:endParaRPr>
          </a:p>
        </p:txBody>
      </p:sp>
      <p:sp>
        <p:nvSpPr>
          <p:cNvPr id="47" name="Text 45"/>
          <p:cNvSpPr/>
          <p:nvPr/>
        </p:nvSpPr>
        <p:spPr>
          <a:xfrm>
            <a:off x="6155364" y="2751438"/>
            <a:ext cx="2144268" cy="266639"/>
          </a:xfrm>
          <a:prstGeom prst="rect">
            <a:avLst/>
          </a:prstGeom>
          <a:noFill/>
          <a:ln/>
        </p:spPr>
        <p:txBody>
          <a:bodyPr wrap="square" lIns="12700" tIns="12700" rIns="12700" bIns="12700" rtlCol="0" anchor="ctr"/>
          <a:lstStyle/>
          <a:p>
            <a:pPr algn="ctr"/>
            <a:r>
              <a:rPr lang="en-US" sz="700" dirty="0">
                <a:solidFill>
                  <a:srgbClr val="4A1870"/>
                </a:solidFill>
                <a:latin typeface="+mj-lt"/>
                <a:ea typeface="Calibri" pitchFamily="34" charset="-122"/>
                <a:cs typeface="Calibri" pitchFamily="34" charset="-120"/>
              </a:rPr>
              <a:t>High-risk days ranked</a:t>
            </a:r>
            <a:endParaRPr lang="en-US" sz="700" dirty="0">
              <a:latin typeface="+mj-lt"/>
            </a:endParaRPr>
          </a:p>
          <a:p>
            <a:pPr algn="ctr"/>
            <a:r>
              <a:rPr lang="en-US" sz="700" dirty="0">
                <a:solidFill>
                  <a:srgbClr val="4A1870"/>
                </a:solidFill>
                <a:latin typeface="+mj-lt"/>
                <a:ea typeface="Calibri" pitchFamily="34" charset="-122"/>
                <a:cs typeface="Calibri" pitchFamily="34" charset="-120"/>
              </a:rPr>
              <a:t>Ahmedabad #1</a:t>
            </a:r>
            <a:endParaRPr lang="en-US" sz="700" dirty="0">
              <a:latin typeface="+mj-lt"/>
            </a:endParaRPr>
          </a:p>
          <a:p>
            <a:pPr algn="ctr"/>
            <a:r>
              <a:rPr lang="en-US" sz="700" dirty="0">
                <a:solidFill>
                  <a:srgbClr val="4A1870"/>
                </a:solidFill>
                <a:latin typeface="+mj-lt"/>
                <a:ea typeface="Calibri" pitchFamily="34" charset="-122"/>
                <a:cs typeface="Calibri" pitchFamily="34" charset="-120"/>
              </a:rPr>
              <a:t>Delhi · Patna follow</a:t>
            </a:r>
            <a:endParaRPr lang="en-US" sz="700" dirty="0">
              <a:latin typeface="+mj-lt"/>
            </a:endParaRPr>
          </a:p>
        </p:txBody>
      </p:sp>
      <p:sp>
        <p:nvSpPr>
          <p:cNvPr id="48" name="Shape 46"/>
          <p:cNvSpPr/>
          <p:nvPr/>
        </p:nvSpPr>
        <p:spPr>
          <a:xfrm>
            <a:off x="8273007" y="2560147"/>
            <a:ext cx="2144268" cy="493776"/>
          </a:xfrm>
          <a:prstGeom prst="roundRect">
            <a:avLst>
              <a:gd name="adj" fmla="val 11111"/>
            </a:avLst>
          </a:prstGeom>
          <a:solidFill>
            <a:srgbClr val="FFFFFF"/>
          </a:solidFill>
          <a:ln w="15240">
            <a:solidFill>
              <a:srgbClr val="7B3FA0"/>
            </a:solidFill>
            <a:prstDash val="solid"/>
          </a:ln>
        </p:spPr>
      </p:sp>
      <p:sp>
        <p:nvSpPr>
          <p:cNvPr id="49" name="Text 47"/>
          <p:cNvSpPr/>
          <p:nvPr/>
        </p:nvSpPr>
        <p:spPr>
          <a:xfrm>
            <a:off x="8210210" y="2560148"/>
            <a:ext cx="2144268" cy="217261"/>
          </a:xfrm>
          <a:prstGeom prst="rect">
            <a:avLst/>
          </a:prstGeom>
          <a:noFill/>
          <a:ln/>
        </p:spPr>
        <p:txBody>
          <a:bodyPr wrap="square" lIns="12700" tIns="12700" rIns="12700" bIns="12700" rtlCol="0" anchor="ctr"/>
          <a:lstStyle/>
          <a:p>
            <a:pPr algn="ctr"/>
            <a:r>
              <a:rPr lang="en-US" sz="900" b="1" dirty="0">
                <a:solidFill>
                  <a:srgbClr val="4A1870"/>
                </a:solidFill>
                <a:latin typeface="+mj-lt"/>
                <a:ea typeface="Calibri" pitchFamily="34" charset="-122"/>
                <a:cs typeface="Calibri" pitchFamily="34" charset="-120"/>
              </a:rPr>
              <a:t>Station Agreement</a:t>
            </a:r>
            <a:endParaRPr lang="en-US" sz="900" dirty="0">
              <a:latin typeface="+mj-lt"/>
            </a:endParaRPr>
          </a:p>
        </p:txBody>
      </p:sp>
      <p:sp>
        <p:nvSpPr>
          <p:cNvPr id="50" name="Text 48"/>
          <p:cNvSpPr/>
          <p:nvPr/>
        </p:nvSpPr>
        <p:spPr>
          <a:xfrm>
            <a:off x="8293894" y="2758283"/>
            <a:ext cx="2144268" cy="266639"/>
          </a:xfrm>
          <a:prstGeom prst="rect">
            <a:avLst/>
          </a:prstGeom>
          <a:noFill/>
          <a:ln/>
        </p:spPr>
        <p:txBody>
          <a:bodyPr wrap="square" lIns="12700" tIns="12700" rIns="12700" bIns="12700" rtlCol="0" anchor="ctr"/>
          <a:lstStyle/>
          <a:p>
            <a:pPr algn="ctr"/>
            <a:r>
              <a:rPr lang="en-US" sz="700" dirty="0">
                <a:solidFill>
                  <a:srgbClr val="4A1870"/>
                </a:solidFill>
                <a:latin typeface="+mj-lt"/>
                <a:ea typeface="Calibri" pitchFamily="34" charset="-122"/>
                <a:cs typeface="Calibri" pitchFamily="34" charset="-120"/>
              </a:rPr>
              <a:t>City vs station corr</a:t>
            </a:r>
            <a:endParaRPr lang="en-US" sz="700" dirty="0">
              <a:latin typeface="+mj-lt"/>
            </a:endParaRPr>
          </a:p>
          <a:p>
            <a:pPr algn="ctr"/>
            <a:r>
              <a:rPr lang="en-US" sz="700" dirty="0">
                <a:solidFill>
                  <a:srgbClr val="4A1870"/>
                </a:solidFill>
                <a:latin typeface="+mj-lt"/>
                <a:ea typeface="Calibri" pitchFamily="34" charset="-122"/>
                <a:cs typeface="Calibri" pitchFamily="34" charset="-120"/>
              </a:rPr>
              <a:t>CO: 0.99 near-perfect</a:t>
            </a:r>
            <a:endParaRPr lang="en-US" sz="700" dirty="0">
              <a:latin typeface="+mj-lt"/>
            </a:endParaRPr>
          </a:p>
          <a:p>
            <a:pPr algn="ctr"/>
            <a:r>
              <a:rPr lang="en-US" sz="700" dirty="0">
                <a:solidFill>
                  <a:srgbClr val="4A1870"/>
                </a:solidFill>
                <a:latin typeface="+mj-lt"/>
                <a:ea typeface="Calibri" pitchFamily="34" charset="-122"/>
                <a:cs typeface="Calibri" pitchFamily="34" charset="-120"/>
              </a:rPr>
              <a:t>NH3: 0.85 (localized)</a:t>
            </a:r>
            <a:endParaRPr lang="en-US" sz="700" dirty="0">
              <a:latin typeface="+mj-lt"/>
            </a:endParaRPr>
          </a:p>
        </p:txBody>
      </p:sp>
      <p:sp>
        <p:nvSpPr>
          <p:cNvPr id="52" name="Shape 50"/>
          <p:cNvSpPr/>
          <p:nvPr/>
        </p:nvSpPr>
        <p:spPr>
          <a:xfrm>
            <a:off x="1633745" y="3285333"/>
            <a:ext cx="8814816" cy="749808"/>
          </a:xfrm>
          <a:prstGeom prst="roundRect">
            <a:avLst>
              <a:gd name="adj" fmla="val 12195"/>
            </a:avLst>
          </a:prstGeom>
          <a:solidFill>
            <a:srgbClr val="FEF3CD"/>
          </a:solidFill>
          <a:ln w="15240">
            <a:solidFill>
              <a:srgbClr val="C9920C"/>
            </a:solidFill>
            <a:prstDash val="solid"/>
          </a:ln>
        </p:spPr>
      </p:sp>
      <p:sp>
        <p:nvSpPr>
          <p:cNvPr id="53" name="Text 51"/>
          <p:cNvSpPr/>
          <p:nvPr/>
        </p:nvSpPr>
        <p:spPr>
          <a:xfrm>
            <a:off x="1725168" y="3320865"/>
            <a:ext cx="8741664" cy="173736"/>
          </a:xfrm>
          <a:prstGeom prst="rect">
            <a:avLst/>
          </a:prstGeom>
          <a:noFill/>
          <a:ln/>
        </p:spPr>
        <p:txBody>
          <a:bodyPr wrap="square" lIns="12700" tIns="12700" rIns="12700" bIns="12700" rtlCol="0" anchor="ctr"/>
          <a:lstStyle/>
          <a:p>
            <a:r>
              <a:rPr lang="en-US" sz="1000" b="1" dirty="0">
                <a:solidFill>
                  <a:srgbClr val="6B4A00"/>
                </a:solidFill>
                <a:latin typeface="+mj-lt"/>
                <a:ea typeface="Calibri" pitchFamily="34" charset="-122"/>
                <a:cs typeface="Calibri" pitchFamily="34" charset="-120"/>
              </a:rPr>
              <a:t>Phase 4 — Statistical Validation  (5 tests · all results significant at p &lt; 0.001)</a:t>
            </a:r>
            <a:endParaRPr lang="en-US" sz="1000" dirty="0">
              <a:latin typeface="+mj-lt"/>
            </a:endParaRPr>
          </a:p>
        </p:txBody>
      </p:sp>
      <p:sp>
        <p:nvSpPr>
          <p:cNvPr id="54" name="Shape 52"/>
          <p:cNvSpPr/>
          <p:nvPr/>
        </p:nvSpPr>
        <p:spPr>
          <a:xfrm>
            <a:off x="1732429" y="3504789"/>
            <a:ext cx="1706270" cy="530352"/>
          </a:xfrm>
          <a:prstGeom prst="roundRect">
            <a:avLst>
              <a:gd name="adj" fmla="val 10345"/>
            </a:avLst>
          </a:prstGeom>
          <a:solidFill>
            <a:srgbClr val="FFFFFF"/>
          </a:solidFill>
          <a:ln w="15240">
            <a:solidFill>
              <a:srgbClr val="C9920C"/>
            </a:solidFill>
            <a:prstDash val="solid"/>
          </a:ln>
        </p:spPr>
      </p:sp>
      <p:sp>
        <p:nvSpPr>
          <p:cNvPr id="55" name="Text 53"/>
          <p:cNvSpPr/>
          <p:nvPr/>
        </p:nvSpPr>
        <p:spPr>
          <a:xfrm>
            <a:off x="1795919" y="3483676"/>
            <a:ext cx="1706270" cy="233355"/>
          </a:xfrm>
          <a:prstGeom prst="rect">
            <a:avLst/>
          </a:prstGeom>
          <a:noFill/>
          <a:ln/>
        </p:spPr>
        <p:txBody>
          <a:bodyPr wrap="square" lIns="12700" tIns="12700" rIns="12700" bIns="12700" rtlCol="0" anchor="ctr"/>
          <a:lstStyle/>
          <a:p>
            <a:pPr algn="ctr"/>
            <a:r>
              <a:rPr lang="en-US" sz="900" b="1" dirty="0">
                <a:solidFill>
                  <a:srgbClr val="6B4A00"/>
                </a:solidFill>
                <a:latin typeface="+mj-lt"/>
                <a:ea typeface="Calibri" pitchFamily="34" charset="-122"/>
                <a:cs typeface="Calibri" pitchFamily="34" charset="-120"/>
              </a:rPr>
              <a:t>Mann-Whitney U</a:t>
            </a:r>
            <a:r>
              <a:rPr lang="en-US" sz="900" dirty="0">
                <a:latin typeface="+mj-lt"/>
              </a:rPr>
              <a:t> </a:t>
            </a:r>
            <a:r>
              <a:rPr lang="en-US" sz="900" b="1" dirty="0">
                <a:solidFill>
                  <a:srgbClr val="6B4A00"/>
                </a:solidFill>
                <a:latin typeface="+mj-lt"/>
                <a:ea typeface="Calibri" pitchFamily="34" charset="-122"/>
                <a:cs typeface="Calibri" pitchFamily="34" charset="-120"/>
              </a:rPr>
              <a:t>(Test 1)</a:t>
            </a:r>
            <a:endParaRPr lang="en-US" sz="900" dirty="0">
              <a:latin typeface="+mj-lt"/>
            </a:endParaRPr>
          </a:p>
        </p:txBody>
      </p:sp>
      <p:sp>
        <p:nvSpPr>
          <p:cNvPr id="56" name="Text 54"/>
          <p:cNvSpPr/>
          <p:nvPr/>
        </p:nvSpPr>
        <p:spPr>
          <a:xfrm>
            <a:off x="1708484" y="3672741"/>
            <a:ext cx="1706270" cy="286390"/>
          </a:xfrm>
          <a:prstGeom prst="rect">
            <a:avLst/>
          </a:prstGeom>
          <a:noFill/>
          <a:ln/>
        </p:spPr>
        <p:txBody>
          <a:bodyPr wrap="square" lIns="12700" tIns="12700" rIns="12700" bIns="12700" rtlCol="0" anchor="ctr"/>
          <a:lstStyle/>
          <a:p>
            <a:pPr algn="ctr"/>
            <a:r>
              <a:rPr lang="en-US" sz="700" dirty="0">
                <a:solidFill>
                  <a:srgbClr val="6B4A00"/>
                </a:solidFill>
                <a:latin typeface="+mj-lt"/>
                <a:ea typeface="Calibri" pitchFamily="34" charset="-122"/>
                <a:cs typeface="Calibri" pitchFamily="34" charset="-120"/>
              </a:rPr>
              <a:t>Low vs High Risk</a:t>
            </a:r>
            <a:endParaRPr lang="en-US" sz="700" dirty="0">
              <a:latin typeface="+mj-lt"/>
            </a:endParaRPr>
          </a:p>
          <a:p>
            <a:pPr algn="ctr"/>
            <a:r>
              <a:rPr lang="en-US" sz="700" dirty="0">
                <a:solidFill>
                  <a:srgbClr val="6B4A00"/>
                </a:solidFill>
                <a:latin typeface="+mj-lt"/>
                <a:ea typeface="Calibri" pitchFamily="34" charset="-122"/>
                <a:cs typeface="Calibri" pitchFamily="34" charset="-120"/>
              </a:rPr>
              <a:t>All 7 pollutants differ</a:t>
            </a:r>
            <a:endParaRPr lang="en-US" sz="700" dirty="0">
              <a:latin typeface="+mj-lt"/>
            </a:endParaRPr>
          </a:p>
          <a:p>
            <a:pPr algn="ctr"/>
            <a:r>
              <a:rPr lang="en-US" sz="700" dirty="0">
                <a:solidFill>
                  <a:srgbClr val="6B4A00"/>
                </a:solidFill>
                <a:latin typeface="+mj-lt"/>
                <a:ea typeface="Calibri" pitchFamily="34" charset="-122"/>
                <a:cs typeface="Calibri" pitchFamily="34" charset="-120"/>
              </a:rPr>
              <a:t>p &lt; 0.001 · PM2.5 largest r</a:t>
            </a:r>
            <a:endParaRPr lang="en-US" sz="700" dirty="0">
              <a:latin typeface="+mj-lt"/>
            </a:endParaRPr>
          </a:p>
        </p:txBody>
      </p:sp>
      <p:sp>
        <p:nvSpPr>
          <p:cNvPr id="57" name="Shape 55"/>
          <p:cNvSpPr/>
          <p:nvPr/>
        </p:nvSpPr>
        <p:spPr>
          <a:xfrm>
            <a:off x="3482449" y="3514166"/>
            <a:ext cx="1706270" cy="530352"/>
          </a:xfrm>
          <a:prstGeom prst="roundRect">
            <a:avLst>
              <a:gd name="adj" fmla="val 10345"/>
            </a:avLst>
          </a:prstGeom>
          <a:solidFill>
            <a:srgbClr val="FFFFFF"/>
          </a:solidFill>
          <a:ln w="15240">
            <a:solidFill>
              <a:srgbClr val="C9920C"/>
            </a:solidFill>
            <a:prstDash val="solid"/>
          </a:ln>
        </p:spPr>
      </p:sp>
      <p:sp>
        <p:nvSpPr>
          <p:cNvPr id="58" name="Text 56"/>
          <p:cNvSpPr/>
          <p:nvPr/>
        </p:nvSpPr>
        <p:spPr>
          <a:xfrm>
            <a:off x="3552499" y="3494602"/>
            <a:ext cx="1706270" cy="233355"/>
          </a:xfrm>
          <a:prstGeom prst="rect">
            <a:avLst/>
          </a:prstGeom>
          <a:noFill/>
          <a:ln/>
        </p:spPr>
        <p:txBody>
          <a:bodyPr wrap="square" lIns="12700" tIns="12700" rIns="12700" bIns="12700" rtlCol="0" anchor="ctr"/>
          <a:lstStyle/>
          <a:p>
            <a:pPr algn="ctr"/>
            <a:r>
              <a:rPr lang="en-US" sz="900" b="1" dirty="0">
                <a:solidFill>
                  <a:srgbClr val="6B4A00"/>
                </a:solidFill>
                <a:latin typeface="+mj-lt"/>
                <a:ea typeface="Calibri" pitchFamily="34" charset="-122"/>
                <a:cs typeface="Calibri" pitchFamily="34" charset="-120"/>
              </a:rPr>
              <a:t>Chi-Square</a:t>
            </a:r>
            <a:r>
              <a:rPr lang="en-US" sz="900" dirty="0">
                <a:latin typeface="+mj-lt"/>
              </a:rPr>
              <a:t> </a:t>
            </a:r>
            <a:r>
              <a:rPr lang="en-US" sz="900" b="1" dirty="0">
                <a:solidFill>
                  <a:srgbClr val="6B4A00"/>
                </a:solidFill>
                <a:latin typeface="+mj-lt"/>
                <a:ea typeface="Calibri" pitchFamily="34" charset="-122"/>
                <a:cs typeface="Calibri" pitchFamily="34" charset="-120"/>
              </a:rPr>
              <a:t>(Test 2)</a:t>
            </a:r>
            <a:endParaRPr lang="en-US" sz="900" dirty="0">
              <a:latin typeface="+mj-lt"/>
            </a:endParaRPr>
          </a:p>
        </p:txBody>
      </p:sp>
      <p:sp>
        <p:nvSpPr>
          <p:cNvPr id="59" name="Text 57"/>
          <p:cNvSpPr/>
          <p:nvPr/>
        </p:nvSpPr>
        <p:spPr>
          <a:xfrm>
            <a:off x="3486337" y="3711332"/>
            <a:ext cx="1706270" cy="286390"/>
          </a:xfrm>
          <a:prstGeom prst="rect">
            <a:avLst/>
          </a:prstGeom>
          <a:noFill/>
          <a:ln/>
        </p:spPr>
        <p:txBody>
          <a:bodyPr wrap="square" lIns="12700" tIns="12700" rIns="12700" bIns="12700" rtlCol="0" anchor="ctr"/>
          <a:lstStyle/>
          <a:p>
            <a:pPr algn="ctr"/>
            <a:r>
              <a:rPr lang="en-US" sz="700" dirty="0">
                <a:solidFill>
                  <a:srgbClr val="6B4A00"/>
                </a:solidFill>
                <a:latin typeface="+mj-lt"/>
                <a:ea typeface="Calibri" pitchFamily="34" charset="-122"/>
                <a:cs typeface="Calibri" pitchFamily="34" charset="-120"/>
              </a:rPr>
              <a:t>City × Health Risk</a:t>
            </a:r>
            <a:endParaRPr lang="en-US" sz="700" dirty="0">
              <a:latin typeface="+mj-lt"/>
            </a:endParaRPr>
          </a:p>
          <a:p>
            <a:pPr algn="ctr"/>
            <a:r>
              <a:rPr lang="en-US" sz="700" dirty="0">
                <a:solidFill>
                  <a:srgbClr val="6B4A00"/>
                </a:solidFill>
                <a:latin typeface="+mj-lt"/>
                <a:ea typeface="Calibri" pitchFamily="34" charset="-122"/>
                <a:cs typeface="Calibri" pitchFamily="34" charset="-120"/>
              </a:rPr>
              <a:t>Geographic dependence</a:t>
            </a:r>
            <a:endParaRPr lang="en-US" sz="700" dirty="0">
              <a:latin typeface="+mj-lt"/>
            </a:endParaRPr>
          </a:p>
          <a:p>
            <a:pPr algn="ctr"/>
            <a:r>
              <a:rPr lang="en-US" sz="700" dirty="0">
                <a:solidFill>
                  <a:srgbClr val="6B4A00"/>
                </a:solidFill>
                <a:latin typeface="+mj-lt"/>
                <a:ea typeface="Calibri" pitchFamily="34" charset="-122"/>
                <a:cs typeface="Calibri" pitchFamily="34" charset="-120"/>
              </a:rPr>
              <a:t>Cramér's V = Medium</a:t>
            </a:r>
            <a:endParaRPr lang="en-US" sz="700" dirty="0">
              <a:latin typeface="+mj-lt"/>
            </a:endParaRPr>
          </a:p>
        </p:txBody>
      </p:sp>
      <p:sp>
        <p:nvSpPr>
          <p:cNvPr id="60" name="Shape 58"/>
          <p:cNvSpPr/>
          <p:nvPr/>
        </p:nvSpPr>
        <p:spPr>
          <a:xfrm>
            <a:off x="5220005" y="3495645"/>
            <a:ext cx="1706270" cy="530352"/>
          </a:xfrm>
          <a:prstGeom prst="roundRect">
            <a:avLst>
              <a:gd name="adj" fmla="val 10345"/>
            </a:avLst>
          </a:prstGeom>
          <a:solidFill>
            <a:srgbClr val="FFFFFF"/>
          </a:solidFill>
          <a:ln w="15240">
            <a:solidFill>
              <a:srgbClr val="C9920C"/>
            </a:solidFill>
            <a:prstDash val="solid"/>
          </a:ln>
        </p:spPr>
      </p:sp>
      <p:sp>
        <p:nvSpPr>
          <p:cNvPr id="61" name="Text 59"/>
          <p:cNvSpPr/>
          <p:nvPr/>
        </p:nvSpPr>
        <p:spPr>
          <a:xfrm>
            <a:off x="5210878" y="3494603"/>
            <a:ext cx="1706270" cy="233355"/>
          </a:xfrm>
          <a:prstGeom prst="rect">
            <a:avLst/>
          </a:prstGeom>
          <a:noFill/>
          <a:ln/>
        </p:spPr>
        <p:txBody>
          <a:bodyPr wrap="square" lIns="12700" tIns="12700" rIns="12700" bIns="12700" rtlCol="0" anchor="ctr"/>
          <a:lstStyle/>
          <a:p>
            <a:pPr algn="ctr"/>
            <a:r>
              <a:rPr lang="en-US" sz="900" b="1" dirty="0">
                <a:solidFill>
                  <a:srgbClr val="6B4A00"/>
                </a:solidFill>
                <a:latin typeface="+mj-lt"/>
                <a:ea typeface="Calibri" pitchFamily="34" charset="-122"/>
                <a:cs typeface="Calibri" pitchFamily="34" charset="-120"/>
              </a:rPr>
              <a:t>Kruskal-Wallis</a:t>
            </a:r>
            <a:r>
              <a:rPr lang="en-US" sz="900" dirty="0">
                <a:latin typeface="+mj-lt"/>
              </a:rPr>
              <a:t> </a:t>
            </a:r>
            <a:r>
              <a:rPr lang="en-US" sz="900" b="1" dirty="0">
                <a:solidFill>
                  <a:srgbClr val="6B4A00"/>
                </a:solidFill>
                <a:latin typeface="+mj-lt"/>
                <a:ea typeface="Calibri" pitchFamily="34" charset="-122"/>
                <a:cs typeface="Calibri" pitchFamily="34" charset="-120"/>
              </a:rPr>
              <a:t>(Test 3)</a:t>
            </a:r>
            <a:endParaRPr lang="en-US" sz="900" dirty="0">
              <a:latin typeface="+mj-lt"/>
            </a:endParaRPr>
          </a:p>
        </p:txBody>
      </p:sp>
      <p:sp>
        <p:nvSpPr>
          <p:cNvPr id="62" name="Text 60"/>
          <p:cNvSpPr/>
          <p:nvPr/>
        </p:nvSpPr>
        <p:spPr>
          <a:xfrm>
            <a:off x="5210878" y="3700106"/>
            <a:ext cx="1706270" cy="286390"/>
          </a:xfrm>
          <a:prstGeom prst="rect">
            <a:avLst/>
          </a:prstGeom>
          <a:noFill/>
          <a:ln/>
        </p:spPr>
        <p:txBody>
          <a:bodyPr wrap="square" lIns="12700" tIns="12700" rIns="12700" bIns="12700" rtlCol="0" anchor="ctr"/>
          <a:lstStyle/>
          <a:p>
            <a:pPr algn="ctr"/>
            <a:r>
              <a:rPr lang="en-US" sz="700" dirty="0">
                <a:solidFill>
                  <a:srgbClr val="6B4A00"/>
                </a:solidFill>
                <a:latin typeface="+mj-lt"/>
                <a:ea typeface="Calibri" pitchFamily="34" charset="-122"/>
                <a:cs typeface="Calibri" pitchFamily="34" charset="-120"/>
              </a:rPr>
              <a:t>PM2.5 across cities</a:t>
            </a:r>
            <a:endParaRPr lang="en-US" sz="700" dirty="0">
              <a:latin typeface="+mj-lt"/>
            </a:endParaRPr>
          </a:p>
          <a:p>
            <a:pPr algn="ctr"/>
            <a:r>
              <a:rPr lang="en-US" sz="700" dirty="0">
                <a:solidFill>
                  <a:srgbClr val="6B4A00"/>
                </a:solidFill>
                <a:latin typeface="+mj-lt"/>
                <a:ea typeface="Calibri" pitchFamily="34" charset="-122"/>
                <a:cs typeface="Calibri" pitchFamily="34" charset="-120"/>
              </a:rPr>
              <a:t>+ Dunn post-hoc</a:t>
            </a:r>
            <a:endParaRPr lang="en-US" sz="700" dirty="0">
              <a:latin typeface="+mj-lt"/>
            </a:endParaRPr>
          </a:p>
          <a:p>
            <a:pPr algn="ctr"/>
            <a:r>
              <a:rPr lang="en-US" sz="700" dirty="0">
                <a:solidFill>
                  <a:srgbClr val="6B4A00"/>
                </a:solidFill>
                <a:latin typeface="+mj-lt"/>
                <a:ea typeface="Calibri" pitchFamily="34" charset="-122"/>
                <a:cs typeface="Calibri" pitchFamily="34" charset="-120"/>
              </a:rPr>
              <a:t>All city pairs differ</a:t>
            </a:r>
            <a:endParaRPr lang="en-US" sz="700" dirty="0">
              <a:latin typeface="+mj-lt"/>
            </a:endParaRPr>
          </a:p>
        </p:txBody>
      </p:sp>
      <p:sp>
        <p:nvSpPr>
          <p:cNvPr id="63" name="Shape 61"/>
          <p:cNvSpPr/>
          <p:nvPr/>
        </p:nvSpPr>
        <p:spPr>
          <a:xfrm>
            <a:off x="6976585" y="3483675"/>
            <a:ext cx="1706270" cy="530352"/>
          </a:xfrm>
          <a:prstGeom prst="roundRect">
            <a:avLst>
              <a:gd name="adj" fmla="val 10345"/>
            </a:avLst>
          </a:prstGeom>
          <a:solidFill>
            <a:srgbClr val="FFFFFF"/>
          </a:solidFill>
          <a:ln w="15240">
            <a:solidFill>
              <a:srgbClr val="C9920C"/>
            </a:solidFill>
            <a:prstDash val="solid"/>
          </a:ln>
        </p:spPr>
      </p:sp>
      <p:sp>
        <p:nvSpPr>
          <p:cNvPr id="64" name="Text 62"/>
          <p:cNvSpPr/>
          <p:nvPr/>
        </p:nvSpPr>
        <p:spPr>
          <a:xfrm>
            <a:off x="7001311" y="3460418"/>
            <a:ext cx="1706270" cy="233355"/>
          </a:xfrm>
          <a:prstGeom prst="rect">
            <a:avLst/>
          </a:prstGeom>
          <a:noFill/>
          <a:ln/>
        </p:spPr>
        <p:txBody>
          <a:bodyPr wrap="square" lIns="12700" tIns="12700" rIns="12700" bIns="12700" rtlCol="0" anchor="ctr"/>
          <a:lstStyle/>
          <a:p>
            <a:pPr algn="ctr"/>
            <a:r>
              <a:rPr lang="en-US" sz="900" b="1" dirty="0">
                <a:solidFill>
                  <a:srgbClr val="6B4A00"/>
                </a:solidFill>
                <a:latin typeface="+mj-lt"/>
                <a:ea typeface="Calibri" pitchFamily="34" charset="-122"/>
                <a:cs typeface="Calibri" pitchFamily="34" charset="-120"/>
              </a:rPr>
              <a:t>ADF Stationarity</a:t>
            </a:r>
            <a:r>
              <a:rPr lang="en-US" sz="900" dirty="0">
                <a:latin typeface="+mj-lt"/>
              </a:rPr>
              <a:t> </a:t>
            </a:r>
            <a:r>
              <a:rPr lang="en-US" sz="900" b="1" dirty="0">
                <a:solidFill>
                  <a:srgbClr val="6B4A00"/>
                </a:solidFill>
                <a:latin typeface="+mj-lt"/>
                <a:ea typeface="Calibri" pitchFamily="34" charset="-122"/>
                <a:cs typeface="Calibri" pitchFamily="34" charset="-120"/>
              </a:rPr>
              <a:t>(Test 4)</a:t>
            </a:r>
            <a:endParaRPr lang="en-US" sz="900" dirty="0">
              <a:latin typeface="+mj-lt"/>
            </a:endParaRPr>
          </a:p>
        </p:txBody>
      </p:sp>
      <p:sp>
        <p:nvSpPr>
          <p:cNvPr id="65" name="Text 63"/>
          <p:cNvSpPr/>
          <p:nvPr/>
        </p:nvSpPr>
        <p:spPr>
          <a:xfrm>
            <a:off x="6954425" y="3660617"/>
            <a:ext cx="1706270" cy="286390"/>
          </a:xfrm>
          <a:prstGeom prst="rect">
            <a:avLst/>
          </a:prstGeom>
          <a:noFill/>
          <a:ln/>
        </p:spPr>
        <p:txBody>
          <a:bodyPr wrap="square" lIns="12700" tIns="12700" rIns="12700" bIns="12700" rtlCol="0" anchor="ctr"/>
          <a:lstStyle/>
          <a:p>
            <a:pPr algn="ctr"/>
            <a:r>
              <a:rPr lang="en-US" sz="700" dirty="0">
                <a:solidFill>
                  <a:srgbClr val="6B4A00"/>
                </a:solidFill>
                <a:latin typeface="+mj-lt"/>
                <a:ea typeface="Calibri" pitchFamily="34" charset="-122"/>
                <a:cs typeface="Calibri" pitchFamily="34" charset="-120"/>
              </a:rPr>
              <a:t>All 7 pollutants</a:t>
            </a:r>
            <a:endParaRPr lang="en-US" sz="700" dirty="0">
              <a:latin typeface="+mj-lt"/>
            </a:endParaRPr>
          </a:p>
          <a:p>
            <a:pPr algn="ctr"/>
            <a:r>
              <a:rPr lang="en-US" sz="700" dirty="0">
                <a:solidFill>
                  <a:srgbClr val="6B4A00"/>
                </a:solidFill>
                <a:latin typeface="+mj-lt"/>
                <a:ea typeface="Calibri" pitchFamily="34" charset="-122"/>
                <a:cs typeface="Calibri" pitchFamily="34" charset="-120"/>
              </a:rPr>
              <a:t>p &lt; 0.05 → Stationary</a:t>
            </a:r>
            <a:endParaRPr lang="en-US" sz="700" dirty="0">
              <a:latin typeface="+mj-lt"/>
            </a:endParaRPr>
          </a:p>
          <a:p>
            <a:pPr algn="ctr"/>
            <a:r>
              <a:rPr lang="en-US" sz="700" dirty="0">
                <a:solidFill>
                  <a:srgbClr val="6B4A00"/>
                </a:solidFill>
                <a:latin typeface="+mj-lt"/>
                <a:ea typeface="Calibri" pitchFamily="34" charset="-122"/>
                <a:cs typeface="Calibri" pitchFamily="34" charset="-120"/>
              </a:rPr>
              <a:t>Lag features valid</a:t>
            </a:r>
            <a:endParaRPr lang="en-US" sz="700" dirty="0">
              <a:latin typeface="+mj-lt"/>
            </a:endParaRPr>
          </a:p>
        </p:txBody>
      </p:sp>
      <p:sp>
        <p:nvSpPr>
          <p:cNvPr id="66" name="Shape 64"/>
          <p:cNvSpPr/>
          <p:nvPr/>
        </p:nvSpPr>
        <p:spPr>
          <a:xfrm>
            <a:off x="8711005" y="3483675"/>
            <a:ext cx="1706270" cy="530352"/>
          </a:xfrm>
          <a:prstGeom prst="roundRect">
            <a:avLst>
              <a:gd name="adj" fmla="val 10345"/>
            </a:avLst>
          </a:prstGeom>
          <a:solidFill>
            <a:srgbClr val="FFFFFF"/>
          </a:solidFill>
          <a:ln w="15240">
            <a:solidFill>
              <a:srgbClr val="C9920C"/>
            </a:solidFill>
            <a:prstDash val="solid"/>
          </a:ln>
        </p:spPr>
      </p:sp>
      <p:sp>
        <p:nvSpPr>
          <p:cNvPr id="67" name="Text 65"/>
          <p:cNvSpPr/>
          <p:nvPr/>
        </p:nvSpPr>
        <p:spPr>
          <a:xfrm>
            <a:off x="8751418" y="3448878"/>
            <a:ext cx="1706270" cy="233355"/>
          </a:xfrm>
          <a:prstGeom prst="rect">
            <a:avLst/>
          </a:prstGeom>
          <a:noFill/>
          <a:ln/>
        </p:spPr>
        <p:txBody>
          <a:bodyPr wrap="square" lIns="12700" tIns="12700" rIns="12700" bIns="12700" rtlCol="0" anchor="ctr"/>
          <a:lstStyle/>
          <a:p>
            <a:pPr algn="ctr"/>
            <a:r>
              <a:rPr lang="en-US" sz="900" b="1" dirty="0">
                <a:solidFill>
                  <a:srgbClr val="6B4A00"/>
                </a:solidFill>
                <a:latin typeface="+mj-lt"/>
                <a:ea typeface="Calibri" pitchFamily="34" charset="-122"/>
                <a:cs typeface="Calibri" pitchFamily="34" charset="-120"/>
              </a:rPr>
              <a:t>Logistic OR</a:t>
            </a:r>
            <a:r>
              <a:rPr lang="en-US" sz="900" dirty="0">
                <a:latin typeface="+mj-lt"/>
              </a:rPr>
              <a:t> </a:t>
            </a:r>
            <a:r>
              <a:rPr lang="en-US" sz="900" b="1" dirty="0">
                <a:solidFill>
                  <a:srgbClr val="6B4A00"/>
                </a:solidFill>
                <a:latin typeface="+mj-lt"/>
                <a:ea typeface="Calibri" pitchFamily="34" charset="-122"/>
                <a:cs typeface="Calibri" pitchFamily="34" charset="-120"/>
              </a:rPr>
              <a:t>(Test 5)</a:t>
            </a:r>
            <a:endParaRPr lang="en-US" sz="900" dirty="0">
              <a:latin typeface="+mj-lt"/>
            </a:endParaRPr>
          </a:p>
        </p:txBody>
      </p:sp>
      <p:sp>
        <p:nvSpPr>
          <p:cNvPr id="68" name="Text 66"/>
          <p:cNvSpPr/>
          <p:nvPr/>
        </p:nvSpPr>
        <p:spPr>
          <a:xfrm>
            <a:off x="8760562" y="3673695"/>
            <a:ext cx="1706270" cy="286390"/>
          </a:xfrm>
          <a:prstGeom prst="rect">
            <a:avLst/>
          </a:prstGeom>
          <a:noFill/>
          <a:ln/>
        </p:spPr>
        <p:txBody>
          <a:bodyPr wrap="square" lIns="12700" tIns="12700" rIns="12700" bIns="12700" rtlCol="0" anchor="ctr"/>
          <a:lstStyle/>
          <a:p>
            <a:pPr algn="ctr"/>
            <a:r>
              <a:rPr lang="en-US" sz="700" dirty="0">
                <a:solidFill>
                  <a:srgbClr val="6B4A00"/>
                </a:solidFill>
                <a:latin typeface="+mj-lt"/>
                <a:ea typeface="Calibri" pitchFamily="34" charset="-122"/>
                <a:cs typeface="Calibri" pitchFamily="34" charset="-120"/>
              </a:rPr>
              <a:t>Odds Ratios + 95% CI</a:t>
            </a:r>
            <a:endParaRPr lang="en-US" sz="700" dirty="0">
              <a:latin typeface="+mj-lt"/>
            </a:endParaRPr>
          </a:p>
          <a:p>
            <a:pPr algn="ctr"/>
            <a:r>
              <a:rPr lang="en-US" sz="700" dirty="0">
                <a:solidFill>
                  <a:srgbClr val="6B4A00"/>
                </a:solidFill>
                <a:latin typeface="+mj-lt"/>
                <a:ea typeface="Calibri" pitchFamily="34" charset="-122"/>
                <a:cs typeface="Calibri" pitchFamily="34" charset="-120"/>
              </a:rPr>
              <a:t>PM2.5 OR = 2.87</a:t>
            </a:r>
            <a:endParaRPr lang="en-US" sz="700" dirty="0">
              <a:latin typeface="+mj-lt"/>
            </a:endParaRPr>
          </a:p>
          <a:p>
            <a:pPr algn="ctr"/>
            <a:r>
              <a:rPr lang="en-US" sz="700" dirty="0">
                <a:solidFill>
                  <a:srgbClr val="6B4A00"/>
                </a:solidFill>
                <a:latin typeface="+mj-lt"/>
                <a:ea typeface="Calibri" pitchFamily="34" charset="-122"/>
                <a:cs typeface="Calibri" pitchFamily="34" charset="-120"/>
              </a:rPr>
              <a:t>Strongest predictor</a:t>
            </a:r>
            <a:endParaRPr lang="en-US" sz="700" dirty="0">
              <a:latin typeface="+mj-lt"/>
            </a:endParaRPr>
          </a:p>
        </p:txBody>
      </p:sp>
      <p:sp>
        <p:nvSpPr>
          <p:cNvPr id="70" name="Shape 68"/>
          <p:cNvSpPr/>
          <p:nvPr/>
        </p:nvSpPr>
        <p:spPr>
          <a:xfrm>
            <a:off x="1650602" y="4202186"/>
            <a:ext cx="8857305" cy="749808"/>
          </a:xfrm>
          <a:prstGeom prst="roundRect">
            <a:avLst>
              <a:gd name="adj" fmla="val 13158"/>
            </a:avLst>
          </a:prstGeom>
          <a:solidFill>
            <a:srgbClr val="FDEAE0"/>
          </a:solidFill>
          <a:ln w="15240">
            <a:solidFill>
              <a:srgbClr val="CC4F2F"/>
            </a:solidFill>
            <a:prstDash val="solid"/>
          </a:ln>
        </p:spPr>
      </p:sp>
      <p:sp>
        <p:nvSpPr>
          <p:cNvPr id="71" name="Text 69"/>
          <p:cNvSpPr/>
          <p:nvPr/>
        </p:nvSpPr>
        <p:spPr>
          <a:xfrm>
            <a:off x="1700156" y="4230245"/>
            <a:ext cx="8741664" cy="173736"/>
          </a:xfrm>
          <a:prstGeom prst="rect">
            <a:avLst/>
          </a:prstGeom>
          <a:noFill/>
          <a:ln/>
        </p:spPr>
        <p:txBody>
          <a:bodyPr wrap="square" lIns="12700" tIns="12700" rIns="12700" bIns="12700" rtlCol="0" anchor="ctr"/>
          <a:lstStyle/>
          <a:p>
            <a:r>
              <a:rPr lang="en-US" sz="1000" b="1" dirty="0">
                <a:solidFill>
                  <a:srgbClr val="7A2410"/>
                </a:solidFill>
                <a:latin typeface="+mj-lt"/>
                <a:ea typeface="Calibri" pitchFamily="34" charset="-122"/>
                <a:cs typeface="Calibri" pitchFamily="34" charset="-120"/>
              </a:rPr>
              <a:t>Phase 5 — Feature Engineering  (21 lag features · 80/20 split · StandardScaler on train only)</a:t>
            </a:r>
            <a:endParaRPr lang="en-US" sz="1000" b="1" dirty="0">
              <a:latin typeface="+mj-lt"/>
            </a:endParaRPr>
          </a:p>
        </p:txBody>
      </p:sp>
      <p:sp>
        <p:nvSpPr>
          <p:cNvPr id="72" name="Shape 70"/>
          <p:cNvSpPr/>
          <p:nvPr/>
        </p:nvSpPr>
        <p:spPr>
          <a:xfrm>
            <a:off x="1708763" y="4426773"/>
            <a:ext cx="2874264" cy="516169"/>
          </a:xfrm>
          <a:prstGeom prst="roundRect">
            <a:avLst>
              <a:gd name="adj" fmla="val 11538"/>
            </a:avLst>
          </a:prstGeom>
          <a:solidFill>
            <a:srgbClr val="FFFFFF"/>
          </a:solidFill>
          <a:ln w="15240">
            <a:solidFill>
              <a:srgbClr val="CC4F2F"/>
            </a:solidFill>
            <a:prstDash val="solid"/>
          </a:ln>
        </p:spPr>
      </p:sp>
      <p:sp>
        <p:nvSpPr>
          <p:cNvPr id="73" name="Text 71"/>
          <p:cNvSpPr/>
          <p:nvPr/>
        </p:nvSpPr>
        <p:spPr>
          <a:xfrm>
            <a:off x="1688592" y="4386505"/>
            <a:ext cx="2874264" cy="209215"/>
          </a:xfrm>
          <a:prstGeom prst="rect">
            <a:avLst/>
          </a:prstGeom>
          <a:noFill/>
          <a:ln/>
        </p:spPr>
        <p:txBody>
          <a:bodyPr wrap="square" lIns="12700" tIns="12700" rIns="12700" bIns="12700" rtlCol="0" anchor="ctr"/>
          <a:lstStyle/>
          <a:p>
            <a:pPr algn="ctr"/>
            <a:r>
              <a:rPr lang="en-US" sz="900" b="1" dirty="0">
                <a:solidFill>
                  <a:srgbClr val="7A2410"/>
                </a:solidFill>
                <a:latin typeface="+mj-lt"/>
                <a:ea typeface="Calibri" pitchFamily="34" charset="-122"/>
                <a:cs typeface="Calibri" pitchFamily="34" charset="-120"/>
              </a:rPr>
              <a:t>Lag Features (1–3 days)</a:t>
            </a:r>
            <a:endParaRPr lang="en-US" sz="900" b="1" dirty="0">
              <a:latin typeface="+mj-lt"/>
            </a:endParaRPr>
          </a:p>
        </p:txBody>
      </p:sp>
      <p:sp>
        <p:nvSpPr>
          <p:cNvPr id="74" name="Text 72"/>
          <p:cNvSpPr/>
          <p:nvPr/>
        </p:nvSpPr>
        <p:spPr>
          <a:xfrm>
            <a:off x="1697719" y="4610918"/>
            <a:ext cx="2874264" cy="256764"/>
          </a:xfrm>
          <a:prstGeom prst="rect">
            <a:avLst/>
          </a:prstGeom>
          <a:noFill/>
          <a:ln/>
        </p:spPr>
        <p:txBody>
          <a:bodyPr wrap="square" lIns="12700" tIns="12700" rIns="12700" bIns="12700" rtlCol="0" anchor="ctr"/>
          <a:lstStyle/>
          <a:p>
            <a:pPr algn="ctr"/>
            <a:r>
              <a:rPr lang="en-US" sz="700" b="1" dirty="0">
                <a:solidFill>
                  <a:srgbClr val="7A2410"/>
                </a:solidFill>
                <a:latin typeface="+mj-lt"/>
                <a:ea typeface="Calibri" pitchFamily="34" charset="-122"/>
                <a:cs typeface="Calibri" pitchFamily="34" charset="-120"/>
              </a:rPr>
              <a:t>7 pollutants × 3 lags</a:t>
            </a:r>
            <a:endParaRPr lang="en-US" sz="700" b="1" dirty="0">
              <a:latin typeface="+mj-lt"/>
            </a:endParaRPr>
          </a:p>
          <a:p>
            <a:pPr algn="ctr"/>
            <a:r>
              <a:rPr lang="en-US" sz="700" b="1" dirty="0">
                <a:solidFill>
                  <a:srgbClr val="7A2410"/>
                </a:solidFill>
                <a:latin typeface="+mj-lt"/>
                <a:ea typeface="Calibri" pitchFamily="34" charset="-122"/>
                <a:cs typeface="Calibri" pitchFamily="34" charset="-120"/>
              </a:rPr>
              <a:t>= 21 features total</a:t>
            </a:r>
            <a:endParaRPr lang="en-US" sz="700" b="1" dirty="0">
              <a:latin typeface="+mj-lt"/>
            </a:endParaRPr>
          </a:p>
          <a:p>
            <a:pPr algn="ctr"/>
            <a:r>
              <a:rPr lang="en-US" sz="700" b="1" dirty="0">
                <a:solidFill>
                  <a:srgbClr val="7A2410"/>
                </a:solidFill>
                <a:latin typeface="+mj-lt"/>
                <a:ea typeface="Calibri" pitchFamily="34" charset="-122"/>
                <a:cs typeface="Calibri" pitchFamily="34" charset="-120"/>
              </a:rPr>
              <a:t>Captures delayed exposure</a:t>
            </a:r>
            <a:endParaRPr lang="en-US" sz="700" b="1" dirty="0">
              <a:latin typeface="+mj-lt"/>
            </a:endParaRPr>
          </a:p>
        </p:txBody>
      </p:sp>
      <p:sp>
        <p:nvSpPr>
          <p:cNvPr id="75" name="Shape 73"/>
          <p:cNvSpPr/>
          <p:nvPr/>
        </p:nvSpPr>
        <p:spPr>
          <a:xfrm>
            <a:off x="4636008" y="4416241"/>
            <a:ext cx="2874264" cy="516169"/>
          </a:xfrm>
          <a:prstGeom prst="roundRect">
            <a:avLst>
              <a:gd name="adj" fmla="val 11538"/>
            </a:avLst>
          </a:prstGeom>
          <a:solidFill>
            <a:srgbClr val="FFFFFF"/>
          </a:solidFill>
          <a:ln w="15240">
            <a:solidFill>
              <a:srgbClr val="CC4F2F"/>
            </a:solidFill>
            <a:prstDash val="solid"/>
          </a:ln>
        </p:spPr>
        <p:txBody>
          <a:bodyPr/>
          <a:lstStyle/>
          <a:p>
            <a:endParaRPr lang="en-IN" b="1" dirty="0"/>
          </a:p>
        </p:txBody>
      </p:sp>
      <p:sp>
        <p:nvSpPr>
          <p:cNvPr id="76" name="Text 74"/>
          <p:cNvSpPr/>
          <p:nvPr/>
        </p:nvSpPr>
        <p:spPr>
          <a:xfrm>
            <a:off x="4524576" y="4392635"/>
            <a:ext cx="2874264" cy="209215"/>
          </a:xfrm>
          <a:prstGeom prst="rect">
            <a:avLst/>
          </a:prstGeom>
          <a:noFill/>
          <a:ln/>
        </p:spPr>
        <p:txBody>
          <a:bodyPr wrap="square" lIns="12700" tIns="12700" rIns="12700" bIns="12700" rtlCol="0" anchor="ctr"/>
          <a:lstStyle/>
          <a:p>
            <a:pPr algn="ctr"/>
            <a:r>
              <a:rPr lang="en-US" sz="900" b="1" dirty="0">
                <a:solidFill>
                  <a:srgbClr val="7A2410"/>
                </a:solidFill>
                <a:latin typeface="+mj-lt"/>
                <a:ea typeface="Calibri" pitchFamily="34" charset="-122"/>
                <a:cs typeface="Calibri" pitchFamily="34" charset="-120"/>
              </a:rPr>
              <a:t>Train / Test Split</a:t>
            </a:r>
            <a:endParaRPr lang="en-US" sz="900" b="1" dirty="0">
              <a:latin typeface="+mj-lt"/>
            </a:endParaRPr>
          </a:p>
        </p:txBody>
      </p:sp>
      <p:sp>
        <p:nvSpPr>
          <p:cNvPr id="77" name="Text 75"/>
          <p:cNvSpPr/>
          <p:nvPr/>
        </p:nvSpPr>
        <p:spPr>
          <a:xfrm>
            <a:off x="4537934" y="4618407"/>
            <a:ext cx="2874264" cy="256764"/>
          </a:xfrm>
          <a:prstGeom prst="rect">
            <a:avLst/>
          </a:prstGeom>
          <a:noFill/>
          <a:ln/>
        </p:spPr>
        <p:txBody>
          <a:bodyPr wrap="square" lIns="12700" tIns="12700" rIns="12700" bIns="12700" rtlCol="0" anchor="ctr"/>
          <a:lstStyle/>
          <a:p>
            <a:pPr algn="ctr"/>
            <a:r>
              <a:rPr lang="en-US" sz="700" b="1" dirty="0">
                <a:solidFill>
                  <a:srgbClr val="7A2410"/>
                </a:solidFill>
                <a:latin typeface="+mj-lt"/>
                <a:ea typeface="Calibri" pitchFamily="34" charset="-122"/>
                <a:cs typeface="Calibri" pitchFamily="34" charset="-120"/>
              </a:rPr>
              <a:t>80% train · 20% test</a:t>
            </a:r>
            <a:endParaRPr lang="en-US" sz="700" b="1" dirty="0">
              <a:latin typeface="+mj-lt"/>
            </a:endParaRPr>
          </a:p>
          <a:p>
            <a:pPr algn="ctr"/>
            <a:r>
              <a:rPr lang="en-US" sz="700" b="1" dirty="0">
                <a:solidFill>
                  <a:srgbClr val="7A2410"/>
                </a:solidFill>
                <a:latin typeface="+mj-lt"/>
                <a:ea typeface="Calibri" pitchFamily="34" charset="-122"/>
                <a:cs typeface="Calibri" pitchFamily="34" charset="-120"/>
              </a:rPr>
              <a:t>random_state = 42</a:t>
            </a:r>
            <a:endParaRPr lang="en-US" sz="700" b="1" dirty="0">
              <a:latin typeface="+mj-lt"/>
            </a:endParaRPr>
          </a:p>
          <a:p>
            <a:pPr algn="ctr"/>
            <a:r>
              <a:rPr lang="en-US" sz="700" b="1" dirty="0">
                <a:solidFill>
                  <a:srgbClr val="7A2410"/>
                </a:solidFill>
                <a:latin typeface="+mj-lt"/>
                <a:ea typeface="Calibri" pitchFamily="34" charset="-122"/>
                <a:cs typeface="Calibri" pitchFamily="34" charset="-120"/>
              </a:rPr>
              <a:t>~23,623 / 5,906 rows</a:t>
            </a:r>
            <a:endParaRPr lang="en-US" sz="700" b="1" dirty="0">
              <a:latin typeface="+mj-lt"/>
            </a:endParaRPr>
          </a:p>
        </p:txBody>
      </p:sp>
      <p:sp>
        <p:nvSpPr>
          <p:cNvPr id="78" name="Shape 76"/>
          <p:cNvSpPr/>
          <p:nvPr/>
        </p:nvSpPr>
        <p:spPr>
          <a:xfrm>
            <a:off x="7563253" y="4416241"/>
            <a:ext cx="2874264" cy="535753"/>
          </a:xfrm>
          <a:prstGeom prst="roundRect">
            <a:avLst>
              <a:gd name="adj" fmla="val 11538"/>
            </a:avLst>
          </a:prstGeom>
          <a:solidFill>
            <a:srgbClr val="FFFFFF"/>
          </a:solidFill>
          <a:ln w="15240">
            <a:solidFill>
              <a:srgbClr val="CC4F2F"/>
            </a:solidFill>
            <a:prstDash val="solid"/>
          </a:ln>
        </p:spPr>
      </p:sp>
      <p:sp>
        <p:nvSpPr>
          <p:cNvPr id="79" name="Text 77"/>
          <p:cNvSpPr/>
          <p:nvPr/>
        </p:nvSpPr>
        <p:spPr>
          <a:xfrm>
            <a:off x="7451821" y="4392635"/>
            <a:ext cx="2874264" cy="209215"/>
          </a:xfrm>
          <a:prstGeom prst="rect">
            <a:avLst/>
          </a:prstGeom>
          <a:noFill/>
          <a:ln/>
        </p:spPr>
        <p:txBody>
          <a:bodyPr wrap="square" lIns="12700" tIns="12700" rIns="12700" bIns="12700" rtlCol="0" anchor="ctr"/>
          <a:lstStyle/>
          <a:p>
            <a:pPr algn="ctr"/>
            <a:r>
              <a:rPr lang="en-US" sz="900" b="1" dirty="0">
                <a:solidFill>
                  <a:srgbClr val="7A2410"/>
                </a:solidFill>
                <a:latin typeface="+mj-lt"/>
                <a:ea typeface="Calibri" pitchFamily="34" charset="-122"/>
                <a:cs typeface="Calibri" pitchFamily="34" charset="-120"/>
              </a:rPr>
              <a:t>Standard Scaler</a:t>
            </a:r>
            <a:endParaRPr lang="en-US" sz="900" b="1" dirty="0">
              <a:latin typeface="+mj-lt"/>
            </a:endParaRPr>
          </a:p>
        </p:txBody>
      </p:sp>
      <p:sp>
        <p:nvSpPr>
          <p:cNvPr id="80" name="Text 78"/>
          <p:cNvSpPr/>
          <p:nvPr/>
        </p:nvSpPr>
        <p:spPr>
          <a:xfrm>
            <a:off x="7543011" y="4585755"/>
            <a:ext cx="2874264" cy="256764"/>
          </a:xfrm>
          <a:prstGeom prst="rect">
            <a:avLst/>
          </a:prstGeom>
          <a:noFill/>
          <a:ln/>
        </p:spPr>
        <p:txBody>
          <a:bodyPr wrap="square" lIns="12700" tIns="12700" rIns="12700" bIns="12700" rtlCol="0" anchor="ctr"/>
          <a:lstStyle/>
          <a:p>
            <a:pPr algn="ctr"/>
            <a:r>
              <a:rPr lang="en-US" sz="700" b="1" dirty="0">
                <a:solidFill>
                  <a:srgbClr val="7A2410"/>
                </a:solidFill>
                <a:latin typeface="+mj-lt"/>
                <a:ea typeface="Calibri" pitchFamily="34" charset="-122"/>
                <a:cs typeface="Calibri" pitchFamily="34" charset="-120"/>
              </a:rPr>
              <a:t>Fit on train only</a:t>
            </a:r>
            <a:endParaRPr lang="en-US" sz="700" b="1" dirty="0">
              <a:latin typeface="+mj-lt"/>
            </a:endParaRPr>
          </a:p>
          <a:p>
            <a:pPr algn="ctr"/>
            <a:r>
              <a:rPr lang="en-US" sz="700" b="1" dirty="0">
                <a:solidFill>
                  <a:srgbClr val="7A2410"/>
                </a:solidFill>
                <a:latin typeface="+mj-lt"/>
                <a:ea typeface="Calibri" pitchFamily="34" charset="-122"/>
                <a:cs typeface="Calibri" pitchFamily="34" charset="-120"/>
              </a:rPr>
              <a:t>Zero mean · unit var</a:t>
            </a:r>
            <a:endParaRPr lang="en-US" sz="700" b="1" dirty="0">
              <a:latin typeface="+mj-lt"/>
            </a:endParaRPr>
          </a:p>
          <a:p>
            <a:pPr algn="ctr"/>
            <a:r>
              <a:rPr lang="en-US" sz="700" b="1" dirty="0">
                <a:solidFill>
                  <a:srgbClr val="7A2410"/>
                </a:solidFill>
                <a:latin typeface="+mj-lt"/>
                <a:ea typeface="Calibri" pitchFamily="34" charset="-122"/>
                <a:cs typeface="Calibri" pitchFamily="34" charset="-120"/>
              </a:rPr>
              <a:t>LR / KNN / SVM only (not RF)</a:t>
            </a:r>
            <a:endParaRPr lang="en-US" sz="700" b="1" dirty="0">
              <a:latin typeface="+mj-lt"/>
            </a:endParaRPr>
          </a:p>
        </p:txBody>
      </p:sp>
      <p:sp>
        <p:nvSpPr>
          <p:cNvPr id="82" name="Shape 80"/>
          <p:cNvSpPr/>
          <p:nvPr/>
        </p:nvSpPr>
        <p:spPr>
          <a:xfrm>
            <a:off x="1642872" y="5111468"/>
            <a:ext cx="8814816" cy="799239"/>
          </a:xfrm>
          <a:prstGeom prst="roundRect">
            <a:avLst>
              <a:gd name="adj" fmla="val 12500"/>
            </a:avLst>
          </a:prstGeom>
          <a:solidFill>
            <a:srgbClr val="D4EDD6"/>
          </a:solidFill>
          <a:ln w="15240">
            <a:solidFill>
              <a:srgbClr val="2A7A2E"/>
            </a:solidFill>
            <a:prstDash val="solid"/>
          </a:ln>
        </p:spPr>
      </p:sp>
      <p:sp>
        <p:nvSpPr>
          <p:cNvPr id="83" name="Text 81"/>
          <p:cNvSpPr/>
          <p:nvPr/>
        </p:nvSpPr>
        <p:spPr>
          <a:xfrm>
            <a:off x="1702308" y="5095001"/>
            <a:ext cx="8741664" cy="173736"/>
          </a:xfrm>
          <a:prstGeom prst="rect">
            <a:avLst/>
          </a:prstGeom>
          <a:noFill/>
          <a:ln/>
        </p:spPr>
        <p:txBody>
          <a:bodyPr wrap="square" lIns="12700" tIns="12700" rIns="12700" bIns="12700" rtlCol="0" anchor="ctr"/>
          <a:lstStyle/>
          <a:p>
            <a:r>
              <a:rPr lang="en-US" sz="1000" b="1" dirty="0">
                <a:solidFill>
                  <a:srgbClr val="144016"/>
                </a:solidFill>
                <a:latin typeface="+mj-lt"/>
                <a:ea typeface="Calibri" pitchFamily="34" charset="-122"/>
                <a:cs typeface="Calibri" pitchFamily="34" charset="-120"/>
              </a:rPr>
              <a:t>Phase 6 — Machine Learning Models  (4 classifiers · 21 lag features · classification report + confusion matrix)</a:t>
            </a:r>
            <a:endParaRPr lang="en-US" sz="1000" b="1" dirty="0">
              <a:latin typeface="+mj-lt"/>
            </a:endParaRPr>
          </a:p>
        </p:txBody>
      </p:sp>
      <p:sp>
        <p:nvSpPr>
          <p:cNvPr id="84" name="Shape 82"/>
          <p:cNvSpPr/>
          <p:nvPr/>
        </p:nvSpPr>
        <p:spPr>
          <a:xfrm>
            <a:off x="1686530" y="5311018"/>
            <a:ext cx="2144268" cy="512064"/>
          </a:xfrm>
          <a:prstGeom prst="roundRect">
            <a:avLst>
              <a:gd name="adj" fmla="val 10714"/>
            </a:avLst>
          </a:prstGeom>
          <a:solidFill>
            <a:srgbClr val="FFFFFF"/>
          </a:solidFill>
          <a:ln w="15240">
            <a:solidFill>
              <a:srgbClr val="2A7A2E"/>
            </a:solidFill>
            <a:prstDash val="solid"/>
          </a:ln>
        </p:spPr>
      </p:sp>
      <p:sp>
        <p:nvSpPr>
          <p:cNvPr id="85" name="Text 83"/>
          <p:cNvSpPr/>
          <p:nvPr/>
        </p:nvSpPr>
        <p:spPr>
          <a:xfrm>
            <a:off x="1600379" y="5293096"/>
            <a:ext cx="2144268" cy="225308"/>
          </a:xfrm>
          <a:prstGeom prst="rect">
            <a:avLst/>
          </a:prstGeom>
          <a:noFill/>
          <a:ln/>
        </p:spPr>
        <p:txBody>
          <a:bodyPr wrap="square" lIns="12700" tIns="12700" rIns="12700" bIns="12700" rtlCol="0" anchor="ctr"/>
          <a:lstStyle/>
          <a:p>
            <a:pPr algn="ctr"/>
            <a:r>
              <a:rPr lang="en-US" sz="900" b="1" dirty="0">
                <a:solidFill>
                  <a:srgbClr val="144016"/>
                </a:solidFill>
                <a:latin typeface="+mj-lt"/>
                <a:ea typeface="Calibri" pitchFamily="34" charset="-122"/>
                <a:cs typeface="Calibri" pitchFamily="34" charset="-120"/>
              </a:rPr>
              <a:t>Logistic Regression</a:t>
            </a:r>
            <a:endParaRPr lang="en-US" sz="900" dirty="0">
              <a:latin typeface="+mj-lt"/>
            </a:endParaRPr>
          </a:p>
        </p:txBody>
      </p:sp>
      <p:sp>
        <p:nvSpPr>
          <p:cNvPr id="86" name="Text 84"/>
          <p:cNvSpPr/>
          <p:nvPr/>
        </p:nvSpPr>
        <p:spPr>
          <a:xfrm>
            <a:off x="1633745" y="5518405"/>
            <a:ext cx="2144268" cy="276515"/>
          </a:xfrm>
          <a:prstGeom prst="rect">
            <a:avLst/>
          </a:prstGeom>
          <a:noFill/>
          <a:ln/>
        </p:spPr>
        <p:txBody>
          <a:bodyPr wrap="square" lIns="12700" tIns="12700" rIns="12700" bIns="12700" rtlCol="0" anchor="ctr"/>
          <a:lstStyle/>
          <a:p>
            <a:pPr algn="ctr"/>
            <a:r>
              <a:rPr lang="en-US" sz="700" dirty="0">
                <a:solidFill>
                  <a:srgbClr val="144016"/>
                </a:solidFill>
                <a:latin typeface="+mj-lt"/>
                <a:ea typeface="Calibri" pitchFamily="34" charset="-122"/>
                <a:cs typeface="Calibri" pitchFamily="34" charset="-120"/>
              </a:rPr>
              <a:t>Baseline · scaled features</a:t>
            </a:r>
            <a:endParaRPr lang="en-US" sz="700" dirty="0">
              <a:latin typeface="+mj-lt"/>
            </a:endParaRPr>
          </a:p>
          <a:p>
            <a:pPr algn="ctr"/>
            <a:r>
              <a:rPr lang="en-US" sz="700" dirty="0">
                <a:solidFill>
                  <a:srgbClr val="144016"/>
                </a:solidFill>
                <a:latin typeface="+mj-lt"/>
                <a:ea typeface="Calibri" pitchFamily="34" charset="-122"/>
                <a:cs typeface="Calibri" pitchFamily="34" charset="-120"/>
              </a:rPr>
              <a:t>Precision / Recall / F1</a:t>
            </a:r>
            <a:endParaRPr lang="en-US" sz="700" dirty="0">
              <a:latin typeface="+mj-lt"/>
            </a:endParaRPr>
          </a:p>
          <a:p>
            <a:pPr algn="ctr"/>
            <a:r>
              <a:rPr lang="en-US" sz="700" dirty="0">
                <a:solidFill>
                  <a:srgbClr val="144016"/>
                </a:solidFill>
                <a:latin typeface="+mj-lt"/>
                <a:ea typeface="Calibri" pitchFamily="34" charset="-122"/>
                <a:cs typeface="Calibri" pitchFamily="34" charset="-120"/>
              </a:rPr>
              <a:t>~85.7% accuracy</a:t>
            </a:r>
            <a:endParaRPr lang="en-US" sz="700" dirty="0">
              <a:latin typeface="+mj-lt"/>
            </a:endParaRPr>
          </a:p>
        </p:txBody>
      </p:sp>
      <p:sp>
        <p:nvSpPr>
          <p:cNvPr id="87" name="Shape 85"/>
          <p:cNvSpPr/>
          <p:nvPr/>
        </p:nvSpPr>
        <p:spPr>
          <a:xfrm>
            <a:off x="3906012" y="5311018"/>
            <a:ext cx="2144268" cy="512064"/>
          </a:xfrm>
          <a:prstGeom prst="roundRect">
            <a:avLst>
              <a:gd name="adj" fmla="val 10714"/>
            </a:avLst>
          </a:prstGeom>
          <a:solidFill>
            <a:srgbClr val="FFFFFF"/>
          </a:solidFill>
          <a:ln w="15240">
            <a:solidFill>
              <a:srgbClr val="2A7A2E"/>
            </a:solidFill>
            <a:prstDash val="solid"/>
          </a:ln>
        </p:spPr>
      </p:sp>
      <p:sp>
        <p:nvSpPr>
          <p:cNvPr id="88" name="Text 86"/>
          <p:cNvSpPr/>
          <p:nvPr/>
        </p:nvSpPr>
        <p:spPr>
          <a:xfrm>
            <a:off x="3830798" y="5293096"/>
            <a:ext cx="2144268" cy="225308"/>
          </a:xfrm>
          <a:prstGeom prst="rect">
            <a:avLst/>
          </a:prstGeom>
          <a:noFill/>
          <a:ln/>
        </p:spPr>
        <p:txBody>
          <a:bodyPr wrap="square" lIns="12700" tIns="12700" rIns="12700" bIns="12700" rtlCol="0" anchor="ctr"/>
          <a:lstStyle/>
          <a:p>
            <a:pPr algn="ctr"/>
            <a:r>
              <a:rPr lang="en-US" sz="900" b="1" dirty="0">
                <a:solidFill>
                  <a:srgbClr val="144016"/>
                </a:solidFill>
                <a:latin typeface="+mj-lt"/>
                <a:ea typeface="Calibri" pitchFamily="34" charset="-122"/>
                <a:cs typeface="Calibri" pitchFamily="34" charset="-120"/>
              </a:rPr>
              <a:t>KNN  (k = 5)</a:t>
            </a:r>
            <a:endParaRPr lang="en-US" sz="900" b="1" dirty="0">
              <a:latin typeface="+mj-lt"/>
            </a:endParaRPr>
          </a:p>
        </p:txBody>
      </p:sp>
      <p:sp>
        <p:nvSpPr>
          <p:cNvPr id="89" name="Text 87"/>
          <p:cNvSpPr/>
          <p:nvPr/>
        </p:nvSpPr>
        <p:spPr>
          <a:xfrm>
            <a:off x="3817440" y="5518405"/>
            <a:ext cx="2144268" cy="276515"/>
          </a:xfrm>
          <a:prstGeom prst="rect">
            <a:avLst/>
          </a:prstGeom>
          <a:noFill/>
          <a:ln/>
        </p:spPr>
        <p:txBody>
          <a:bodyPr wrap="square" lIns="12700" tIns="12700" rIns="12700" bIns="12700" rtlCol="0" anchor="ctr"/>
          <a:lstStyle/>
          <a:p>
            <a:pPr algn="ctr"/>
            <a:r>
              <a:rPr lang="en-US" sz="700" b="1" dirty="0">
                <a:solidFill>
                  <a:srgbClr val="144016"/>
                </a:solidFill>
                <a:latin typeface="+mj-lt"/>
                <a:ea typeface="Calibri" pitchFamily="34" charset="-122"/>
                <a:cs typeface="Calibri" pitchFamily="34" charset="-120"/>
              </a:rPr>
              <a:t>Non-parametric · scaled</a:t>
            </a:r>
            <a:endParaRPr lang="en-US" sz="700" b="1" dirty="0">
              <a:latin typeface="+mj-lt"/>
            </a:endParaRPr>
          </a:p>
          <a:p>
            <a:pPr algn="ctr"/>
            <a:r>
              <a:rPr lang="en-US" sz="700" b="1" dirty="0">
                <a:solidFill>
                  <a:srgbClr val="144016"/>
                </a:solidFill>
                <a:latin typeface="+mj-lt"/>
                <a:ea typeface="Calibri" pitchFamily="34" charset="-122"/>
                <a:cs typeface="Calibri" pitchFamily="34" charset="-120"/>
              </a:rPr>
              <a:t>Distance-based</a:t>
            </a:r>
            <a:endParaRPr lang="en-US" sz="700" b="1" dirty="0">
              <a:latin typeface="+mj-lt"/>
            </a:endParaRPr>
          </a:p>
          <a:p>
            <a:pPr algn="ctr"/>
            <a:r>
              <a:rPr lang="en-US" sz="700" b="1" dirty="0">
                <a:solidFill>
                  <a:srgbClr val="144016"/>
                </a:solidFill>
                <a:latin typeface="+mj-lt"/>
                <a:ea typeface="Calibri" pitchFamily="34" charset="-122"/>
                <a:cs typeface="Calibri" pitchFamily="34" charset="-120"/>
              </a:rPr>
              <a:t>~85.7% accuracy</a:t>
            </a:r>
            <a:endParaRPr lang="en-US" sz="700" b="1" dirty="0">
              <a:latin typeface="+mj-lt"/>
            </a:endParaRPr>
          </a:p>
        </p:txBody>
      </p:sp>
      <p:sp>
        <p:nvSpPr>
          <p:cNvPr id="90" name="Shape 88"/>
          <p:cNvSpPr/>
          <p:nvPr/>
        </p:nvSpPr>
        <p:spPr>
          <a:xfrm>
            <a:off x="6096000" y="5311018"/>
            <a:ext cx="2144268" cy="512064"/>
          </a:xfrm>
          <a:prstGeom prst="roundRect">
            <a:avLst>
              <a:gd name="adj" fmla="val 10714"/>
            </a:avLst>
          </a:prstGeom>
          <a:solidFill>
            <a:srgbClr val="FFFFFF"/>
          </a:solidFill>
          <a:ln w="15240">
            <a:solidFill>
              <a:srgbClr val="2A7A2E"/>
            </a:solidFill>
            <a:prstDash val="solid"/>
          </a:ln>
        </p:spPr>
      </p:sp>
      <p:sp>
        <p:nvSpPr>
          <p:cNvPr id="91" name="Text 89"/>
          <p:cNvSpPr/>
          <p:nvPr/>
        </p:nvSpPr>
        <p:spPr>
          <a:xfrm>
            <a:off x="5975066" y="5268737"/>
            <a:ext cx="2144268" cy="225308"/>
          </a:xfrm>
          <a:prstGeom prst="rect">
            <a:avLst/>
          </a:prstGeom>
          <a:noFill/>
          <a:ln/>
        </p:spPr>
        <p:txBody>
          <a:bodyPr wrap="square" lIns="12700" tIns="12700" rIns="12700" bIns="12700" rtlCol="0" anchor="ctr"/>
          <a:lstStyle/>
          <a:p>
            <a:pPr algn="ctr"/>
            <a:r>
              <a:rPr lang="en-US" sz="900" b="1" dirty="0">
                <a:solidFill>
                  <a:srgbClr val="144016"/>
                </a:solidFill>
                <a:latin typeface="+mj-lt"/>
                <a:ea typeface="Calibri" pitchFamily="34" charset="-122"/>
                <a:cs typeface="Calibri" pitchFamily="34" charset="-120"/>
              </a:rPr>
              <a:t>SVM  (RBF kernel)</a:t>
            </a:r>
            <a:endParaRPr lang="en-US" sz="900" b="1" dirty="0">
              <a:latin typeface="+mj-lt"/>
            </a:endParaRPr>
          </a:p>
        </p:txBody>
      </p:sp>
      <p:sp>
        <p:nvSpPr>
          <p:cNvPr id="92" name="Text 90"/>
          <p:cNvSpPr/>
          <p:nvPr/>
        </p:nvSpPr>
        <p:spPr>
          <a:xfrm>
            <a:off x="6050280" y="5518405"/>
            <a:ext cx="2144268" cy="276515"/>
          </a:xfrm>
          <a:prstGeom prst="rect">
            <a:avLst/>
          </a:prstGeom>
          <a:noFill/>
          <a:ln/>
        </p:spPr>
        <p:txBody>
          <a:bodyPr wrap="square" lIns="12700" tIns="12700" rIns="12700" bIns="12700" rtlCol="0" anchor="ctr"/>
          <a:lstStyle/>
          <a:p>
            <a:pPr algn="ctr"/>
            <a:r>
              <a:rPr lang="en-US" sz="700" b="1" dirty="0">
                <a:solidFill>
                  <a:srgbClr val="144016"/>
                </a:solidFill>
                <a:latin typeface="+mj-lt"/>
                <a:ea typeface="Calibri" pitchFamily="34" charset="-122"/>
                <a:cs typeface="Calibri" pitchFamily="34" charset="-120"/>
              </a:rPr>
              <a:t>Non-linear boundary</a:t>
            </a:r>
            <a:endParaRPr lang="en-US" sz="700" b="1" dirty="0">
              <a:latin typeface="+mj-lt"/>
            </a:endParaRPr>
          </a:p>
          <a:p>
            <a:pPr algn="ctr"/>
            <a:r>
              <a:rPr lang="en-US" sz="700" b="1" dirty="0">
                <a:solidFill>
                  <a:srgbClr val="144016"/>
                </a:solidFill>
                <a:latin typeface="+mj-lt"/>
                <a:ea typeface="Calibri" pitchFamily="34" charset="-122"/>
                <a:cs typeface="Calibri" pitchFamily="34" charset="-120"/>
              </a:rPr>
              <a:t>Scaled features</a:t>
            </a:r>
            <a:endParaRPr lang="en-US" sz="700" b="1" dirty="0">
              <a:latin typeface="+mj-lt"/>
            </a:endParaRPr>
          </a:p>
          <a:p>
            <a:pPr algn="ctr"/>
            <a:r>
              <a:rPr lang="en-US" sz="700" b="1" dirty="0">
                <a:solidFill>
                  <a:srgbClr val="144016"/>
                </a:solidFill>
                <a:latin typeface="+mj-lt"/>
                <a:ea typeface="Calibri" pitchFamily="34" charset="-122"/>
                <a:cs typeface="Calibri" pitchFamily="34" charset="-120"/>
              </a:rPr>
              <a:t>86.8% accuracy</a:t>
            </a:r>
            <a:endParaRPr lang="en-US" sz="700" b="1" dirty="0">
              <a:latin typeface="+mj-lt"/>
            </a:endParaRPr>
          </a:p>
        </p:txBody>
      </p:sp>
      <p:sp>
        <p:nvSpPr>
          <p:cNvPr id="93" name="Shape 91"/>
          <p:cNvSpPr/>
          <p:nvPr/>
        </p:nvSpPr>
        <p:spPr>
          <a:xfrm>
            <a:off x="8284930" y="5311018"/>
            <a:ext cx="2144268" cy="512064"/>
          </a:xfrm>
          <a:prstGeom prst="roundRect">
            <a:avLst>
              <a:gd name="adj" fmla="val 10714"/>
            </a:avLst>
          </a:prstGeom>
          <a:solidFill>
            <a:srgbClr val="B8F4C4"/>
          </a:solidFill>
          <a:ln w="15240">
            <a:solidFill>
              <a:srgbClr val="1A7A30"/>
            </a:solidFill>
            <a:prstDash val="solid"/>
          </a:ln>
        </p:spPr>
      </p:sp>
      <p:sp>
        <p:nvSpPr>
          <p:cNvPr id="94" name="Text 92"/>
          <p:cNvSpPr/>
          <p:nvPr/>
        </p:nvSpPr>
        <p:spPr>
          <a:xfrm>
            <a:off x="8240269" y="5278979"/>
            <a:ext cx="2012397" cy="215067"/>
          </a:xfrm>
          <a:prstGeom prst="rect">
            <a:avLst/>
          </a:prstGeom>
          <a:noFill/>
          <a:ln/>
        </p:spPr>
        <p:txBody>
          <a:bodyPr wrap="square" lIns="12700" tIns="12700" rIns="12700" bIns="12700" rtlCol="0" anchor="ctr"/>
          <a:lstStyle/>
          <a:p>
            <a:pPr algn="ctr"/>
            <a:r>
              <a:rPr lang="en-US" sz="900" b="1" dirty="0">
                <a:solidFill>
                  <a:srgbClr val="0A4A1A"/>
                </a:solidFill>
                <a:latin typeface="+mj-lt"/>
                <a:ea typeface="Calibri" pitchFamily="34" charset="-122"/>
                <a:cs typeface="Calibri" pitchFamily="34" charset="-120"/>
              </a:rPr>
              <a:t>Random Forest ★</a:t>
            </a:r>
            <a:endParaRPr lang="en-US" sz="900" b="1" dirty="0">
              <a:latin typeface="+mj-lt"/>
            </a:endParaRPr>
          </a:p>
        </p:txBody>
      </p:sp>
      <p:sp>
        <p:nvSpPr>
          <p:cNvPr id="95" name="Text 93"/>
          <p:cNvSpPr/>
          <p:nvPr/>
        </p:nvSpPr>
        <p:spPr>
          <a:xfrm>
            <a:off x="8273007" y="5494046"/>
            <a:ext cx="2144268" cy="276515"/>
          </a:xfrm>
          <a:prstGeom prst="rect">
            <a:avLst/>
          </a:prstGeom>
          <a:noFill/>
          <a:ln/>
        </p:spPr>
        <p:txBody>
          <a:bodyPr wrap="square" lIns="12700" tIns="12700" rIns="12700" bIns="12700" rtlCol="0" anchor="ctr"/>
          <a:lstStyle/>
          <a:p>
            <a:pPr algn="ctr"/>
            <a:r>
              <a:rPr lang="en-US" sz="700" b="1" dirty="0">
                <a:solidFill>
                  <a:srgbClr val="0A4A1A"/>
                </a:solidFill>
                <a:latin typeface="+mj-lt"/>
                <a:ea typeface="Calibri" pitchFamily="34" charset="-122"/>
                <a:cs typeface="Calibri" pitchFamily="34" charset="-120"/>
              </a:rPr>
              <a:t>100 trees · unscaled</a:t>
            </a:r>
            <a:endParaRPr lang="en-US" sz="700" b="1" dirty="0">
              <a:latin typeface="+mj-lt"/>
            </a:endParaRPr>
          </a:p>
          <a:p>
            <a:pPr algn="ctr"/>
            <a:r>
              <a:rPr lang="en-US" sz="700" b="1" dirty="0">
                <a:solidFill>
                  <a:srgbClr val="0A4A1A"/>
                </a:solidFill>
                <a:latin typeface="+mj-lt"/>
                <a:ea typeface="Calibri" pitchFamily="34" charset="-122"/>
                <a:cs typeface="Calibri" pitchFamily="34" charset="-120"/>
              </a:rPr>
              <a:t>Highest F1 &amp; accuracy</a:t>
            </a:r>
            <a:endParaRPr lang="en-US" sz="700" b="1" dirty="0">
              <a:latin typeface="+mj-lt"/>
            </a:endParaRPr>
          </a:p>
          <a:p>
            <a:pPr algn="ctr"/>
            <a:r>
              <a:rPr lang="en-US" sz="700" b="1" dirty="0">
                <a:solidFill>
                  <a:srgbClr val="0A4A1A"/>
                </a:solidFill>
                <a:latin typeface="+mj-lt"/>
                <a:ea typeface="Calibri" pitchFamily="34" charset="-122"/>
                <a:cs typeface="Calibri" pitchFamily="34" charset="-120"/>
              </a:rPr>
              <a:t>89.2% accuracy</a:t>
            </a:r>
            <a:endParaRPr lang="en-US" sz="700" b="1" dirty="0">
              <a:latin typeface="+mj-lt"/>
            </a:endParaRPr>
          </a:p>
        </p:txBody>
      </p:sp>
      <p:sp>
        <p:nvSpPr>
          <p:cNvPr id="97" name="Shape 95"/>
          <p:cNvSpPr/>
          <p:nvPr/>
        </p:nvSpPr>
        <p:spPr>
          <a:xfrm>
            <a:off x="1688592" y="6062472"/>
            <a:ext cx="8814816" cy="694944"/>
          </a:xfrm>
          <a:prstGeom prst="roundRect">
            <a:avLst>
              <a:gd name="adj" fmla="val 14516"/>
            </a:avLst>
          </a:prstGeom>
          <a:solidFill>
            <a:srgbClr val="E8F7EA"/>
          </a:solidFill>
          <a:ln w="15240">
            <a:solidFill>
              <a:srgbClr val="2A7A2E"/>
            </a:solidFill>
            <a:prstDash val="solid"/>
          </a:ln>
        </p:spPr>
        <p:txBody>
          <a:bodyPr/>
          <a:lstStyle/>
          <a:p>
            <a:endParaRPr lang="en-IN" sz="700" b="1" dirty="0">
              <a:latin typeface="+mj-lt"/>
            </a:endParaRPr>
          </a:p>
        </p:txBody>
      </p:sp>
      <p:sp>
        <p:nvSpPr>
          <p:cNvPr id="98" name="Text 96"/>
          <p:cNvSpPr/>
          <p:nvPr/>
        </p:nvSpPr>
        <p:spPr>
          <a:xfrm>
            <a:off x="1732429" y="6062472"/>
            <a:ext cx="8741664" cy="173736"/>
          </a:xfrm>
          <a:prstGeom prst="rect">
            <a:avLst/>
          </a:prstGeom>
          <a:noFill/>
          <a:ln/>
        </p:spPr>
        <p:txBody>
          <a:bodyPr wrap="square" lIns="12700" tIns="12700" rIns="12700" bIns="12700" rtlCol="0" anchor="ctr"/>
          <a:lstStyle/>
          <a:p>
            <a:r>
              <a:rPr lang="en-US" sz="1000" b="1" dirty="0">
                <a:solidFill>
                  <a:srgbClr val="144016"/>
                </a:solidFill>
                <a:latin typeface="+mj-lt"/>
                <a:ea typeface="Calibri" pitchFamily="34" charset="-122"/>
                <a:cs typeface="Calibri" pitchFamily="34" charset="-120"/>
              </a:rPr>
              <a:t>Feature Importance Analysis  (Random Forest)</a:t>
            </a:r>
            <a:endParaRPr lang="en-US" sz="1000" b="1" dirty="0">
              <a:latin typeface="+mj-lt"/>
            </a:endParaRPr>
          </a:p>
        </p:txBody>
      </p:sp>
      <p:sp>
        <p:nvSpPr>
          <p:cNvPr id="99" name="Shape 97"/>
          <p:cNvSpPr/>
          <p:nvPr/>
        </p:nvSpPr>
        <p:spPr>
          <a:xfrm>
            <a:off x="1732429" y="6277675"/>
            <a:ext cx="2144268" cy="475488"/>
          </a:xfrm>
          <a:prstGeom prst="roundRect">
            <a:avLst>
              <a:gd name="adj" fmla="val 15789"/>
            </a:avLst>
          </a:prstGeom>
          <a:solidFill>
            <a:srgbClr val="FFFFFF"/>
          </a:solidFill>
          <a:ln w="15240">
            <a:solidFill>
              <a:srgbClr val="2A7A2E"/>
            </a:solidFill>
            <a:prstDash val="solid"/>
          </a:ln>
        </p:spPr>
        <p:txBody>
          <a:bodyPr/>
          <a:lstStyle/>
          <a:p>
            <a:endParaRPr lang="en-IN" b="1" dirty="0"/>
          </a:p>
        </p:txBody>
      </p:sp>
      <p:sp>
        <p:nvSpPr>
          <p:cNvPr id="100" name="Text 98"/>
          <p:cNvSpPr/>
          <p:nvPr/>
        </p:nvSpPr>
        <p:spPr>
          <a:xfrm>
            <a:off x="1732429" y="6321064"/>
            <a:ext cx="1935839" cy="152888"/>
          </a:xfrm>
          <a:prstGeom prst="rect">
            <a:avLst/>
          </a:prstGeom>
          <a:noFill/>
          <a:ln/>
        </p:spPr>
        <p:txBody>
          <a:bodyPr wrap="square" lIns="12700" tIns="12700" rIns="12700" bIns="12700" rtlCol="0" anchor="ctr"/>
          <a:lstStyle/>
          <a:p>
            <a:pPr algn="ctr"/>
            <a:r>
              <a:rPr lang="en-US" sz="900" b="1" dirty="0">
                <a:solidFill>
                  <a:srgbClr val="144016"/>
                </a:solidFill>
                <a:latin typeface="+mj-lt"/>
                <a:ea typeface="Calibri" pitchFamily="34" charset="-122"/>
                <a:cs typeface="Calibri" pitchFamily="34" charset="-120"/>
              </a:rPr>
              <a:t>PM2.5 Dominates</a:t>
            </a:r>
            <a:endParaRPr lang="en-US" sz="900" b="1" dirty="0">
              <a:latin typeface="+mj-lt"/>
            </a:endParaRPr>
          </a:p>
        </p:txBody>
      </p:sp>
      <p:sp>
        <p:nvSpPr>
          <p:cNvPr id="101" name="Text 99"/>
          <p:cNvSpPr/>
          <p:nvPr/>
        </p:nvSpPr>
        <p:spPr>
          <a:xfrm>
            <a:off x="1716024" y="6460054"/>
            <a:ext cx="2144268" cy="187635"/>
          </a:xfrm>
          <a:prstGeom prst="rect">
            <a:avLst/>
          </a:prstGeom>
          <a:noFill/>
          <a:ln/>
        </p:spPr>
        <p:txBody>
          <a:bodyPr wrap="square" lIns="12700" tIns="12700" rIns="12700" bIns="12700" rtlCol="0" anchor="ctr"/>
          <a:lstStyle/>
          <a:p>
            <a:pPr algn="ctr"/>
            <a:r>
              <a:rPr lang="en-US" sz="700" b="1" dirty="0">
                <a:solidFill>
                  <a:srgbClr val="144016"/>
                </a:solidFill>
                <a:latin typeface="+mj-lt"/>
                <a:ea typeface="Calibri" pitchFamily="34" charset="-122"/>
                <a:cs typeface="Calibri" pitchFamily="34" charset="-120"/>
              </a:rPr>
              <a:t>Lag1–3 = ~48.6%</a:t>
            </a:r>
            <a:endParaRPr lang="en-US" sz="700" b="1" dirty="0">
              <a:latin typeface="+mj-lt"/>
            </a:endParaRPr>
          </a:p>
          <a:p>
            <a:pPr algn="ctr"/>
            <a:r>
              <a:rPr lang="en-US" sz="700" b="1" dirty="0">
                <a:solidFill>
                  <a:srgbClr val="144016"/>
                </a:solidFill>
                <a:latin typeface="+mj-lt"/>
                <a:ea typeface="Calibri" pitchFamily="34" charset="-122"/>
                <a:cs typeface="Calibri" pitchFamily="34" charset="-120"/>
              </a:rPr>
              <a:t>Top single predictor</a:t>
            </a:r>
            <a:endParaRPr lang="en-US" sz="700" b="1" dirty="0">
              <a:latin typeface="+mj-lt"/>
            </a:endParaRPr>
          </a:p>
        </p:txBody>
      </p:sp>
      <p:sp>
        <p:nvSpPr>
          <p:cNvPr id="102" name="Shape 100"/>
          <p:cNvSpPr/>
          <p:nvPr/>
        </p:nvSpPr>
        <p:spPr>
          <a:xfrm>
            <a:off x="3928872" y="6275568"/>
            <a:ext cx="2144268" cy="475487"/>
          </a:xfrm>
          <a:prstGeom prst="roundRect">
            <a:avLst>
              <a:gd name="adj" fmla="val 15789"/>
            </a:avLst>
          </a:prstGeom>
          <a:solidFill>
            <a:srgbClr val="FFFFFF"/>
          </a:solidFill>
          <a:ln w="15240">
            <a:solidFill>
              <a:srgbClr val="2A7A2E"/>
            </a:solidFill>
            <a:prstDash val="solid"/>
          </a:ln>
        </p:spPr>
      </p:sp>
      <p:sp>
        <p:nvSpPr>
          <p:cNvPr id="103" name="Text 101"/>
          <p:cNvSpPr/>
          <p:nvPr/>
        </p:nvSpPr>
        <p:spPr>
          <a:xfrm>
            <a:off x="4007224" y="6254497"/>
            <a:ext cx="1881691" cy="205557"/>
          </a:xfrm>
          <a:prstGeom prst="rect">
            <a:avLst/>
          </a:prstGeom>
          <a:noFill/>
          <a:ln/>
        </p:spPr>
        <p:txBody>
          <a:bodyPr wrap="square" lIns="12700" tIns="12700" rIns="12700" bIns="12700" rtlCol="0" anchor="ctr"/>
          <a:lstStyle/>
          <a:p>
            <a:pPr algn="ctr"/>
            <a:r>
              <a:rPr lang="en-US" sz="900" b="1" dirty="0">
                <a:solidFill>
                  <a:srgbClr val="144016"/>
                </a:solidFill>
                <a:latin typeface="+mj-lt"/>
                <a:ea typeface="Calibri" pitchFamily="34" charset="-122"/>
                <a:cs typeface="Calibri" pitchFamily="34" charset="-120"/>
              </a:rPr>
              <a:t>Lag Decay</a:t>
            </a:r>
            <a:endParaRPr lang="en-US" sz="900" b="1" dirty="0">
              <a:latin typeface="+mj-lt"/>
            </a:endParaRPr>
          </a:p>
        </p:txBody>
      </p:sp>
      <p:sp>
        <p:nvSpPr>
          <p:cNvPr id="104" name="Text 102"/>
          <p:cNvSpPr/>
          <p:nvPr/>
        </p:nvSpPr>
        <p:spPr>
          <a:xfrm>
            <a:off x="3744647" y="6451408"/>
            <a:ext cx="2144268" cy="187635"/>
          </a:xfrm>
          <a:prstGeom prst="rect">
            <a:avLst/>
          </a:prstGeom>
          <a:noFill/>
          <a:ln/>
        </p:spPr>
        <p:txBody>
          <a:bodyPr wrap="square" lIns="12700" tIns="12700" rIns="12700" bIns="12700" rtlCol="0" anchor="ctr"/>
          <a:lstStyle/>
          <a:p>
            <a:pPr algn="ctr"/>
            <a:r>
              <a:rPr lang="en-US" sz="700" b="1" dirty="0">
                <a:solidFill>
                  <a:srgbClr val="144016"/>
                </a:solidFill>
                <a:latin typeface="+mj-lt"/>
                <a:ea typeface="Calibri" pitchFamily="34" charset="-122"/>
                <a:cs typeface="Calibri" pitchFamily="34" charset="-120"/>
              </a:rPr>
              <a:t>Lag1 &gt; Lag2 &gt; Lag3</a:t>
            </a:r>
            <a:endParaRPr lang="en-US" sz="700" b="1" dirty="0">
              <a:latin typeface="+mj-lt"/>
            </a:endParaRPr>
          </a:p>
          <a:p>
            <a:pPr algn="ctr"/>
            <a:r>
              <a:rPr lang="en-US" sz="700" b="1" dirty="0">
                <a:solidFill>
                  <a:srgbClr val="144016"/>
                </a:solidFill>
                <a:latin typeface="+mj-lt"/>
                <a:ea typeface="Calibri" pitchFamily="34" charset="-122"/>
                <a:cs typeface="Calibri" pitchFamily="34" charset="-120"/>
              </a:rPr>
              <a:t>Lag1 ~45% of total</a:t>
            </a:r>
            <a:endParaRPr lang="en-US" sz="700" b="1" dirty="0">
              <a:latin typeface="+mj-lt"/>
            </a:endParaRPr>
          </a:p>
        </p:txBody>
      </p:sp>
      <p:sp>
        <p:nvSpPr>
          <p:cNvPr id="105" name="Shape 103"/>
          <p:cNvSpPr/>
          <p:nvPr/>
        </p:nvSpPr>
        <p:spPr>
          <a:xfrm>
            <a:off x="6149626" y="6249126"/>
            <a:ext cx="2144268" cy="484133"/>
          </a:xfrm>
          <a:prstGeom prst="roundRect">
            <a:avLst>
              <a:gd name="adj" fmla="val 15789"/>
            </a:avLst>
          </a:prstGeom>
          <a:solidFill>
            <a:srgbClr val="FFFFFF"/>
          </a:solidFill>
          <a:ln w="15240">
            <a:solidFill>
              <a:srgbClr val="2A7A2E"/>
            </a:solidFill>
            <a:prstDash val="solid"/>
          </a:ln>
        </p:spPr>
      </p:sp>
      <p:sp>
        <p:nvSpPr>
          <p:cNvPr id="106" name="Text 104"/>
          <p:cNvSpPr/>
          <p:nvPr/>
        </p:nvSpPr>
        <p:spPr>
          <a:xfrm>
            <a:off x="6141720" y="6192820"/>
            <a:ext cx="2052828" cy="260285"/>
          </a:xfrm>
          <a:prstGeom prst="rect">
            <a:avLst/>
          </a:prstGeom>
          <a:noFill/>
          <a:ln/>
        </p:spPr>
        <p:txBody>
          <a:bodyPr wrap="square" lIns="12700" tIns="12700" rIns="12700" bIns="12700" rtlCol="0" anchor="ctr"/>
          <a:lstStyle/>
          <a:p>
            <a:pPr algn="ctr"/>
            <a:r>
              <a:rPr lang="en-US" sz="900" b="1" dirty="0">
                <a:solidFill>
                  <a:srgbClr val="144016"/>
                </a:solidFill>
                <a:latin typeface="+mj-lt"/>
                <a:ea typeface="Calibri" pitchFamily="34" charset="-122"/>
                <a:cs typeface="Calibri" pitchFamily="34" charset="-120"/>
              </a:rPr>
              <a:t>Pollutant Rank</a:t>
            </a:r>
            <a:endParaRPr lang="en-US" sz="900" b="1" dirty="0">
              <a:latin typeface="+mj-lt"/>
            </a:endParaRPr>
          </a:p>
        </p:txBody>
      </p:sp>
      <p:sp>
        <p:nvSpPr>
          <p:cNvPr id="107" name="Text 105"/>
          <p:cNvSpPr/>
          <p:nvPr/>
        </p:nvSpPr>
        <p:spPr>
          <a:xfrm>
            <a:off x="6140662" y="6451408"/>
            <a:ext cx="2144268" cy="187635"/>
          </a:xfrm>
          <a:prstGeom prst="rect">
            <a:avLst/>
          </a:prstGeom>
          <a:noFill/>
          <a:ln/>
        </p:spPr>
        <p:txBody>
          <a:bodyPr wrap="square" lIns="12700" tIns="12700" rIns="12700" bIns="12700" rtlCol="0" anchor="ctr"/>
          <a:lstStyle/>
          <a:p>
            <a:pPr algn="ctr"/>
            <a:r>
              <a:rPr lang="en-US" sz="700" b="1" dirty="0">
                <a:solidFill>
                  <a:srgbClr val="144016"/>
                </a:solidFill>
                <a:latin typeface="+mj-lt"/>
                <a:ea typeface="Calibri" pitchFamily="34" charset="-122"/>
                <a:cs typeface="Calibri" pitchFamily="34" charset="-120"/>
              </a:rPr>
              <a:t>CO 2nd · SO2 · NO2 · O3</a:t>
            </a:r>
            <a:endParaRPr lang="en-US" sz="700" b="1" dirty="0">
              <a:latin typeface="+mj-lt"/>
            </a:endParaRPr>
          </a:p>
          <a:p>
            <a:pPr algn="ctr"/>
            <a:r>
              <a:rPr lang="en-US" sz="700" b="1" dirty="0">
                <a:solidFill>
                  <a:srgbClr val="144016"/>
                </a:solidFill>
                <a:latin typeface="+mj-lt"/>
                <a:ea typeface="Calibri" pitchFamily="34" charset="-122"/>
                <a:cs typeface="Calibri" pitchFamily="34" charset="-120"/>
              </a:rPr>
              <a:t>Benzene = least important</a:t>
            </a:r>
            <a:endParaRPr lang="en-US" sz="700" b="1" dirty="0">
              <a:latin typeface="+mj-lt"/>
            </a:endParaRPr>
          </a:p>
        </p:txBody>
      </p:sp>
      <p:sp>
        <p:nvSpPr>
          <p:cNvPr id="108" name="Shape 106"/>
          <p:cNvSpPr/>
          <p:nvPr/>
        </p:nvSpPr>
        <p:spPr>
          <a:xfrm>
            <a:off x="8340869" y="6254496"/>
            <a:ext cx="2107692" cy="475488"/>
          </a:xfrm>
          <a:prstGeom prst="roundRect">
            <a:avLst>
              <a:gd name="adj" fmla="val 15789"/>
            </a:avLst>
          </a:prstGeom>
          <a:solidFill>
            <a:srgbClr val="FFFFFF"/>
          </a:solidFill>
          <a:ln w="15240">
            <a:solidFill>
              <a:srgbClr val="2A7A2E"/>
            </a:solidFill>
            <a:prstDash val="solid"/>
          </a:ln>
        </p:spPr>
      </p:sp>
      <p:sp>
        <p:nvSpPr>
          <p:cNvPr id="109" name="Text 107"/>
          <p:cNvSpPr/>
          <p:nvPr/>
        </p:nvSpPr>
        <p:spPr>
          <a:xfrm>
            <a:off x="8284930" y="6254496"/>
            <a:ext cx="2145326" cy="176067"/>
          </a:xfrm>
          <a:prstGeom prst="rect">
            <a:avLst/>
          </a:prstGeom>
          <a:noFill/>
          <a:ln/>
        </p:spPr>
        <p:txBody>
          <a:bodyPr wrap="square" lIns="12700" tIns="12700" rIns="12700" bIns="12700" rtlCol="0" anchor="ctr"/>
          <a:lstStyle/>
          <a:p>
            <a:pPr algn="ctr"/>
            <a:r>
              <a:rPr lang="en-US" sz="900" b="1" dirty="0">
                <a:solidFill>
                  <a:srgbClr val="144016"/>
                </a:solidFill>
                <a:latin typeface="+mj-lt"/>
                <a:ea typeface="Calibri" pitchFamily="34" charset="-122"/>
                <a:cs typeface="Calibri" pitchFamily="34" charset="-120"/>
              </a:rPr>
              <a:t>Cumulative Coverage</a:t>
            </a:r>
            <a:endParaRPr lang="en-US" sz="900" b="1" dirty="0">
              <a:latin typeface="+mj-lt"/>
            </a:endParaRPr>
          </a:p>
        </p:txBody>
      </p:sp>
      <p:sp>
        <p:nvSpPr>
          <p:cNvPr id="110" name="Text 108"/>
          <p:cNvSpPr/>
          <p:nvPr/>
        </p:nvSpPr>
        <p:spPr>
          <a:xfrm>
            <a:off x="8329825" y="6473953"/>
            <a:ext cx="2144268" cy="93817"/>
          </a:xfrm>
          <a:prstGeom prst="rect">
            <a:avLst/>
          </a:prstGeom>
          <a:noFill/>
          <a:ln/>
        </p:spPr>
        <p:txBody>
          <a:bodyPr wrap="square" lIns="12700" tIns="12700" rIns="12700" bIns="12700" rtlCol="0" anchor="ctr"/>
          <a:lstStyle/>
          <a:p>
            <a:pPr algn="ctr"/>
            <a:r>
              <a:rPr lang="en-US" sz="700" b="1" dirty="0">
                <a:solidFill>
                  <a:srgbClr val="144016"/>
                </a:solidFill>
                <a:latin typeface="+mj-lt"/>
                <a:ea typeface="Calibri" pitchFamily="34" charset="-122"/>
                <a:cs typeface="Calibri" pitchFamily="34" charset="-120"/>
              </a:rPr>
              <a:t>Top 3 → ~50%</a:t>
            </a:r>
            <a:endParaRPr lang="en-US" sz="700" b="1" dirty="0">
              <a:latin typeface="+mj-lt"/>
            </a:endParaRPr>
          </a:p>
          <a:p>
            <a:pPr algn="ctr"/>
            <a:r>
              <a:rPr lang="en-US" sz="700" b="1" dirty="0">
                <a:solidFill>
                  <a:srgbClr val="144016"/>
                </a:solidFill>
                <a:latin typeface="+mj-lt"/>
                <a:ea typeface="Calibri" pitchFamily="34" charset="-122"/>
                <a:cs typeface="Calibri" pitchFamily="34" charset="-120"/>
              </a:rPr>
              <a:t>Top 10 → ~75–80%</a:t>
            </a:r>
            <a:endParaRPr lang="en-US" sz="700" b="1" dirty="0">
              <a:latin typeface="+mj-lt"/>
            </a:endParaRPr>
          </a:p>
        </p:txBody>
      </p:sp>
      <p:cxnSp>
        <p:nvCxnSpPr>
          <p:cNvPr id="115" name="Straight Arrow Connector 114">
            <a:extLst>
              <a:ext uri="{FF2B5EF4-FFF2-40B4-BE49-F238E27FC236}">
                <a16:creationId xmlns:a16="http://schemas.microsoft.com/office/drawing/2014/main" id="{E44FCD3C-D21D-B500-BD1D-07099EBFC357}"/>
              </a:ext>
            </a:extLst>
          </p:cNvPr>
          <p:cNvCxnSpPr>
            <a:cxnSpLocks/>
            <a:stCxn id="4" idx="2"/>
            <a:endCxn id="23" idx="0"/>
          </p:cNvCxnSpPr>
          <p:nvPr/>
        </p:nvCxnSpPr>
        <p:spPr>
          <a:xfrm>
            <a:off x="6112005" y="1133846"/>
            <a:ext cx="2288" cy="24692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7" name="Straight Arrow Connector 116">
            <a:extLst>
              <a:ext uri="{FF2B5EF4-FFF2-40B4-BE49-F238E27FC236}">
                <a16:creationId xmlns:a16="http://schemas.microsoft.com/office/drawing/2014/main" id="{7EA43C26-4A03-C2E1-FD29-2640CC438791}"/>
              </a:ext>
            </a:extLst>
          </p:cNvPr>
          <p:cNvCxnSpPr>
            <a:stCxn id="22" idx="2"/>
            <a:endCxn id="38" idx="0"/>
          </p:cNvCxnSpPr>
          <p:nvPr/>
        </p:nvCxnSpPr>
        <p:spPr>
          <a:xfrm>
            <a:off x="6096000" y="2084471"/>
            <a:ext cx="0" cy="2654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Straight Arrow Connector 118">
            <a:extLst>
              <a:ext uri="{FF2B5EF4-FFF2-40B4-BE49-F238E27FC236}">
                <a16:creationId xmlns:a16="http://schemas.microsoft.com/office/drawing/2014/main" id="{B82342E7-B055-F5A6-8ECD-D13C0F10A40D}"/>
              </a:ext>
            </a:extLst>
          </p:cNvPr>
          <p:cNvCxnSpPr>
            <a:stCxn id="37" idx="2"/>
            <a:endCxn id="53" idx="0"/>
          </p:cNvCxnSpPr>
          <p:nvPr/>
        </p:nvCxnSpPr>
        <p:spPr>
          <a:xfrm>
            <a:off x="6093938" y="3091629"/>
            <a:ext cx="2062" cy="2292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1" name="Straight Arrow Connector 120">
            <a:extLst>
              <a:ext uri="{FF2B5EF4-FFF2-40B4-BE49-F238E27FC236}">
                <a16:creationId xmlns:a16="http://schemas.microsoft.com/office/drawing/2014/main" id="{DC0F9751-4467-8E46-DEE6-C8E48C7123AE}"/>
              </a:ext>
            </a:extLst>
          </p:cNvPr>
          <p:cNvCxnSpPr>
            <a:stCxn id="62" idx="2"/>
            <a:endCxn id="70" idx="0"/>
          </p:cNvCxnSpPr>
          <p:nvPr/>
        </p:nvCxnSpPr>
        <p:spPr>
          <a:xfrm>
            <a:off x="6064014" y="3986496"/>
            <a:ext cx="15241" cy="21569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3" name="Straight Arrow Connector 122">
            <a:extLst>
              <a:ext uri="{FF2B5EF4-FFF2-40B4-BE49-F238E27FC236}">
                <a16:creationId xmlns:a16="http://schemas.microsoft.com/office/drawing/2014/main" id="{85E89848-527A-8BD2-A77D-E1AED26C636F}"/>
              </a:ext>
            </a:extLst>
          </p:cNvPr>
          <p:cNvCxnSpPr>
            <a:cxnSpLocks/>
            <a:stCxn id="75" idx="2"/>
            <a:endCxn id="83" idx="0"/>
          </p:cNvCxnSpPr>
          <p:nvPr/>
        </p:nvCxnSpPr>
        <p:spPr>
          <a:xfrm>
            <a:off x="6073140" y="4932409"/>
            <a:ext cx="0" cy="16259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3" name="Straight Arrow Connector 132">
            <a:extLst>
              <a:ext uri="{FF2B5EF4-FFF2-40B4-BE49-F238E27FC236}">
                <a16:creationId xmlns:a16="http://schemas.microsoft.com/office/drawing/2014/main" id="{2DEC9AFF-53D6-C463-D99D-D9E22C8D29DA}"/>
              </a:ext>
            </a:extLst>
          </p:cNvPr>
          <p:cNvCxnSpPr/>
          <p:nvPr/>
        </p:nvCxnSpPr>
        <p:spPr>
          <a:xfrm>
            <a:off x="6266329" y="5910706"/>
            <a:ext cx="0" cy="1517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75C8B-3679-60AD-B9A1-5D611CB699F3}"/>
              </a:ext>
            </a:extLst>
          </p:cNvPr>
          <p:cNvSpPr>
            <a:spLocks noGrp="1"/>
          </p:cNvSpPr>
          <p:nvPr>
            <p:ph type="title"/>
          </p:nvPr>
        </p:nvSpPr>
        <p:spPr>
          <a:xfrm>
            <a:off x="0" y="137650"/>
            <a:ext cx="12192000" cy="747253"/>
          </a:xfrm>
        </p:spPr>
        <p:txBody>
          <a:bodyPr>
            <a:noAutofit/>
          </a:bodyPr>
          <a:lstStyle/>
          <a:p>
            <a:pPr algn="ctr"/>
            <a:r>
              <a:rPr lang="en-US" sz="4000" dirty="0">
                <a:latin typeface="Times New Roman" panose="02020603050405020304" pitchFamily="18" charset="0"/>
                <a:cs typeface="Times New Roman" panose="02020603050405020304" pitchFamily="18" charset="0"/>
              </a:rPr>
              <a:t>DATASET OVERVIEW</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ECCDBE4-0D72-A584-FFB5-718646C5DB1F}"/>
              </a:ext>
            </a:extLst>
          </p:cNvPr>
          <p:cNvSpPr>
            <a:spLocks noGrp="1"/>
          </p:cNvSpPr>
          <p:nvPr>
            <p:ph type="body" idx="1"/>
          </p:nvPr>
        </p:nvSpPr>
        <p:spPr>
          <a:xfrm>
            <a:off x="0" y="816077"/>
            <a:ext cx="5997575" cy="521110"/>
          </a:xfrm>
        </p:spPr>
        <p:txBody>
          <a:bodyPr>
            <a:normAutofit/>
          </a:bodyPr>
          <a:lstStyle/>
          <a:p>
            <a:pPr algn="ctr"/>
            <a:r>
              <a:rPr lang="en-US" b="0" dirty="0">
                <a:solidFill>
                  <a:schemeClr val="tx1"/>
                </a:solidFill>
                <a:latin typeface="Times New Roman" panose="02020603050405020304" pitchFamily="18" charset="0"/>
                <a:cs typeface="Times New Roman" panose="02020603050405020304" pitchFamily="18" charset="0"/>
              </a:rPr>
              <a:t>SOURCE FILES</a:t>
            </a:r>
            <a:endParaRPr lang="en-IN" b="0" dirty="0">
              <a:solidFill>
                <a:schemeClr val="tx1"/>
              </a:solidFill>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849945A8-38DD-8BE4-3544-64579897F483}"/>
              </a:ext>
            </a:extLst>
          </p:cNvPr>
          <p:cNvGraphicFramePr>
            <a:graphicFrameLocks noGrp="1"/>
          </p:cNvGraphicFramePr>
          <p:nvPr>
            <p:ph sz="half" idx="2"/>
            <p:extLst>
              <p:ext uri="{D42A27DB-BD31-4B8C-83A1-F6EECF244321}">
                <p14:modId xmlns:p14="http://schemas.microsoft.com/office/powerpoint/2010/main" val="3101328756"/>
              </p:ext>
            </p:extLst>
          </p:nvPr>
        </p:nvGraphicFramePr>
        <p:xfrm>
          <a:off x="265471" y="1504336"/>
          <a:ext cx="5732102" cy="4247538"/>
        </p:xfrm>
        <a:graphic>
          <a:graphicData uri="http://schemas.openxmlformats.org/drawingml/2006/table">
            <a:tbl>
              <a:tblPr firstRow="1" bandRow="1">
                <a:tableStyleId>{7DF18680-E054-41AD-8BC1-D1AEF772440D}</a:tableStyleId>
              </a:tblPr>
              <a:tblGrid>
                <a:gridCol w="2866051">
                  <a:extLst>
                    <a:ext uri="{9D8B030D-6E8A-4147-A177-3AD203B41FA5}">
                      <a16:colId xmlns:a16="http://schemas.microsoft.com/office/drawing/2014/main" val="459683364"/>
                    </a:ext>
                  </a:extLst>
                </a:gridCol>
                <a:gridCol w="2866051">
                  <a:extLst>
                    <a:ext uri="{9D8B030D-6E8A-4147-A177-3AD203B41FA5}">
                      <a16:colId xmlns:a16="http://schemas.microsoft.com/office/drawing/2014/main" val="3934726567"/>
                    </a:ext>
                  </a:extLst>
                </a:gridCol>
              </a:tblGrid>
              <a:tr h="628819">
                <a:tc>
                  <a:txBody>
                    <a:bodyPr/>
                    <a:lstStyle/>
                    <a:p>
                      <a:pPr algn="ctr"/>
                      <a:r>
                        <a:rPr lang="en-US" dirty="0">
                          <a:latin typeface="Times New Roman" panose="02020603050405020304" pitchFamily="18" charset="0"/>
                          <a:cs typeface="Times New Roman" panose="02020603050405020304" pitchFamily="18" charset="0"/>
                        </a:rPr>
                        <a:t>Level</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Content </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1208880"/>
                  </a:ext>
                </a:extLst>
              </a:tr>
              <a:tr h="787027">
                <a:tc>
                  <a:txBody>
                    <a:bodyPr/>
                    <a:lstStyle/>
                    <a:p>
                      <a:pPr algn="ctr"/>
                      <a:r>
                        <a:rPr lang="en-US" dirty="0" err="1">
                          <a:latin typeface="Times New Roman" panose="02020603050405020304" pitchFamily="18" charset="0"/>
                          <a:cs typeface="Times New Roman" panose="02020603050405020304" pitchFamily="18" charset="0"/>
                        </a:rPr>
                        <a:t>city_day</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Daily AQI + Pollutants per city</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2154990"/>
                  </a:ext>
                </a:extLst>
              </a:tr>
              <a:tr h="787027">
                <a:tc>
                  <a:txBody>
                    <a:bodyPr/>
                    <a:lstStyle/>
                    <a:p>
                      <a:pPr algn="ctr"/>
                      <a:r>
                        <a:rPr lang="en-US" dirty="0" err="1">
                          <a:latin typeface="Times New Roman" panose="02020603050405020304" pitchFamily="18" charset="0"/>
                          <a:cs typeface="Times New Roman" panose="02020603050405020304" pitchFamily="18" charset="0"/>
                        </a:rPr>
                        <a:t>city_hour</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Hourly pollutants </a:t>
                      </a:r>
                      <a:r>
                        <a:rPr lang="en-IN" dirty="0">
                          <a:latin typeface="Times New Roman" panose="02020603050405020304" pitchFamily="18" charset="0"/>
                          <a:cs typeface="Times New Roman" panose="02020603050405020304" pitchFamily="18" charset="0"/>
                        </a:rPr>
                        <a:t>aggregated to daily </a:t>
                      </a:r>
                      <a:r>
                        <a:rPr lang="en-IN" dirty="0" err="1">
                          <a:latin typeface="Times New Roman" panose="02020603050405020304" pitchFamily="18" charset="0"/>
                          <a:cs typeface="Times New Roman" panose="02020603050405020304" pitchFamily="18" charset="0"/>
                        </a:rPr>
                        <a:t>avg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2328495"/>
                  </a:ext>
                </a:extLst>
              </a:tr>
              <a:tr h="628819">
                <a:tc>
                  <a:txBody>
                    <a:bodyPr/>
                    <a:lstStyle/>
                    <a:p>
                      <a:pPr algn="ctr"/>
                      <a:r>
                        <a:rPr lang="en-US" dirty="0" err="1">
                          <a:latin typeface="Times New Roman" panose="02020603050405020304" pitchFamily="18" charset="0"/>
                          <a:cs typeface="Times New Roman" panose="02020603050405020304" pitchFamily="18" charset="0"/>
                        </a:rPr>
                        <a:t>station_day</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Daily pollutants per station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5608799"/>
                  </a:ext>
                </a:extLst>
              </a:tr>
              <a:tr h="787027">
                <a:tc>
                  <a:txBody>
                    <a:bodyPr/>
                    <a:lstStyle/>
                    <a:p>
                      <a:pPr algn="ctr"/>
                      <a:r>
                        <a:rPr lang="en-US" dirty="0" err="1">
                          <a:latin typeface="Times New Roman" panose="02020603050405020304" pitchFamily="18" charset="0"/>
                          <a:cs typeface="Times New Roman" panose="02020603050405020304" pitchFamily="18" charset="0"/>
                        </a:rPr>
                        <a:t>station_hour</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Hourly pollutants </a:t>
                      </a:r>
                      <a:r>
                        <a:rPr lang="en-IN" dirty="0">
                          <a:latin typeface="Times New Roman" panose="02020603050405020304" pitchFamily="18" charset="0"/>
                          <a:cs typeface="Times New Roman" panose="02020603050405020304" pitchFamily="18" charset="0"/>
                        </a:rPr>
                        <a:t>aggregated to daily </a:t>
                      </a:r>
                      <a:r>
                        <a:rPr lang="en-IN" dirty="0" err="1">
                          <a:latin typeface="Times New Roman" panose="02020603050405020304" pitchFamily="18" charset="0"/>
                          <a:cs typeface="Times New Roman" panose="02020603050405020304" pitchFamily="18" charset="0"/>
                        </a:rPr>
                        <a:t>avg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9298374"/>
                  </a:ext>
                </a:extLst>
              </a:tr>
              <a:tr h="628819">
                <a:tc>
                  <a:txBody>
                    <a:bodyPr/>
                    <a:lstStyle/>
                    <a:p>
                      <a:pPr algn="ctr"/>
                      <a:r>
                        <a:rPr lang="en-US" dirty="0">
                          <a:latin typeface="Times New Roman" panose="02020603050405020304" pitchFamily="18" charset="0"/>
                          <a:cs typeface="Times New Roman" panose="02020603050405020304" pitchFamily="18" charset="0"/>
                        </a:rPr>
                        <a:t>stations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a:latin typeface="Times New Roman" panose="02020603050405020304" pitchFamily="18" charset="0"/>
                          <a:cs typeface="Times New Roman" panose="02020603050405020304" pitchFamily="18" charset="0"/>
                        </a:rPr>
                        <a:t>StationID</a:t>
                      </a:r>
                      <a:r>
                        <a:rPr lang="en-US" dirty="0">
                          <a:latin typeface="Times New Roman" panose="02020603050405020304" pitchFamily="18" charset="0"/>
                          <a:cs typeface="Times New Roman" panose="02020603050405020304" pitchFamily="18" charset="0"/>
                        </a:rPr>
                        <a:t>-City mapping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0907193"/>
                  </a:ext>
                </a:extLst>
              </a:tr>
            </a:tbl>
          </a:graphicData>
        </a:graphic>
      </p:graphicFrame>
      <p:sp>
        <p:nvSpPr>
          <p:cNvPr id="5" name="Text Placeholder 4">
            <a:extLst>
              <a:ext uri="{FF2B5EF4-FFF2-40B4-BE49-F238E27FC236}">
                <a16:creationId xmlns:a16="http://schemas.microsoft.com/office/drawing/2014/main" id="{AE6A3F03-C190-0C18-A9E6-275C3DD4720E}"/>
              </a:ext>
            </a:extLst>
          </p:cNvPr>
          <p:cNvSpPr>
            <a:spLocks noGrp="1"/>
          </p:cNvSpPr>
          <p:nvPr>
            <p:ph type="body" sz="quarter" idx="3"/>
          </p:nvPr>
        </p:nvSpPr>
        <p:spPr>
          <a:xfrm>
            <a:off x="6172200" y="884903"/>
            <a:ext cx="6019800" cy="452284"/>
          </a:xfrm>
        </p:spPr>
        <p:txBody>
          <a:bodyPr>
            <a:normAutofit/>
          </a:bodyPr>
          <a:lstStyle/>
          <a:p>
            <a:pPr algn="ctr"/>
            <a:r>
              <a:rPr lang="en-US" b="0" dirty="0">
                <a:solidFill>
                  <a:schemeClr val="tx1"/>
                </a:solidFill>
                <a:latin typeface="Times New Roman" panose="02020603050405020304" pitchFamily="18" charset="0"/>
                <a:cs typeface="Times New Roman" panose="02020603050405020304" pitchFamily="18" charset="0"/>
              </a:rPr>
              <a:t>FINAL INTEGRATED DATASET</a:t>
            </a:r>
            <a:endParaRPr lang="en-IN" b="0" dirty="0">
              <a:solidFill>
                <a:schemeClr val="tx1"/>
              </a:solidFill>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8FE0116B-E7CF-A2E8-09ED-695D8C6BF093}"/>
              </a:ext>
            </a:extLst>
          </p:cNvPr>
          <p:cNvGraphicFramePr>
            <a:graphicFrameLocks noGrp="1"/>
          </p:cNvGraphicFramePr>
          <p:nvPr>
            <p:ph sz="quarter" idx="4"/>
            <p:extLst>
              <p:ext uri="{D42A27DB-BD31-4B8C-83A1-F6EECF244321}">
                <p14:modId xmlns:p14="http://schemas.microsoft.com/office/powerpoint/2010/main" val="830219688"/>
              </p:ext>
            </p:extLst>
          </p:nvPr>
        </p:nvGraphicFramePr>
        <p:xfrm>
          <a:off x="6518787" y="1504335"/>
          <a:ext cx="5289756" cy="5076325"/>
        </p:xfrm>
        <a:graphic>
          <a:graphicData uri="http://schemas.openxmlformats.org/drawingml/2006/table">
            <a:tbl>
              <a:tblPr firstRow="1" bandRow="1">
                <a:tableStyleId>{7DF18680-E054-41AD-8BC1-D1AEF772440D}</a:tableStyleId>
              </a:tblPr>
              <a:tblGrid>
                <a:gridCol w="2644878">
                  <a:extLst>
                    <a:ext uri="{9D8B030D-6E8A-4147-A177-3AD203B41FA5}">
                      <a16:colId xmlns:a16="http://schemas.microsoft.com/office/drawing/2014/main" val="4233058231"/>
                    </a:ext>
                  </a:extLst>
                </a:gridCol>
                <a:gridCol w="2644878">
                  <a:extLst>
                    <a:ext uri="{9D8B030D-6E8A-4147-A177-3AD203B41FA5}">
                      <a16:colId xmlns:a16="http://schemas.microsoft.com/office/drawing/2014/main" val="2064820097"/>
                    </a:ext>
                  </a:extLst>
                </a:gridCol>
              </a:tblGrid>
              <a:tr h="448337">
                <a:tc>
                  <a:txBody>
                    <a:bodyPr/>
                    <a:lstStyle/>
                    <a:p>
                      <a:pPr algn="ctr"/>
                      <a:r>
                        <a:rPr lang="en-US" dirty="0">
                          <a:latin typeface="Times New Roman" panose="02020603050405020304" pitchFamily="18" charset="0"/>
                          <a:cs typeface="Times New Roman" panose="02020603050405020304" pitchFamily="18" charset="0"/>
                        </a:rPr>
                        <a:t>Parameters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Details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7396529"/>
                  </a:ext>
                </a:extLst>
              </a:tr>
              <a:tr h="448337">
                <a:tc>
                  <a:txBody>
                    <a:bodyPr/>
                    <a:lstStyle/>
                    <a:p>
                      <a:pPr algn="ctr"/>
                      <a:r>
                        <a:rPr lang="en-US" dirty="0">
                          <a:latin typeface="Times New Roman" panose="02020603050405020304" pitchFamily="18" charset="0"/>
                          <a:cs typeface="Times New Roman" panose="02020603050405020304" pitchFamily="18" charset="0"/>
                        </a:rPr>
                        <a:t>Total Observations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29,531 city-day records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500079"/>
                  </a:ext>
                </a:extLst>
              </a:tr>
              <a:tr h="448337">
                <a:tc>
                  <a:txBody>
                    <a:bodyPr/>
                    <a:lstStyle/>
                    <a:p>
                      <a:pPr algn="ctr"/>
                      <a:r>
                        <a:rPr lang="en-US" dirty="0">
                          <a:latin typeface="Times New Roman" panose="02020603050405020304" pitchFamily="18" charset="0"/>
                          <a:cs typeface="Times New Roman" panose="02020603050405020304" pitchFamily="18" charset="0"/>
                        </a:rPr>
                        <a:t>Time Period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Jan 2015-July 2020</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790393"/>
                  </a:ext>
                </a:extLst>
              </a:tr>
              <a:tr h="448337">
                <a:tc>
                  <a:txBody>
                    <a:bodyPr/>
                    <a:lstStyle/>
                    <a:p>
                      <a:pPr algn="ctr"/>
                      <a:r>
                        <a:rPr lang="en-US" dirty="0">
                          <a:latin typeface="Times New Roman" panose="02020603050405020304" pitchFamily="18" charset="0"/>
                          <a:cs typeface="Times New Roman" panose="02020603050405020304" pitchFamily="18" charset="0"/>
                        </a:rPr>
                        <a:t>Cities Covered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26 Indian Cities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4880846"/>
                  </a:ext>
                </a:extLst>
              </a:tr>
              <a:tr h="617735">
                <a:tc>
                  <a:txBody>
                    <a:bodyPr/>
                    <a:lstStyle/>
                    <a:p>
                      <a:pPr algn="ctr"/>
                      <a:r>
                        <a:rPr lang="en-US" dirty="0">
                          <a:latin typeface="Times New Roman" panose="02020603050405020304" pitchFamily="18" charset="0"/>
                          <a:cs typeface="Times New Roman" panose="02020603050405020304" pitchFamily="18" charset="0"/>
                        </a:rPr>
                        <a:t>Total Features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31(Before Feature Engineering)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549024"/>
                  </a:ext>
                </a:extLst>
              </a:tr>
              <a:tr h="617735">
                <a:tc>
                  <a:txBody>
                    <a:bodyPr/>
                    <a:lstStyle/>
                    <a:p>
                      <a:pPr algn="ctr"/>
                      <a:r>
                        <a:rPr lang="en-US" dirty="0">
                          <a:latin typeface="Times New Roman" panose="02020603050405020304" pitchFamily="18" charset="0"/>
                          <a:cs typeface="Times New Roman" panose="02020603050405020304" pitchFamily="18" charset="0"/>
                        </a:rPr>
                        <a:t>Final Pollutants List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7 — PM2.5, NO₂, NH₃, CO, SO₂, O₃, Benzene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558225"/>
                  </a:ext>
                </a:extLst>
              </a:tr>
              <a:tr h="448337">
                <a:tc>
                  <a:txBody>
                    <a:bodyPr/>
                    <a:lstStyle/>
                    <a:p>
                      <a:pPr algn="ctr"/>
                      <a:r>
                        <a:rPr lang="en-IN" dirty="0">
                          <a:latin typeface="Times New Roman" panose="02020603050405020304" pitchFamily="18" charset="0"/>
                          <a:cs typeface="Times New Roman" panose="02020603050405020304" pitchFamily="18" charset="0"/>
                        </a:rPr>
                        <a:t>Lag Features Created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dirty="0">
                          <a:latin typeface="Times New Roman" panose="02020603050405020304" pitchFamily="18" charset="0"/>
                          <a:cs typeface="Times New Roman" panose="02020603050405020304" pitchFamily="18" charset="0"/>
                        </a:rPr>
                        <a:t>21 (7 </a:t>
                      </a:r>
                      <a:r>
                        <a:rPr lang="fr-FR" dirty="0" err="1">
                          <a:latin typeface="Times New Roman" panose="02020603050405020304" pitchFamily="18" charset="0"/>
                          <a:cs typeface="Times New Roman" panose="02020603050405020304" pitchFamily="18" charset="0"/>
                        </a:rPr>
                        <a:t>pollutants</a:t>
                      </a:r>
                      <a:r>
                        <a:rPr lang="fr-FR" dirty="0">
                          <a:latin typeface="Times New Roman" panose="02020603050405020304" pitchFamily="18" charset="0"/>
                          <a:cs typeface="Times New Roman" panose="02020603050405020304" pitchFamily="18" charset="0"/>
                        </a:rPr>
                        <a:t> × 3 lags)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701492"/>
                  </a:ext>
                </a:extLst>
              </a:tr>
              <a:tr h="448337">
                <a:tc>
                  <a:txBody>
                    <a:bodyPr/>
                    <a:lstStyle/>
                    <a:p>
                      <a:pPr algn="ctr"/>
                      <a:r>
                        <a:rPr lang="en-IN" dirty="0">
                          <a:latin typeface="Times New Roman" panose="02020603050405020304" pitchFamily="18" charset="0"/>
                          <a:cs typeface="Times New Roman" panose="02020603050405020304" pitchFamily="18" charset="0"/>
                        </a:rPr>
                        <a:t>Missing 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0 (After Median Computation)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995183"/>
                  </a:ext>
                </a:extLst>
              </a:tr>
              <a:tr h="882480">
                <a:tc>
                  <a:txBody>
                    <a:bodyPr/>
                    <a:lstStyle/>
                    <a:p>
                      <a:pPr algn="ctr"/>
                      <a:r>
                        <a:rPr lang="en-IN" dirty="0">
                          <a:latin typeface="Times New Roman" panose="02020603050405020304" pitchFamily="18" charset="0"/>
                          <a:cs typeface="Times New Roman" panose="02020603050405020304" pitchFamily="18" charset="0"/>
                        </a:rPr>
                        <a:t>Target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Health Risk — Binary (0 = Low Risk, 1 = High Risk)</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9473371"/>
                  </a:ext>
                </a:extLst>
              </a:tr>
            </a:tbl>
          </a:graphicData>
        </a:graphic>
      </p:graphicFrame>
    </p:spTree>
    <p:extLst>
      <p:ext uri="{BB962C8B-B14F-4D97-AF65-F5344CB8AC3E}">
        <p14:creationId xmlns:p14="http://schemas.microsoft.com/office/powerpoint/2010/main" val="2593978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4656B-2F55-EE7A-D002-FDF9A7933E83}"/>
              </a:ext>
            </a:extLst>
          </p:cNvPr>
          <p:cNvSpPr>
            <a:spLocks noGrp="1"/>
          </p:cNvSpPr>
          <p:nvPr>
            <p:ph type="title"/>
          </p:nvPr>
        </p:nvSpPr>
        <p:spPr>
          <a:xfrm>
            <a:off x="838200" y="128804"/>
            <a:ext cx="10515600" cy="883919"/>
          </a:xfrm>
        </p:spPr>
        <p:txBody>
          <a:bodyPr>
            <a:normAutofit/>
          </a:bodyPr>
          <a:lstStyle/>
          <a:p>
            <a:pPr algn="ctr"/>
            <a:r>
              <a:rPr lang="en-US" sz="4000" dirty="0">
                <a:latin typeface="Times New Roman" panose="02020603050405020304" pitchFamily="18" charset="0"/>
                <a:cs typeface="Times New Roman" panose="02020603050405020304" pitchFamily="18" charset="0"/>
              </a:rPr>
              <a:t>DATA PREPROCESSING</a:t>
            </a:r>
            <a:endParaRPr lang="en-IN" sz="40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3B061D3A-3F60-EED6-153E-229A247607A3}"/>
              </a:ext>
            </a:extLst>
          </p:cNvPr>
          <p:cNvGraphicFramePr>
            <a:graphicFrameLocks noGrp="1"/>
          </p:cNvGraphicFramePr>
          <p:nvPr>
            <p:ph idx="1"/>
            <p:extLst>
              <p:ext uri="{D42A27DB-BD31-4B8C-83A1-F6EECF244321}">
                <p14:modId xmlns:p14="http://schemas.microsoft.com/office/powerpoint/2010/main" val="4002678149"/>
              </p:ext>
            </p:extLst>
          </p:nvPr>
        </p:nvGraphicFramePr>
        <p:xfrm>
          <a:off x="294968" y="1140542"/>
          <a:ext cx="11425084" cy="5368412"/>
        </p:xfrm>
        <a:graphic>
          <a:graphicData uri="http://schemas.openxmlformats.org/drawingml/2006/table">
            <a:tbl>
              <a:tblPr firstRow="1" bandRow="1">
                <a:tableStyleId>{7DF18680-E054-41AD-8BC1-D1AEF772440D}</a:tableStyleId>
              </a:tblPr>
              <a:tblGrid>
                <a:gridCol w="2870959">
                  <a:extLst>
                    <a:ext uri="{9D8B030D-6E8A-4147-A177-3AD203B41FA5}">
                      <a16:colId xmlns:a16="http://schemas.microsoft.com/office/drawing/2014/main" val="620432567"/>
                    </a:ext>
                  </a:extLst>
                </a:gridCol>
                <a:gridCol w="2841583">
                  <a:extLst>
                    <a:ext uri="{9D8B030D-6E8A-4147-A177-3AD203B41FA5}">
                      <a16:colId xmlns:a16="http://schemas.microsoft.com/office/drawing/2014/main" val="2430900673"/>
                    </a:ext>
                  </a:extLst>
                </a:gridCol>
                <a:gridCol w="2852266">
                  <a:extLst>
                    <a:ext uri="{9D8B030D-6E8A-4147-A177-3AD203B41FA5}">
                      <a16:colId xmlns:a16="http://schemas.microsoft.com/office/drawing/2014/main" val="3012409124"/>
                    </a:ext>
                  </a:extLst>
                </a:gridCol>
                <a:gridCol w="2860276">
                  <a:extLst>
                    <a:ext uri="{9D8B030D-6E8A-4147-A177-3AD203B41FA5}">
                      <a16:colId xmlns:a16="http://schemas.microsoft.com/office/drawing/2014/main" val="3568140891"/>
                    </a:ext>
                  </a:extLst>
                </a:gridCol>
              </a:tblGrid>
              <a:tr h="370235">
                <a:tc>
                  <a:txBody>
                    <a:bodyPr/>
                    <a:lstStyle/>
                    <a:p>
                      <a:pPr algn="ctr"/>
                      <a:r>
                        <a:rPr lang="en-US" dirty="0">
                          <a:latin typeface="Times New Roman" panose="02020603050405020304" pitchFamily="18" charset="0"/>
                          <a:cs typeface="Times New Roman" panose="02020603050405020304" pitchFamily="18" charset="0"/>
                        </a:rPr>
                        <a:t>Parameter</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Before</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After</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Method Used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9413160"/>
                  </a:ext>
                </a:extLst>
              </a:tr>
              <a:tr h="6479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Multi-Source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4 separate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Single unified dataset — 29,531 rows × 31 features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4-way merge on </a:t>
                      </a:r>
                      <a:r>
                        <a:rPr lang="en-US" sz="1800" kern="1200" dirty="0">
                          <a:solidFill>
                            <a:schemeClr val="dk1"/>
                          </a:solidFill>
                          <a:latin typeface="Times New Roman" panose="02020603050405020304" pitchFamily="18" charset="0"/>
                          <a:cs typeface="Times New Roman" panose="02020603050405020304" pitchFamily="18" charset="0"/>
                        </a:rPr>
                        <a:t>[City, Date]</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9695428"/>
                  </a:ext>
                </a:extLst>
              </a:tr>
              <a:tr h="370235">
                <a:tc>
                  <a:txBody>
                    <a:bodyPr/>
                    <a:lstStyle/>
                    <a:p>
                      <a:pPr algn="ctr"/>
                      <a:r>
                        <a:rPr lang="en-IN" dirty="0">
                          <a:latin typeface="Times New Roman" panose="02020603050405020304" pitchFamily="18" charset="0"/>
                          <a:cs typeface="Times New Roman" panose="02020603050405020304" pitchFamily="18" charset="0"/>
                        </a:rPr>
                        <a:t>Total Pollutants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74856"/>
                  </a:ext>
                </a:extLst>
              </a:tr>
              <a:tr h="647912">
                <a:tc>
                  <a:txBody>
                    <a:bodyPr/>
                    <a:lstStyle/>
                    <a:p>
                      <a:pPr algn="ctr"/>
                      <a:r>
                        <a:rPr lang="en-IN" dirty="0">
                          <a:latin typeface="Times New Roman" panose="02020603050405020304" pitchFamily="18" charset="0"/>
                          <a:cs typeface="Times New Roman" panose="02020603050405020304" pitchFamily="18" charset="0"/>
                        </a:rPr>
                        <a:t>Missing 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Present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0 (Median Imputation)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b="1" dirty="0">
                          <a:latin typeface="Times New Roman" panose="02020603050405020304" pitchFamily="18" charset="0"/>
                          <a:cs typeface="Times New Roman" panose="02020603050405020304" pitchFamily="18" charset="0"/>
                        </a:rPr>
                        <a:t>Median imputation</a:t>
                      </a:r>
                      <a:r>
                        <a:rPr lang="en-IN" dirty="0">
                          <a:latin typeface="Times New Roman" panose="02020603050405020304" pitchFamily="18" charset="0"/>
                          <a:cs typeface="Times New Roman" panose="02020603050405020304" pitchFamily="18" charset="0"/>
                        </a:rPr>
                        <a:t> per pollutant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2482996"/>
                  </a:ext>
                </a:extLst>
              </a:tr>
              <a:tr h="370235">
                <a:tc>
                  <a:txBody>
                    <a:bodyPr/>
                    <a:lstStyle/>
                    <a:p>
                      <a:pPr algn="ctr"/>
                      <a:r>
                        <a:rPr lang="en-IN" dirty="0">
                          <a:latin typeface="Times New Roman" panose="02020603050405020304" pitchFamily="18" charset="0"/>
                          <a:cs typeface="Times New Roman" panose="02020603050405020304" pitchFamily="18" charset="0"/>
                        </a:rPr>
                        <a:t>Multicollinear Features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dirty="0">
                          <a:latin typeface="Times New Roman" panose="02020603050405020304" pitchFamily="18" charset="0"/>
                          <a:cs typeface="Times New Roman" panose="02020603050405020304" pitchFamily="18" charset="0"/>
                        </a:rPr>
                        <a:t>PM10, NO, NOx (VIF &gt; 10)</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Removed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VIF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343536"/>
                  </a:ext>
                </a:extLst>
              </a:tr>
              <a:tr h="647912">
                <a:tc>
                  <a:txBody>
                    <a:bodyPr/>
                    <a:lstStyle/>
                    <a:p>
                      <a:pPr algn="ctr"/>
                      <a:r>
                        <a:rPr lang="en-IN" dirty="0">
                          <a:latin typeface="Times New Roman" panose="02020603050405020304" pitchFamily="18" charset="0"/>
                          <a:cs typeface="Times New Roman" panose="02020603050405020304" pitchFamily="18" charset="0"/>
                        </a:rPr>
                        <a:t>Hourly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Raw hourly timestamps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Aggregated to daily averages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err="1">
                          <a:latin typeface="Times New Roman" panose="02020603050405020304" pitchFamily="18" charset="0"/>
                          <a:cs typeface="Times New Roman" panose="02020603050405020304" pitchFamily="18" charset="0"/>
                        </a:rPr>
                        <a:t>groupby</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City','Date</a:t>
                      </a:r>
                      <a:r>
                        <a:rPr lang="en-IN" dirty="0">
                          <a:latin typeface="Times New Roman" panose="02020603050405020304" pitchFamily="18" charset="0"/>
                          <a:cs typeface="Times New Roman" panose="02020603050405020304" pitchFamily="18" charset="0"/>
                        </a:rPr>
                        <a:t>']).mean()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1442050"/>
                  </a:ext>
                </a:extLst>
              </a:tr>
              <a:tr h="647912">
                <a:tc>
                  <a:txBody>
                    <a:bodyPr/>
                    <a:lstStyle/>
                    <a:p>
                      <a:pPr algn="ctr"/>
                      <a:r>
                        <a:rPr lang="en-IN" dirty="0">
                          <a:latin typeface="Times New Roman" panose="02020603050405020304" pitchFamily="18" charset="0"/>
                          <a:cs typeface="Times New Roman" panose="02020603050405020304" pitchFamily="18" charset="0"/>
                        </a:rPr>
                        <a:t>Station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Station ID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Mapped to City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Merge with </a:t>
                      </a:r>
                      <a:r>
                        <a:rPr lang="en-US" sz="1800" kern="1200" dirty="0">
                          <a:solidFill>
                            <a:schemeClr val="dk1"/>
                          </a:solidFill>
                          <a:latin typeface="Times New Roman" panose="02020603050405020304" pitchFamily="18" charset="0"/>
                          <a:cs typeface="Times New Roman" panose="02020603050405020304" pitchFamily="18" charset="0"/>
                        </a:rPr>
                        <a:t>stations.csv</a:t>
                      </a:r>
                      <a:r>
                        <a:rPr lang="en-US" dirty="0">
                          <a:latin typeface="Times New Roman" panose="02020603050405020304" pitchFamily="18" charset="0"/>
                          <a:cs typeface="Times New Roman" panose="02020603050405020304" pitchFamily="18" charset="0"/>
                        </a:rPr>
                        <a:t> on </a:t>
                      </a:r>
                      <a:r>
                        <a:rPr lang="en-US" dirty="0" err="1">
                          <a:latin typeface="Times New Roman" panose="02020603050405020304" pitchFamily="18" charset="0"/>
                          <a:cs typeface="Times New Roman" panose="02020603050405020304" pitchFamily="18" charset="0"/>
                        </a:rPr>
                        <a:t>StationID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9090786"/>
                  </a:ext>
                </a:extLst>
              </a:tr>
              <a:tr h="370235">
                <a:tc>
                  <a:txBody>
                    <a:bodyPr/>
                    <a:lstStyle/>
                    <a:p>
                      <a:pPr algn="ctr"/>
                      <a:r>
                        <a:rPr lang="en-US" dirty="0">
                          <a:latin typeface="Times New Roman" panose="02020603050405020304" pitchFamily="18" charset="0"/>
                          <a:cs typeface="Times New Roman" panose="02020603050405020304" pitchFamily="18" charset="0"/>
                        </a:rPr>
                        <a:t>Duplicates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Duplicates present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Remove Duplicates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err="1">
                          <a:latin typeface="Times New Roman" panose="02020603050405020304" pitchFamily="18" charset="0"/>
                          <a:cs typeface="Times New Roman" panose="02020603050405020304" pitchFamily="18" charset="0"/>
                        </a:rPr>
                        <a:t>drop_duplicates</a:t>
                      </a:r>
                      <a:r>
                        <a:rPr lang="en-IN"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5633802"/>
                  </a:ext>
                </a:extLst>
              </a:tr>
              <a:tr h="647912">
                <a:tc>
                  <a:txBody>
                    <a:bodyPr/>
                    <a:lstStyle/>
                    <a:p>
                      <a:pPr algn="ctr"/>
                      <a:r>
                        <a:rPr lang="en-US" dirty="0">
                          <a:latin typeface="Times New Roman" panose="02020603050405020304" pitchFamily="18" charset="0"/>
                          <a:cs typeface="Times New Roman" panose="02020603050405020304" pitchFamily="18" charset="0"/>
                        </a:rPr>
                        <a:t>Drop columns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AQI, AQI_BUCKET Present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Remove </a:t>
                      </a:r>
                      <a:r>
                        <a:rPr lang="en-US" sz="1800" kern="1200" dirty="0">
                          <a:solidFill>
                            <a:schemeClr val="dk1"/>
                          </a:solidFill>
                          <a:latin typeface="Times New Roman" panose="02020603050405020304" pitchFamily="18" charset="0"/>
                          <a:cs typeface="Times New Roman" panose="02020603050405020304" pitchFamily="18" charset="0"/>
                        </a:rPr>
                        <a:t>AQI</a:t>
                      </a:r>
                      <a:r>
                        <a:rPr lang="en-US" dirty="0">
                          <a:latin typeface="Times New Roman" panose="02020603050405020304" pitchFamily="18" charset="0"/>
                          <a:cs typeface="Times New Roman" panose="02020603050405020304" pitchFamily="18" charset="0"/>
                        </a:rPr>
                        <a:t> and </a:t>
                      </a:r>
                      <a:r>
                        <a:rPr lang="en-US" sz="1800" kern="1200" dirty="0" err="1">
                          <a:solidFill>
                            <a:schemeClr val="dk1"/>
                          </a:solidFill>
                          <a:latin typeface="Times New Roman" panose="02020603050405020304" pitchFamily="18" charset="0"/>
                          <a:cs typeface="Times New Roman" panose="02020603050405020304" pitchFamily="18" charset="0"/>
                        </a:rPr>
                        <a:t>AQI_Bucket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0 = Low Risk, 1 = High Risk</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6188778"/>
                  </a:ext>
                </a:extLst>
              </a:tr>
              <a:tr h="647912">
                <a:tc>
                  <a:txBody>
                    <a:bodyPr/>
                    <a:lstStyle/>
                    <a:p>
                      <a:pPr algn="ctr"/>
                      <a:r>
                        <a:rPr lang="en-IN" dirty="0">
                          <a:latin typeface="Times New Roman" panose="02020603050405020304" pitchFamily="18" charset="0"/>
                          <a:cs typeface="Times New Roman" panose="02020603050405020304" pitchFamily="18" charset="0"/>
                        </a:rPr>
                        <a:t>Target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AQI Bucket (6 categories)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Binary — 0 = Low Risk, 1 = High Risk</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AQI Bucket → Binary encoding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0630457"/>
                  </a:ext>
                </a:extLst>
              </a:tr>
            </a:tbl>
          </a:graphicData>
        </a:graphic>
      </p:graphicFrame>
    </p:spTree>
    <p:extLst>
      <p:ext uri="{BB962C8B-B14F-4D97-AF65-F5344CB8AC3E}">
        <p14:creationId xmlns:p14="http://schemas.microsoft.com/office/powerpoint/2010/main" val="2642637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33320-868E-FCB6-3FD8-4542C7EBD407}"/>
              </a:ext>
            </a:extLst>
          </p:cNvPr>
          <p:cNvSpPr>
            <a:spLocks noGrp="1"/>
          </p:cNvSpPr>
          <p:nvPr>
            <p:ph type="title"/>
          </p:nvPr>
        </p:nvSpPr>
        <p:spPr>
          <a:xfrm>
            <a:off x="-1" y="265471"/>
            <a:ext cx="12093677" cy="402866"/>
          </a:xfrm>
        </p:spPr>
        <p:txBody>
          <a:bodyPr>
            <a:noAutofit/>
          </a:bodyPr>
          <a:lstStyle/>
          <a:p>
            <a:pPr algn="ctr"/>
            <a:r>
              <a:rPr lang="en-US" sz="4000" dirty="0">
                <a:latin typeface="Times New Roman" panose="02020603050405020304" pitchFamily="18" charset="0"/>
                <a:cs typeface="Times New Roman" panose="02020603050405020304" pitchFamily="18" charset="0"/>
              </a:rPr>
              <a:t>EDA</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6B05303-5E19-FD5B-3CE2-81DD1BD9AFF5}"/>
              </a:ext>
            </a:extLst>
          </p:cNvPr>
          <p:cNvSpPr>
            <a:spLocks noGrp="1"/>
          </p:cNvSpPr>
          <p:nvPr>
            <p:ph type="body" idx="1"/>
          </p:nvPr>
        </p:nvSpPr>
        <p:spPr>
          <a:xfrm>
            <a:off x="147484" y="668338"/>
            <a:ext cx="5850091" cy="560694"/>
          </a:xfrm>
        </p:spPr>
        <p:txBody>
          <a:bodyPr>
            <a:normAutofit/>
          </a:bodyPr>
          <a:lstStyle/>
          <a:p>
            <a:r>
              <a:rPr lang="en-US" sz="2000" b="0" dirty="0">
                <a:solidFill>
                  <a:schemeClr val="tx1"/>
                </a:solidFill>
                <a:latin typeface="Times New Roman" panose="02020603050405020304" pitchFamily="18" charset="0"/>
                <a:cs typeface="Times New Roman" panose="02020603050405020304" pitchFamily="18" charset="0"/>
              </a:rPr>
              <a:t>POLLUTANT LEVELS BY HEALTH RISK GROUP</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77E1315-315D-D1A4-43E4-A2E8A3D3FBC5}"/>
              </a:ext>
            </a:extLst>
          </p:cNvPr>
          <p:cNvSpPr>
            <a:spLocks noGrp="1"/>
          </p:cNvSpPr>
          <p:nvPr>
            <p:ph sz="half" idx="2"/>
          </p:nvPr>
        </p:nvSpPr>
        <p:spPr>
          <a:xfrm>
            <a:off x="147484" y="1513911"/>
            <a:ext cx="5850091" cy="5344088"/>
          </a:xfrm>
        </p:spPr>
        <p:txBody>
          <a:bodyPr>
            <a:normAutofit lnSpcReduction="10000"/>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High-risk areas have higher levels of </a:t>
            </a:r>
            <a:r>
              <a:rPr lang="en-US" sz="1800" b="1" dirty="0">
                <a:latin typeface="Times New Roman" panose="02020603050405020304" pitchFamily="18" charset="0"/>
                <a:cs typeface="Times New Roman" panose="02020603050405020304" pitchFamily="18" charset="0"/>
              </a:rPr>
              <a:t>PM2.5, NO₂, and O₃</a:t>
            </a:r>
            <a:r>
              <a:rPr lang="en-US" sz="1800" dirty="0">
                <a:latin typeface="Times New Roman" panose="02020603050405020304" pitchFamily="18" charset="0"/>
                <a:cs typeface="Times New Roman" panose="02020603050405020304" pitchFamily="18" charset="0"/>
              </a:rPr>
              <a:t>, showing a strong link between these pollutants and increased health risk.</a:t>
            </a:r>
          </a:p>
          <a:p>
            <a:r>
              <a:rPr lang="en-US" sz="1800" dirty="0">
                <a:latin typeface="Times New Roman" panose="02020603050405020304" pitchFamily="18" charset="0"/>
                <a:cs typeface="Times New Roman" panose="02020603050405020304" pitchFamily="18" charset="0"/>
              </a:rPr>
              <a:t>PM2.5 shows the largest gap between low- and high-risk groups, suggesting it is the most critical pollutant contributing to health risks in this dataset.</a:t>
            </a:r>
          </a:p>
          <a:p>
            <a:r>
              <a:rPr lang="en-US" sz="1800" dirty="0">
                <a:latin typeface="Times New Roman" panose="02020603050405020304" pitchFamily="18" charset="0"/>
                <a:cs typeface="Times New Roman" panose="02020603050405020304" pitchFamily="18" charset="0"/>
              </a:rPr>
              <a:t>Some pollutants (like Benzene and CO) show minimal differences, less impact on health risk levels.</a:t>
            </a:r>
            <a:endParaRPr lang="en-IN" sz="1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6263116C-9527-875E-1CD8-4729CB6D3E94}"/>
              </a:ext>
            </a:extLst>
          </p:cNvPr>
          <p:cNvSpPr>
            <a:spLocks noGrp="1"/>
          </p:cNvSpPr>
          <p:nvPr>
            <p:ph type="body" sz="quarter" idx="3"/>
          </p:nvPr>
        </p:nvSpPr>
        <p:spPr>
          <a:xfrm>
            <a:off x="6172200" y="668337"/>
            <a:ext cx="5921476" cy="560695"/>
          </a:xfrm>
        </p:spPr>
        <p:txBody>
          <a:bodyPr>
            <a:normAutofit/>
          </a:bodyPr>
          <a:lstStyle/>
          <a:p>
            <a:pPr algn="ctr"/>
            <a:r>
              <a:rPr lang="en-US" sz="2000" b="0" dirty="0">
                <a:solidFill>
                  <a:schemeClr val="tx1"/>
                </a:solidFill>
                <a:latin typeface="Times New Roman" panose="02020603050405020304" pitchFamily="18" charset="0"/>
                <a:cs typeface="Times New Roman" panose="02020603050405020304" pitchFamily="18" charset="0"/>
              </a:rPr>
              <a:t>CITY- LEVEL ANALYSIS</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657E5E8A-7E52-489A-57FD-CF35BDB9C4F1}"/>
              </a:ext>
            </a:extLst>
          </p:cNvPr>
          <p:cNvSpPr>
            <a:spLocks noGrp="1"/>
          </p:cNvSpPr>
          <p:nvPr>
            <p:ph sz="quarter" idx="4"/>
          </p:nvPr>
        </p:nvSpPr>
        <p:spPr>
          <a:xfrm>
            <a:off x="6172200" y="1513911"/>
            <a:ext cx="5850090" cy="5344089"/>
          </a:xfrm>
        </p:spPr>
        <p:txBody>
          <a:bodyPr>
            <a:normAutofit lnSpcReduction="10000"/>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Ahmedabad and Delhi have the highest number of high-risk pollution days</a:t>
            </a:r>
            <a:r>
              <a:rPr lang="en-US" sz="1800" dirty="0">
                <a:latin typeface="Times New Roman" panose="02020603050405020304" pitchFamily="18" charset="0"/>
                <a:cs typeface="Times New Roman" panose="02020603050405020304" pitchFamily="18" charset="0"/>
              </a:rPr>
              <a:t>, indicating severe air quality issues.</a:t>
            </a:r>
          </a:p>
          <a:p>
            <a:r>
              <a:rPr lang="en-US" sz="1800" dirty="0">
                <a:latin typeface="Times New Roman" panose="02020603050405020304" pitchFamily="18" charset="0"/>
                <a:cs typeface="Times New Roman" panose="02020603050405020304" pitchFamily="18" charset="0"/>
              </a:rPr>
              <a:t>Cities like Visakhapatnam, </a:t>
            </a:r>
            <a:r>
              <a:rPr lang="en-US" sz="1800" dirty="0" err="1">
                <a:latin typeface="Times New Roman" panose="02020603050405020304" pitchFamily="18" charset="0"/>
                <a:cs typeface="Times New Roman" panose="02020603050405020304" pitchFamily="18" charset="0"/>
              </a:rPr>
              <a:t>Jorapokhar</a:t>
            </a:r>
            <a:r>
              <a:rPr lang="en-US" sz="1800" dirty="0">
                <a:latin typeface="Times New Roman" panose="02020603050405020304" pitchFamily="18" charset="0"/>
                <a:cs typeface="Times New Roman" panose="02020603050405020304" pitchFamily="18" charset="0"/>
              </a:rPr>
              <a:t>, and Chennai have comparatively fewer high-risk days.</a:t>
            </a:r>
          </a:p>
          <a:p>
            <a:r>
              <a:rPr lang="en-US" sz="1800" dirty="0">
                <a:latin typeface="Times New Roman" panose="02020603050405020304" pitchFamily="18" charset="0"/>
                <a:cs typeface="Times New Roman" panose="02020603050405020304" pitchFamily="18" charset="0"/>
              </a:rPr>
              <a:t>Overall, </a:t>
            </a:r>
            <a:r>
              <a:rPr lang="en-US" sz="1800" b="1" dirty="0">
                <a:latin typeface="Times New Roman" panose="02020603050405020304" pitchFamily="18" charset="0"/>
                <a:cs typeface="Times New Roman" panose="02020603050405020304" pitchFamily="18" charset="0"/>
              </a:rPr>
              <a:t>northern cities dominate the higher-risk category</a:t>
            </a:r>
            <a:r>
              <a:rPr lang="en-US" sz="1800" dirty="0">
                <a:latin typeface="Times New Roman" panose="02020603050405020304" pitchFamily="18" charset="0"/>
                <a:cs typeface="Times New Roman" panose="02020603050405020304" pitchFamily="18" charset="0"/>
              </a:rPr>
              <a:t>, suggesting regional pollution patterns.</a:t>
            </a:r>
            <a:endParaRPr lang="en-IN" sz="1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CF2F586-B978-56E1-776C-C16B34AF0DF5}"/>
              </a:ext>
            </a:extLst>
          </p:cNvPr>
          <p:cNvPicPr>
            <a:picLocks noChangeAspect="1"/>
          </p:cNvPicPr>
          <p:nvPr/>
        </p:nvPicPr>
        <p:blipFill>
          <a:blip r:embed="rId2"/>
          <a:stretch>
            <a:fillRect/>
          </a:stretch>
        </p:blipFill>
        <p:spPr>
          <a:xfrm>
            <a:off x="49162" y="1229032"/>
            <a:ext cx="5732207" cy="3050270"/>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0D678391-6D3E-3FE5-67D0-2081F1988DAA}"/>
              </a:ext>
            </a:extLst>
          </p:cNvPr>
          <p:cNvPicPr>
            <a:picLocks noChangeAspect="1"/>
          </p:cNvPicPr>
          <p:nvPr/>
        </p:nvPicPr>
        <p:blipFill>
          <a:blip r:embed="rId3"/>
          <a:stretch>
            <a:fillRect/>
          </a:stretch>
        </p:blipFill>
        <p:spPr>
          <a:xfrm>
            <a:off x="6322142" y="1248696"/>
            <a:ext cx="5869858" cy="30502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62764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A8F48-04BC-FA0C-FC24-88FE2856F48D}"/>
              </a:ext>
            </a:extLst>
          </p:cNvPr>
          <p:cNvSpPr>
            <a:spLocks noGrp="1"/>
          </p:cNvSpPr>
          <p:nvPr>
            <p:ph type="title"/>
          </p:nvPr>
        </p:nvSpPr>
        <p:spPr>
          <a:xfrm>
            <a:off x="98323" y="275303"/>
            <a:ext cx="11936361" cy="548609"/>
          </a:xfrm>
        </p:spPr>
        <p:txBody>
          <a:bodyPr>
            <a:noAutofit/>
          </a:bodyPr>
          <a:lstStyle/>
          <a:p>
            <a:pPr algn="ctr"/>
            <a:r>
              <a:rPr lang="en-US" sz="4000" dirty="0">
                <a:latin typeface="Times New Roman" panose="02020603050405020304" pitchFamily="18" charset="0"/>
                <a:cs typeface="Times New Roman" panose="02020603050405020304" pitchFamily="18" charset="0"/>
              </a:rPr>
              <a:t>EDA</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46FDDB6-2E56-C51D-1725-9A6748B44651}"/>
              </a:ext>
            </a:extLst>
          </p:cNvPr>
          <p:cNvSpPr>
            <a:spLocks noGrp="1"/>
          </p:cNvSpPr>
          <p:nvPr>
            <p:ph type="body" idx="1"/>
          </p:nvPr>
        </p:nvSpPr>
        <p:spPr>
          <a:xfrm>
            <a:off x="98324" y="727587"/>
            <a:ext cx="5899252" cy="471949"/>
          </a:xfrm>
        </p:spPr>
        <p:txBody>
          <a:bodyPr>
            <a:normAutofit fontScale="85000" lnSpcReduction="10000"/>
          </a:bodyPr>
          <a:lstStyle/>
          <a:p>
            <a:r>
              <a:rPr lang="en-US" sz="2000" b="0" dirty="0">
                <a:solidFill>
                  <a:schemeClr val="tx1"/>
                </a:solidFill>
                <a:latin typeface="Times New Roman" panose="02020603050405020304" pitchFamily="18" charset="0"/>
                <a:cs typeface="Times New Roman" panose="02020603050405020304" pitchFamily="18" charset="0"/>
              </a:rPr>
              <a:t>STATION-LEVEL POLLUTANTS BY HEALTH RISK</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FFBDB13-3543-B85D-F1C2-E0C50F649E98}"/>
              </a:ext>
            </a:extLst>
          </p:cNvPr>
          <p:cNvSpPr>
            <a:spLocks noGrp="1"/>
          </p:cNvSpPr>
          <p:nvPr>
            <p:ph sz="half" idx="2"/>
          </p:nvPr>
        </p:nvSpPr>
        <p:spPr>
          <a:xfrm>
            <a:off x="157316" y="1651819"/>
            <a:ext cx="5840259" cy="5206180"/>
          </a:xfrm>
        </p:spPr>
        <p:txBody>
          <a:bodyPr>
            <a:no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High-risk areas have </a:t>
            </a:r>
            <a:r>
              <a:rPr lang="en-US" b="1" dirty="0">
                <a:latin typeface="Times New Roman" panose="02020603050405020304" pitchFamily="18" charset="0"/>
                <a:cs typeface="Times New Roman" panose="02020603050405020304" pitchFamily="18" charset="0"/>
              </a:rPr>
              <a:t>higher levels of PM2.5, NO₂, SO₂, and O₃</a:t>
            </a:r>
            <a:r>
              <a:rPr lang="en-US" dirty="0">
                <a:latin typeface="Times New Roman" panose="02020603050405020304" pitchFamily="18" charset="0"/>
                <a:cs typeface="Times New Roman" panose="02020603050405020304" pitchFamily="18" charset="0"/>
              </a:rPr>
              <a:t>, indicating these pollutants are strongly linked to health risk.</a:t>
            </a:r>
          </a:p>
          <a:p>
            <a:r>
              <a:rPr lang="en-US" b="1" dirty="0">
                <a:latin typeface="Times New Roman" panose="02020603050405020304" pitchFamily="18" charset="0"/>
                <a:cs typeface="Times New Roman" panose="02020603050405020304" pitchFamily="18" charset="0"/>
              </a:rPr>
              <a:t>PM2.5 shows the largest increase</a:t>
            </a:r>
            <a:r>
              <a:rPr lang="en-US" dirty="0">
                <a:latin typeface="Times New Roman" panose="02020603050405020304" pitchFamily="18" charset="0"/>
                <a:cs typeface="Times New Roman" panose="02020603050405020304" pitchFamily="18" charset="0"/>
              </a:rPr>
              <a:t>, making it the most critical pollutant.</a:t>
            </a:r>
          </a:p>
          <a:p>
            <a:r>
              <a:rPr lang="en-US" b="1" dirty="0">
                <a:latin typeface="Times New Roman" panose="02020603050405020304" pitchFamily="18" charset="0"/>
                <a:cs typeface="Times New Roman" panose="02020603050405020304" pitchFamily="18" charset="0"/>
              </a:rPr>
              <a:t>CO and Benzene show minimal differences</a:t>
            </a:r>
            <a:r>
              <a:rPr lang="en-US" dirty="0">
                <a:latin typeface="Times New Roman" panose="02020603050405020304" pitchFamily="18" charset="0"/>
                <a:cs typeface="Times New Roman" panose="02020603050405020304" pitchFamily="18" charset="0"/>
              </a:rPr>
              <a:t>, suggesting a weaker impact on health risk. </a:t>
            </a:r>
          </a:p>
        </p:txBody>
      </p:sp>
      <p:sp>
        <p:nvSpPr>
          <p:cNvPr id="5" name="Text Placeholder 4">
            <a:extLst>
              <a:ext uri="{FF2B5EF4-FFF2-40B4-BE49-F238E27FC236}">
                <a16:creationId xmlns:a16="http://schemas.microsoft.com/office/drawing/2014/main" id="{BF33955F-169E-8F56-2091-E8E2D88D6287}"/>
              </a:ext>
            </a:extLst>
          </p:cNvPr>
          <p:cNvSpPr>
            <a:spLocks noGrp="1"/>
          </p:cNvSpPr>
          <p:nvPr>
            <p:ph type="body" sz="quarter" idx="3"/>
          </p:nvPr>
        </p:nvSpPr>
        <p:spPr>
          <a:xfrm>
            <a:off x="6172200" y="798412"/>
            <a:ext cx="5862484" cy="401124"/>
          </a:xfrm>
        </p:spPr>
        <p:txBody>
          <a:bodyPr>
            <a:normAutofit fontScale="85000" lnSpcReduction="10000"/>
          </a:bodyPr>
          <a:lstStyle/>
          <a:p>
            <a:pPr algn="ctr"/>
            <a:r>
              <a:rPr lang="en-US" sz="2000" b="0" dirty="0">
                <a:solidFill>
                  <a:schemeClr val="tx1"/>
                </a:solidFill>
                <a:latin typeface="Times New Roman" panose="02020603050405020304" pitchFamily="18" charset="0"/>
                <a:cs typeface="Times New Roman" panose="02020603050405020304" pitchFamily="18" charset="0"/>
              </a:rPr>
              <a:t>STATION-LEVEL POPULLANT CORRELATION MATRIX</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291F7CB1-2438-D3FE-6454-0ECECA5CF0D6}"/>
              </a:ext>
            </a:extLst>
          </p:cNvPr>
          <p:cNvSpPr>
            <a:spLocks noGrp="1"/>
          </p:cNvSpPr>
          <p:nvPr>
            <p:ph sz="quarter" idx="4"/>
          </p:nvPr>
        </p:nvSpPr>
        <p:spPr>
          <a:xfrm>
            <a:off x="6172200" y="1651819"/>
            <a:ext cx="5862484" cy="5206180"/>
          </a:xfrm>
        </p:spPr>
        <p:txBody>
          <a:bodyPr>
            <a:norm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Most pollutants show weak to moderate correlation</a:t>
            </a:r>
            <a:r>
              <a:rPr lang="en-US" sz="1800" dirty="0">
                <a:latin typeface="Times New Roman" panose="02020603050405020304" pitchFamily="18" charset="0"/>
                <a:cs typeface="Times New Roman" panose="02020603050405020304" pitchFamily="18" charset="0"/>
              </a:rPr>
              <a:t>, meaning they don’t always increase together.</a:t>
            </a:r>
          </a:p>
          <a:p>
            <a:r>
              <a:rPr lang="en-US" sz="1800" b="1" dirty="0">
                <a:latin typeface="Times New Roman" panose="02020603050405020304" pitchFamily="18" charset="0"/>
                <a:cs typeface="Times New Roman" panose="02020603050405020304" pitchFamily="18" charset="0"/>
              </a:rPr>
              <a:t>CO and SO₂ have the strongest correlation (~0.49)</a:t>
            </a:r>
            <a:r>
              <a:rPr lang="en-US" sz="1800" dirty="0">
                <a:latin typeface="Times New Roman" panose="02020603050405020304" pitchFamily="18" charset="0"/>
                <a:cs typeface="Times New Roman" panose="02020603050405020304" pitchFamily="18" charset="0"/>
              </a:rPr>
              <a:t>, suggesting similar sources or behavior.</a:t>
            </a:r>
          </a:p>
          <a:p>
            <a:r>
              <a:rPr lang="en-US" sz="1800" b="1" dirty="0">
                <a:latin typeface="Times New Roman" panose="02020603050405020304" pitchFamily="18" charset="0"/>
                <a:cs typeface="Times New Roman" panose="02020603050405020304" pitchFamily="18" charset="0"/>
              </a:rPr>
              <a:t>PM2.5 has only moderate links (e.g., with NO₂ ~0.31)</a:t>
            </a:r>
            <a:r>
              <a:rPr lang="en-US" sz="1800" dirty="0">
                <a:latin typeface="Times New Roman" panose="02020603050405020304" pitchFamily="18" charset="0"/>
                <a:cs typeface="Times New Roman" panose="02020603050405020304" pitchFamily="18" charset="0"/>
              </a:rPr>
              <a:t>, indicating it is influenced by multiple factors.</a:t>
            </a:r>
            <a:endParaRPr lang="en-IN" sz="1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9B10F664-B650-0477-07B4-F6C3A2026F5D}"/>
              </a:ext>
            </a:extLst>
          </p:cNvPr>
          <p:cNvPicPr>
            <a:picLocks noChangeAspect="1"/>
          </p:cNvPicPr>
          <p:nvPr/>
        </p:nvPicPr>
        <p:blipFill>
          <a:blip r:embed="rId2"/>
          <a:stretch>
            <a:fillRect/>
          </a:stretch>
        </p:blipFill>
        <p:spPr>
          <a:xfrm>
            <a:off x="22228" y="1276195"/>
            <a:ext cx="6172199" cy="3069662"/>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EA08AEC1-5BE9-4486-8286-7A005C1D34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9515" y="1310608"/>
            <a:ext cx="5706821" cy="30008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60885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F937D-14BD-1F40-A17C-51A3BDD20227}"/>
              </a:ext>
            </a:extLst>
          </p:cNvPr>
          <p:cNvSpPr>
            <a:spLocks noGrp="1"/>
          </p:cNvSpPr>
          <p:nvPr>
            <p:ph type="title"/>
          </p:nvPr>
        </p:nvSpPr>
        <p:spPr>
          <a:xfrm>
            <a:off x="196645" y="88491"/>
            <a:ext cx="11749549" cy="894736"/>
          </a:xfrm>
        </p:spPr>
        <p:txBody>
          <a:bodyPr>
            <a:normAutofit/>
          </a:bodyPr>
          <a:lstStyle/>
          <a:p>
            <a:pPr algn="ctr"/>
            <a:r>
              <a:rPr lang="en-US" sz="4000" dirty="0">
                <a:latin typeface="Times New Roman" panose="02020603050405020304" pitchFamily="18" charset="0"/>
                <a:cs typeface="Times New Roman" panose="02020603050405020304" pitchFamily="18" charset="0"/>
              </a:rPr>
              <a:t>FEATURE IMPORTANCE ANALYSIS</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2DAE0A8-61C8-2EB4-494D-31FDD13B1B78}"/>
              </a:ext>
            </a:extLst>
          </p:cNvPr>
          <p:cNvSpPr>
            <a:spLocks noGrp="1"/>
          </p:cNvSpPr>
          <p:nvPr>
            <p:ph type="body" idx="1"/>
          </p:nvPr>
        </p:nvSpPr>
        <p:spPr>
          <a:xfrm>
            <a:off x="196646" y="914401"/>
            <a:ext cx="5800930" cy="432618"/>
          </a:xfrm>
        </p:spPr>
        <p:txBody>
          <a:bodyPr>
            <a:normAutofit/>
          </a:bodyPr>
          <a:lstStyle/>
          <a:p>
            <a:r>
              <a:rPr lang="en-US" sz="2000" b="0" dirty="0">
                <a:solidFill>
                  <a:schemeClr val="tx1"/>
                </a:solidFill>
                <a:latin typeface="Times New Roman" panose="02020603050405020304" pitchFamily="18" charset="0"/>
                <a:cs typeface="Times New Roman" panose="02020603050405020304" pitchFamily="18" charset="0"/>
              </a:rPr>
              <a:t>LAG FEATURES INFLUENCING HEALTH RISK </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B42EF18-0D4E-E1E1-606D-6DFA55CF5FC5}"/>
              </a:ext>
            </a:extLst>
          </p:cNvPr>
          <p:cNvSpPr>
            <a:spLocks noGrp="1"/>
          </p:cNvSpPr>
          <p:nvPr>
            <p:ph sz="half" idx="2"/>
          </p:nvPr>
        </p:nvSpPr>
        <p:spPr>
          <a:xfrm>
            <a:off x="78658" y="1582994"/>
            <a:ext cx="5918917" cy="5275005"/>
          </a:xfrm>
        </p:spPr>
        <p:txBody>
          <a:bodyPr>
            <a:normAutofit lnSpcReduction="10000"/>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PM2.5 lag features (lag1, lag2, lag3) are the most important</a:t>
            </a:r>
            <a:r>
              <a:rPr lang="en-US" sz="1800" dirty="0">
                <a:latin typeface="Times New Roman" panose="02020603050405020304" pitchFamily="18" charset="0"/>
                <a:cs typeface="Times New Roman" panose="02020603050405020304" pitchFamily="18" charset="0"/>
              </a:rPr>
              <a:t>, especially lag1 → strongest predictor of health risk.</a:t>
            </a:r>
          </a:p>
          <a:p>
            <a:r>
              <a:rPr lang="en-US" sz="1800" b="1" dirty="0">
                <a:latin typeface="Times New Roman" panose="02020603050405020304" pitchFamily="18" charset="0"/>
                <a:cs typeface="Times New Roman" panose="02020603050405020304" pitchFamily="18" charset="0"/>
              </a:rPr>
              <a:t>Recent pollution (previous 1–3 days)</a:t>
            </a:r>
            <a:r>
              <a:rPr lang="en-US" sz="1800" dirty="0">
                <a:latin typeface="Times New Roman" panose="02020603050405020304" pitchFamily="18" charset="0"/>
                <a:cs typeface="Times New Roman" panose="02020603050405020304" pitchFamily="18" charset="0"/>
              </a:rPr>
              <a:t> has a major impact on current health risk.</a:t>
            </a:r>
          </a:p>
          <a:p>
            <a:r>
              <a:rPr lang="en-US" sz="1800" dirty="0">
                <a:latin typeface="Times New Roman" panose="02020603050405020304" pitchFamily="18" charset="0"/>
                <a:cs typeface="Times New Roman" panose="02020603050405020304" pitchFamily="18" charset="0"/>
              </a:rPr>
              <a:t>Other pollutants (CO, NO₂, SO₂, O₃) have </a:t>
            </a:r>
            <a:r>
              <a:rPr lang="en-US" sz="1800" b="1" dirty="0">
                <a:latin typeface="Times New Roman" panose="02020603050405020304" pitchFamily="18" charset="0"/>
                <a:cs typeface="Times New Roman" panose="02020603050405020304" pitchFamily="18" charset="0"/>
              </a:rPr>
              <a:t>lower but still noticeable influence</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2D2F34A0-F65E-FFAF-45E1-56239BE405C1}"/>
              </a:ext>
            </a:extLst>
          </p:cNvPr>
          <p:cNvSpPr>
            <a:spLocks noGrp="1"/>
          </p:cNvSpPr>
          <p:nvPr>
            <p:ph type="body" sz="quarter" idx="3"/>
          </p:nvPr>
        </p:nvSpPr>
        <p:spPr>
          <a:xfrm>
            <a:off x="6172200" y="914401"/>
            <a:ext cx="5773994" cy="432618"/>
          </a:xfrm>
        </p:spPr>
        <p:txBody>
          <a:bodyPr>
            <a:normAutofit/>
          </a:bodyPr>
          <a:lstStyle/>
          <a:p>
            <a:r>
              <a:rPr lang="en-US" sz="2000" b="0" dirty="0">
                <a:solidFill>
                  <a:schemeClr val="tx1"/>
                </a:solidFill>
                <a:latin typeface="Times New Roman" panose="02020603050405020304" pitchFamily="18" charset="0"/>
                <a:cs typeface="Times New Roman" panose="02020603050405020304" pitchFamily="18" charset="0"/>
              </a:rPr>
              <a:t>CONTRIBUTION OF LAG FEATURES</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A3D0A25C-9EE4-9D80-22E2-62461B416B46}"/>
              </a:ext>
            </a:extLst>
          </p:cNvPr>
          <p:cNvSpPr>
            <a:spLocks noGrp="1"/>
          </p:cNvSpPr>
          <p:nvPr>
            <p:ph sz="quarter" idx="4"/>
          </p:nvPr>
        </p:nvSpPr>
        <p:spPr>
          <a:xfrm>
            <a:off x="6096000" y="1582994"/>
            <a:ext cx="6017342" cy="5275006"/>
          </a:xfrm>
        </p:spPr>
        <p:txBody>
          <a:bodyPr>
            <a:normAutofit lnSpcReduction="10000"/>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Lag1 has the highest contribution</a:t>
            </a:r>
            <a:r>
              <a:rPr lang="en-US" sz="1800" dirty="0">
                <a:latin typeface="Times New Roman" panose="02020603050405020304" pitchFamily="18" charset="0"/>
                <a:cs typeface="Times New Roman" panose="02020603050405020304" pitchFamily="18" charset="0"/>
              </a:rPr>
              <a:t>, meaning the previous day’s pollution has the strongest impact.</a:t>
            </a:r>
          </a:p>
          <a:p>
            <a:r>
              <a:rPr lang="en-US" sz="1800" b="1" dirty="0">
                <a:latin typeface="Times New Roman" panose="02020603050405020304" pitchFamily="18" charset="0"/>
                <a:cs typeface="Times New Roman" panose="02020603050405020304" pitchFamily="18" charset="0"/>
              </a:rPr>
              <a:t>Influence decreases from lag1 → lag3</a:t>
            </a:r>
            <a:r>
              <a:rPr lang="en-US" sz="1800" dirty="0">
                <a:latin typeface="Times New Roman" panose="02020603050405020304" pitchFamily="18" charset="0"/>
                <a:cs typeface="Times New Roman" panose="02020603050405020304" pitchFamily="18" charset="0"/>
              </a:rPr>
              <a:t>, showing effect weakens over time.</a:t>
            </a:r>
          </a:p>
          <a:p>
            <a:r>
              <a:rPr lang="en-US" sz="1800" dirty="0">
                <a:latin typeface="Times New Roman" panose="02020603050405020304" pitchFamily="18" charset="0"/>
                <a:cs typeface="Times New Roman" panose="02020603050405020304" pitchFamily="18" charset="0"/>
              </a:rPr>
              <a:t>Overall, </a:t>
            </a:r>
            <a:r>
              <a:rPr lang="en-US" sz="1800" b="1" dirty="0">
                <a:latin typeface="Times New Roman" panose="02020603050405020304" pitchFamily="18" charset="0"/>
                <a:cs typeface="Times New Roman" panose="02020603050405020304" pitchFamily="18" charset="0"/>
              </a:rPr>
              <a:t>recent exposure matters most for health risk prediction</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pic>
        <p:nvPicPr>
          <p:cNvPr id="7" name="Content Placeholder 7">
            <a:extLst>
              <a:ext uri="{FF2B5EF4-FFF2-40B4-BE49-F238E27FC236}">
                <a16:creationId xmlns:a16="http://schemas.microsoft.com/office/drawing/2014/main" id="{C7BDC90C-3C6C-3ECA-4F61-1E32661D7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45" y="1425678"/>
            <a:ext cx="5692877" cy="3047999"/>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432B9750-A084-8334-45D8-150BD8B97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347020"/>
            <a:ext cx="5496232" cy="3126658"/>
          </a:xfrm>
          <a:prstGeom prst="rect">
            <a:avLst/>
          </a:prstGeom>
          <a:ln>
            <a:noFill/>
          </a:ln>
          <a:effectLst>
            <a:outerShdw blurRad="292100" dist="139700" dir="2700000" algn="tl" rotWithShape="0">
              <a:srgbClr val="333333">
                <a:alpha val="65000"/>
              </a:srgbClr>
            </a:outerShdw>
          </a:effectLst>
        </p:spPr>
      </p:pic>
      <p:pic>
        <p:nvPicPr>
          <p:cNvPr id="8" name="Content Placeholder 7">
            <a:extLst>
              <a:ext uri="{FF2B5EF4-FFF2-40B4-BE49-F238E27FC236}">
                <a16:creationId xmlns:a16="http://schemas.microsoft.com/office/drawing/2014/main" id="{C8F44B75-5AD6-2424-5D15-D98FC08D04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45" y="1425678"/>
            <a:ext cx="5692877" cy="30479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6386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728E0-820E-5A72-989E-7B855BB3E411}"/>
              </a:ext>
            </a:extLst>
          </p:cNvPr>
          <p:cNvSpPr>
            <a:spLocks noGrp="1"/>
          </p:cNvSpPr>
          <p:nvPr>
            <p:ph type="title"/>
          </p:nvPr>
        </p:nvSpPr>
        <p:spPr>
          <a:xfrm>
            <a:off x="0" y="0"/>
            <a:ext cx="12192000" cy="934066"/>
          </a:xfrm>
        </p:spPr>
        <p:txBody>
          <a:bodyPr>
            <a:normAutofit/>
          </a:bodyPr>
          <a:lstStyle/>
          <a:p>
            <a:pPr algn="ctr"/>
            <a:r>
              <a:rPr lang="en-US" sz="4000" dirty="0">
                <a:latin typeface="Times New Roman" panose="02020603050405020304" pitchFamily="18" charset="0"/>
                <a:cs typeface="Times New Roman" panose="02020603050405020304" pitchFamily="18" charset="0"/>
              </a:rPr>
              <a:t>FEATURE IMPORTANCE ANALYSIS</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12EEE9C-82C1-586F-BCD0-A46A81CB41F5}"/>
              </a:ext>
            </a:extLst>
          </p:cNvPr>
          <p:cNvSpPr>
            <a:spLocks noGrp="1"/>
          </p:cNvSpPr>
          <p:nvPr>
            <p:ph type="body" idx="1"/>
          </p:nvPr>
        </p:nvSpPr>
        <p:spPr>
          <a:xfrm>
            <a:off x="78658" y="845575"/>
            <a:ext cx="5918917" cy="589936"/>
          </a:xfrm>
        </p:spPr>
        <p:txBody>
          <a:bodyPr>
            <a:normAutofit/>
          </a:bodyPr>
          <a:lstStyle/>
          <a:p>
            <a:r>
              <a:rPr lang="en-US" sz="2000" b="0" dirty="0">
                <a:solidFill>
                  <a:schemeClr val="tx1"/>
                </a:solidFill>
                <a:latin typeface="Times New Roman" panose="02020603050405020304" pitchFamily="18" charset="0"/>
                <a:cs typeface="Times New Roman" panose="02020603050405020304" pitchFamily="18" charset="0"/>
              </a:rPr>
              <a:t>CONTRIBUTION OF EACH POLLUTANT</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B0F08AA-2C24-CE93-C6FF-ADCBE4E02AA9}"/>
              </a:ext>
            </a:extLst>
          </p:cNvPr>
          <p:cNvSpPr>
            <a:spLocks noGrp="1"/>
          </p:cNvSpPr>
          <p:nvPr>
            <p:ph sz="half" idx="2"/>
          </p:nvPr>
        </p:nvSpPr>
        <p:spPr>
          <a:xfrm>
            <a:off x="157316" y="1661652"/>
            <a:ext cx="5840259" cy="5093109"/>
          </a:xfrm>
        </p:spPr>
        <p:txBody>
          <a:bodyPr>
            <a:norm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PM2.5 has the highest contribution (~50%)</a:t>
            </a:r>
            <a:r>
              <a:rPr lang="en-US" sz="1800" dirty="0">
                <a:latin typeface="Times New Roman" panose="02020603050405020304" pitchFamily="18" charset="0"/>
                <a:cs typeface="Times New Roman" panose="02020603050405020304" pitchFamily="18" charset="0"/>
              </a:rPr>
              <a:t>, making it the dominant factor in health risk.</a:t>
            </a:r>
          </a:p>
          <a:p>
            <a:r>
              <a:rPr lang="en-US" sz="1800" b="1" dirty="0">
                <a:latin typeface="Times New Roman" panose="02020603050405020304" pitchFamily="18" charset="0"/>
                <a:cs typeface="Times New Roman" panose="02020603050405020304" pitchFamily="18" charset="0"/>
              </a:rPr>
              <a:t>CO is the second most important</a:t>
            </a:r>
            <a:r>
              <a:rPr lang="en-US" sz="1800" dirty="0">
                <a:latin typeface="Times New Roman" panose="02020603050405020304" pitchFamily="18" charset="0"/>
                <a:cs typeface="Times New Roman" panose="02020603050405020304" pitchFamily="18" charset="0"/>
              </a:rPr>
              <a:t>, followed by SO₂ and NO₂ with moderate impact.</a:t>
            </a:r>
          </a:p>
          <a:p>
            <a:r>
              <a:rPr lang="en-US" sz="1800" b="1" dirty="0">
                <a:latin typeface="Times New Roman" panose="02020603050405020304" pitchFamily="18" charset="0"/>
                <a:cs typeface="Times New Roman" panose="02020603050405020304" pitchFamily="18" charset="0"/>
              </a:rPr>
              <a:t>O₃, NH₃, and Benzene have relatively low contributions</a:t>
            </a:r>
            <a:r>
              <a:rPr lang="en-US" sz="1800" dirty="0">
                <a:latin typeface="Times New Roman" panose="02020603050405020304" pitchFamily="18" charset="0"/>
                <a:cs typeface="Times New Roman" panose="02020603050405020304" pitchFamily="18" charset="0"/>
              </a:rPr>
              <a:t>, indicating a smaller role in risk prediction.</a:t>
            </a:r>
            <a:endParaRPr lang="en-IN" sz="1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833FEB29-13C5-E7B6-8493-B0DF1F4B59E4}"/>
              </a:ext>
            </a:extLst>
          </p:cNvPr>
          <p:cNvSpPr>
            <a:spLocks noGrp="1"/>
          </p:cNvSpPr>
          <p:nvPr>
            <p:ph type="body" sz="quarter" idx="3"/>
          </p:nvPr>
        </p:nvSpPr>
        <p:spPr>
          <a:xfrm>
            <a:off x="6172199" y="845575"/>
            <a:ext cx="5675671" cy="589936"/>
          </a:xfrm>
        </p:spPr>
        <p:txBody>
          <a:bodyPr>
            <a:normAutofit/>
          </a:bodyPr>
          <a:lstStyle/>
          <a:p>
            <a:r>
              <a:rPr lang="en-US" sz="2000" b="0" dirty="0">
                <a:solidFill>
                  <a:schemeClr val="tx1"/>
                </a:solidFill>
                <a:latin typeface="Times New Roman" panose="02020603050405020304" pitchFamily="18" charset="0"/>
                <a:cs typeface="Times New Roman" panose="02020603050405020304" pitchFamily="18" charset="0"/>
              </a:rPr>
              <a:t>CUMULATIVE FEATURE IMPORTANCE</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5639C010-CBB7-D838-A4A4-C5892BEC5D0B}"/>
              </a:ext>
            </a:extLst>
          </p:cNvPr>
          <p:cNvSpPr>
            <a:spLocks noGrp="1"/>
          </p:cNvSpPr>
          <p:nvPr>
            <p:ph sz="quarter" idx="4"/>
          </p:nvPr>
        </p:nvSpPr>
        <p:spPr>
          <a:xfrm>
            <a:off x="6172200" y="1661652"/>
            <a:ext cx="5862484" cy="5093109"/>
          </a:xfrm>
        </p:spPr>
        <p:txBody>
          <a:bodyPr>
            <a:norm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First few features contribute most (~50% by top 3–4 features)</a:t>
            </a:r>
            <a:r>
              <a:rPr lang="en-US" sz="1800" dirty="0">
                <a:latin typeface="Times New Roman" panose="02020603050405020304" pitchFamily="18" charset="0"/>
                <a:cs typeface="Times New Roman" panose="02020603050405020304" pitchFamily="18" charset="0"/>
              </a:rPr>
              <a:t>, showing strong dominance of key variables.</a:t>
            </a:r>
          </a:p>
          <a:p>
            <a:r>
              <a:rPr lang="en-US" sz="1800" dirty="0">
                <a:latin typeface="Times New Roman" panose="02020603050405020304" pitchFamily="18" charset="0"/>
                <a:cs typeface="Times New Roman" panose="02020603050405020304" pitchFamily="18" charset="0"/>
              </a:rPr>
              <a:t>After that, </a:t>
            </a:r>
            <a:r>
              <a:rPr lang="en-US" sz="1800" b="1" dirty="0">
                <a:latin typeface="Times New Roman" panose="02020603050405020304" pitchFamily="18" charset="0"/>
                <a:cs typeface="Times New Roman" panose="02020603050405020304" pitchFamily="18" charset="0"/>
              </a:rPr>
              <a:t>each additional feature adds smaller gains</a:t>
            </a:r>
            <a:r>
              <a:rPr lang="en-US" sz="1800" dirty="0">
                <a:latin typeface="Times New Roman" panose="02020603050405020304" pitchFamily="18" charset="0"/>
                <a:cs typeface="Times New Roman" panose="02020603050405020304" pitchFamily="18" charset="0"/>
              </a:rPr>
              <a:t>, indicating diminishing returns.</a:t>
            </a:r>
          </a:p>
          <a:p>
            <a:r>
              <a:rPr lang="en-US" sz="1800" b="1" dirty="0">
                <a:latin typeface="Times New Roman" panose="02020603050405020304" pitchFamily="18" charset="0"/>
                <a:cs typeface="Times New Roman" panose="02020603050405020304" pitchFamily="18" charset="0"/>
              </a:rPr>
              <a:t>Most importance (~90%+) is captured within ~15–18 features</a:t>
            </a:r>
            <a:r>
              <a:rPr lang="en-US" sz="1800" dirty="0">
                <a:latin typeface="Times New Roman" panose="02020603050405020304" pitchFamily="18" charset="0"/>
                <a:cs typeface="Times New Roman" panose="02020603050405020304" pitchFamily="18" charset="0"/>
              </a:rPr>
              <a:t>, so not all features are equally necessary.</a:t>
            </a:r>
            <a:endParaRPr lang="en-IN" sz="1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A314B7C-EA0F-5A34-224C-09B1CDE9D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439" y="1406015"/>
            <a:ext cx="5584723" cy="2949674"/>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6E56833E-095B-90D4-FF97-41BCA0C1C14B}"/>
              </a:ext>
            </a:extLst>
          </p:cNvPr>
          <p:cNvPicPr>
            <a:picLocks noChangeAspect="1"/>
          </p:cNvPicPr>
          <p:nvPr/>
        </p:nvPicPr>
        <p:blipFill>
          <a:blip r:embed="rId3"/>
          <a:stretch>
            <a:fillRect/>
          </a:stretch>
        </p:blipFill>
        <p:spPr>
          <a:xfrm>
            <a:off x="5892756" y="1435511"/>
            <a:ext cx="6234555" cy="29496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10410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89D61-FCC4-BFC9-061B-901950B93ADD}"/>
              </a:ext>
            </a:extLst>
          </p:cNvPr>
          <p:cNvSpPr>
            <a:spLocks noGrp="1"/>
          </p:cNvSpPr>
          <p:nvPr>
            <p:ph type="title"/>
          </p:nvPr>
        </p:nvSpPr>
        <p:spPr>
          <a:xfrm>
            <a:off x="0" y="73741"/>
            <a:ext cx="12192000" cy="750171"/>
          </a:xfrm>
        </p:spPr>
        <p:txBody>
          <a:bodyPr>
            <a:noAutofit/>
          </a:bodyPr>
          <a:lstStyle/>
          <a:p>
            <a:pPr algn="ctr"/>
            <a:r>
              <a:rPr lang="en-US" sz="4000" dirty="0">
                <a:latin typeface="Times New Roman" panose="02020603050405020304" pitchFamily="18" charset="0"/>
                <a:cs typeface="Times New Roman" panose="02020603050405020304" pitchFamily="18" charset="0"/>
              </a:rPr>
              <a:t>STATISTICAL RESULTS</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1F1B1D7-73F4-C939-A391-A7A771ED6393}"/>
              </a:ext>
            </a:extLst>
          </p:cNvPr>
          <p:cNvSpPr>
            <a:spLocks noGrp="1"/>
          </p:cNvSpPr>
          <p:nvPr>
            <p:ph type="body" idx="1"/>
          </p:nvPr>
        </p:nvSpPr>
        <p:spPr>
          <a:xfrm>
            <a:off x="88490" y="963562"/>
            <a:ext cx="5909085" cy="442452"/>
          </a:xfrm>
        </p:spPr>
        <p:txBody>
          <a:bodyPr>
            <a:normAutofit/>
          </a:bodyPr>
          <a:lstStyle/>
          <a:p>
            <a:pPr algn="ctr"/>
            <a:r>
              <a:rPr lang="en-US" sz="2000" b="0" dirty="0">
                <a:solidFill>
                  <a:schemeClr val="tx1"/>
                </a:solidFill>
                <a:latin typeface="Times New Roman" panose="02020603050405020304" pitchFamily="18" charset="0"/>
                <a:cs typeface="Times New Roman" panose="02020603050405020304" pitchFamily="18" charset="0"/>
              </a:rPr>
              <a:t>Mann-Whitney U</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A2FE2BF-6BDC-5953-146E-C2D4D2D8FFA2}"/>
              </a:ext>
            </a:extLst>
          </p:cNvPr>
          <p:cNvSpPr>
            <a:spLocks noGrp="1"/>
          </p:cNvSpPr>
          <p:nvPr>
            <p:ph sz="half" idx="2"/>
          </p:nvPr>
        </p:nvSpPr>
        <p:spPr>
          <a:xfrm>
            <a:off x="88490" y="1545664"/>
            <a:ext cx="5909085" cy="5238594"/>
          </a:xfrm>
        </p:spPr>
        <p:txBody>
          <a:bodyPr>
            <a:norm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High-risk group has </a:t>
            </a:r>
            <a:r>
              <a:rPr lang="en-US" sz="1800" b="1" dirty="0">
                <a:latin typeface="Times New Roman" panose="02020603050405020304" pitchFamily="18" charset="0"/>
                <a:cs typeface="Times New Roman" panose="02020603050405020304" pitchFamily="18" charset="0"/>
              </a:rPr>
              <a:t>significantly higher PM2.5, CO, and NO₂ levels</a:t>
            </a:r>
            <a:r>
              <a:rPr lang="en-US" sz="1800" dirty="0">
                <a:latin typeface="Times New Roman" panose="02020603050405020304" pitchFamily="18" charset="0"/>
                <a:cs typeface="Times New Roman" panose="02020603050405020304" pitchFamily="18" charset="0"/>
              </a:rPr>
              <a:t> than low-risk group.</a:t>
            </a:r>
          </a:p>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median values are clearly higher</a:t>
            </a:r>
            <a:r>
              <a:rPr lang="en-US" sz="1800" dirty="0">
                <a:latin typeface="Times New Roman" panose="02020603050405020304" pitchFamily="18" charset="0"/>
                <a:cs typeface="Times New Roman" panose="02020603050405020304" pitchFamily="18" charset="0"/>
              </a:rPr>
              <a:t> in high-risk areas, showing consistent differences.</a:t>
            </a:r>
          </a:p>
          <a:p>
            <a:r>
              <a:rPr lang="en-US" sz="1800" b="1" dirty="0">
                <a:latin typeface="Times New Roman" panose="02020603050405020304" pitchFamily="18" charset="0"/>
                <a:cs typeface="Times New Roman" panose="02020603050405020304" pitchFamily="18" charset="0"/>
              </a:rPr>
              <a:t>Statistical test (p &lt; 0.001)</a:t>
            </a:r>
            <a:r>
              <a:rPr lang="en-US" sz="1800" dirty="0">
                <a:latin typeface="Times New Roman" panose="02020603050405020304" pitchFamily="18" charset="0"/>
                <a:cs typeface="Times New Roman" panose="02020603050405020304" pitchFamily="18" charset="0"/>
              </a:rPr>
              <a:t> confirms these differences are </a:t>
            </a:r>
            <a:r>
              <a:rPr lang="en-US" sz="1800" b="1" dirty="0">
                <a:latin typeface="Times New Roman" panose="02020603050405020304" pitchFamily="18" charset="0"/>
                <a:cs typeface="Times New Roman" panose="02020603050405020304" pitchFamily="18" charset="0"/>
              </a:rPr>
              <a:t>highly significant</a:t>
            </a:r>
            <a:r>
              <a:rPr lang="en-US" sz="1800" dirty="0">
                <a:latin typeface="Times New Roman" panose="02020603050405020304" pitchFamily="18" charset="0"/>
                <a:cs typeface="Times New Roman" panose="02020603050405020304" pitchFamily="18" charset="0"/>
              </a:rPr>
              <a:t>, not due to chance. </a:t>
            </a:r>
          </a:p>
        </p:txBody>
      </p:sp>
      <p:sp>
        <p:nvSpPr>
          <p:cNvPr id="5" name="Text Placeholder 4">
            <a:extLst>
              <a:ext uri="{FF2B5EF4-FFF2-40B4-BE49-F238E27FC236}">
                <a16:creationId xmlns:a16="http://schemas.microsoft.com/office/drawing/2014/main" id="{E92FE1BB-3004-8727-6055-6FE271EDE73A}"/>
              </a:ext>
            </a:extLst>
          </p:cNvPr>
          <p:cNvSpPr>
            <a:spLocks noGrp="1"/>
          </p:cNvSpPr>
          <p:nvPr>
            <p:ph type="body" sz="quarter" idx="3"/>
          </p:nvPr>
        </p:nvSpPr>
        <p:spPr>
          <a:xfrm>
            <a:off x="6172200" y="963562"/>
            <a:ext cx="5909084" cy="442452"/>
          </a:xfrm>
        </p:spPr>
        <p:txBody>
          <a:bodyPr>
            <a:normAutofit/>
          </a:bodyPr>
          <a:lstStyle/>
          <a:p>
            <a:pPr algn="ctr"/>
            <a:r>
              <a:rPr lang="en-US" sz="2000" b="0" dirty="0">
                <a:solidFill>
                  <a:schemeClr val="tx1"/>
                </a:solidFill>
                <a:latin typeface="Times New Roman" panose="02020603050405020304" pitchFamily="18" charset="0"/>
                <a:cs typeface="Times New Roman" panose="02020603050405020304" pitchFamily="18" charset="0"/>
              </a:rPr>
              <a:t>CHI-SQUARE TEST</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2ACA7922-FAA1-C09D-570D-96523F8830C9}"/>
              </a:ext>
            </a:extLst>
          </p:cNvPr>
          <p:cNvSpPr>
            <a:spLocks noGrp="1"/>
          </p:cNvSpPr>
          <p:nvPr>
            <p:ph sz="quarter" idx="4"/>
          </p:nvPr>
        </p:nvSpPr>
        <p:spPr>
          <a:xfrm>
            <a:off x="6019803" y="1406015"/>
            <a:ext cx="6061480" cy="5378242"/>
          </a:xfrm>
        </p:spPr>
        <p:txBody>
          <a:bodyPr>
            <a:no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Cities like Ahmedabad, Delhi, and Patna have very high high-risk day percentages</a:t>
            </a:r>
            <a:r>
              <a:rPr lang="en-US" sz="1800" dirty="0">
                <a:latin typeface="Times New Roman" panose="02020603050405020304" pitchFamily="18" charset="0"/>
                <a:cs typeface="Times New Roman" panose="02020603050405020304" pitchFamily="18" charset="0"/>
              </a:rPr>
              <a:t>, well above the national average (~67%), indicating severe pollution exposure.</a:t>
            </a:r>
          </a:p>
          <a:p>
            <a:r>
              <a:rPr lang="en-US" sz="1800" b="1" dirty="0">
                <a:latin typeface="Times New Roman" panose="02020603050405020304" pitchFamily="18" charset="0"/>
                <a:cs typeface="Times New Roman" panose="02020603050405020304" pitchFamily="18" charset="0"/>
              </a:rPr>
              <a:t>Clear variation across cities</a:t>
            </a:r>
            <a:r>
              <a:rPr lang="en-US" sz="1800" dirty="0">
                <a:latin typeface="Times New Roman" panose="02020603050405020304" pitchFamily="18" charset="0"/>
                <a:cs typeface="Times New Roman" panose="02020603050405020304" pitchFamily="18" charset="0"/>
              </a:rPr>
              <a:t>—some (like Chennai, Hyderabad) are below average, showing relatively better air quality.</a:t>
            </a:r>
          </a:p>
          <a:p>
            <a:r>
              <a:rPr lang="en-US" sz="1800" b="1" dirty="0">
                <a:latin typeface="Times New Roman" panose="02020603050405020304" pitchFamily="18" charset="0"/>
                <a:cs typeface="Times New Roman" panose="02020603050405020304" pitchFamily="18" charset="0"/>
              </a:rPr>
              <a:t>Chi-square test (p &lt;&lt; 0.001)</a:t>
            </a:r>
            <a:r>
              <a:rPr lang="en-US" sz="1800" dirty="0">
                <a:latin typeface="Times New Roman" panose="02020603050405020304" pitchFamily="18" charset="0"/>
                <a:cs typeface="Times New Roman" panose="02020603050405020304" pitchFamily="18" charset="0"/>
              </a:rPr>
              <a:t> confirms that differences between cities are </a:t>
            </a:r>
            <a:r>
              <a:rPr lang="en-US" sz="1800" b="1" dirty="0">
                <a:latin typeface="Times New Roman" panose="02020603050405020304" pitchFamily="18" charset="0"/>
                <a:cs typeface="Times New Roman" panose="02020603050405020304" pitchFamily="18" charset="0"/>
              </a:rPr>
              <a:t>statistically significant</a:t>
            </a:r>
            <a:r>
              <a:rPr lang="en-US" sz="1800" dirty="0">
                <a:latin typeface="Times New Roman" panose="02020603050405020304" pitchFamily="18" charset="0"/>
                <a:cs typeface="Times New Roman" panose="02020603050405020304" pitchFamily="18" charset="0"/>
              </a:rPr>
              <a:t>, not random.</a:t>
            </a:r>
            <a:endParaRPr lang="en-IN" sz="1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97B24DC-E88C-43A0-0EB6-17DA3D07D3AA}"/>
              </a:ext>
            </a:extLst>
          </p:cNvPr>
          <p:cNvPicPr>
            <a:picLocks noChangeAspect="1"/>
          </p:cNvPicPr>
          <p:nvPr/>
        </p:nvPicPr>
        <p:blipFill>
          <a:blip r:embed="rId2"/>
          <a:stretch>
            <a:fillRect/>
          </a:stretch>
        </p:blipFill>
        <p:spPr>
          <a:xfrm>
            <a:off x="110718" y="1545664"/>
            <a:ext cx="5670650" cy="246589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200ECAF1-6526-6723-D393-0D9874127D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2" y="1545663"/>
            <a:ext cx="5909083" cy="24658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53959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B26C8-B59B-C69C-B7C7-CE54535B9801}"/>
              </a:ext>
            </a:extLst>
          </p:cNvPr>
          <p:cNvSpPr>
            <a:spLocks noGrp="1"/>
          </p:cNvSpPr>
          <p:nvPr>
            <p:ph type="title"/>
          </p:nvPr>
        </p:nvSpPr>
        <p:spPr>
          <a:xfrm>
            <a:off x="0" y="251642"/>
            <a:ext cx="12192000" cy="572270"/>
          </a:xfrm>
        </p:spPr>
        <p:txBody>
          <a:bodyPr>
            <a:noAutofit/>
          </a:bodyPr>
          <a:lstStyle/>
          <a:p>
            <a:pPr algn="ctr"/>
            <a:r>
              <a:rPr lang="en-US" sz="4000" dirty="0">
                <a:latin typeface="Times New Roman" panose="02020603050405020304" pitchFamily="18" charset="0"/>
                <a:cs typeface="Times New Roman" panose="02020603050405020304" pitchFamily="18" charset="0"/>
              </a:rPr>
              <a:t>STATISTICAL RESULTS</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864BF5C-43A1-A266-8E11-0E25F4F1912C}"/>
              </a:ext>
            </a:extLst>
          </p:cNvPr>
          <p:cNvSpPr>
            <a:spLocks noGrp="1"/>
          </p:cNvSpPr>
          <p:nvPr>
            <p:ph type="body" idx="1"/>
          </p:nvPr>
        </p:nvSpPr>
        <p:spPr>
          <a:xfrm>
            <a:off x="78658" y="823912"/>
            <a:ext cx="5918917" cy="572269"/>
          </a:xfrm>
        </p:spPr>
        <p:txBody>
          <a:bodyPr>
            <a:normAutofit/>
          </a:bodyPr>
          <a:lstStyle/>
          <a:p>
            <a:r>
              <a:rPr lang="en-US" sz="2000" b="0" dirty="0">
                <a:solidFill>
                  <a:schemeClr val="tx1"/>
                </a:solidFill>
                <a:latin typeface="Times New Roman" panose="02020603050405020304" pitchFamily="18" charset="0"/>
                <a:cs typeface="Times New Roman" panose="02020603050405020304" pitchFamily="18" charset="0"/>
              </a:rPr>
              <a:t>KRUSKAL-WALLIS TEST</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EB16DA4-8524-898D-54E6-510AB4D1FD88}"/>
              </a:ext>
            </a:extLst>
          </p:cNvPr>
          <p:cNvSpPr>
            <a:spLocks noGrp="1"/>
          </p:cNvSpPr>
          <p:nvPr>
            <p:ph sz="half" idx="2"/>
          </p:nvPr>
        </p:nvSpPr>
        <p:spPr>
          <a:xfrm>
            <a:off x="78658" y="1474838"/>
            <a:ext cx="5918917" cy="5309419"/>
          </a:xfrm>
        </p:spPr>
        <p:txBody>
          <a:bodyPr>
            <a:normAutofit lnSpcReduction="10000"/>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All cities exceed WHO (15 µg/m³), and many exceed CPCB (60 µg/m³) limits, indicating severe pollution levels.</a:t>
            </a:r>
          </a:p>
          <a:p>
            <a:r>
              <a:rPr lang="en-US" sz="1800" dirty="0">
                <a:latin typeface="Times New Roman" panose="02020603050405020304" pitchFamily="18" charset="0"/>
                <a:cs typeface="Times New Roman" panose="02020603050405020304" pitchFamily="18" charset="0"/>
              </a:rPr>
              <a:t>Cities like Gurugram, Delhi, and Lucknow show higher and more spread-out PM2.5 levels, meaning frequent extreme pollution events.</a:t>
            </a:r>
          </a:p>
          <a:p>
            <a:r>
              <a:rPr lang="en-US" sz="1800" dirty="0">
                <a:latin typeface="Times New Roman" panose="02020603050405020304" pitchFamily="18" charset="0"/>
                <a:cs typeface="Times New Roman" panose="02020603050405020304" pitchFamily="18" charset="0"/>
              </a:rPr>
              <a:t>Kruskal-Wallis test (p &lt;&lt; 0.001) confirms significant differences between cities’ pollution levels. </a:t>
            </a:r>
          </a:p>
        </p:txBody>
      </p:sp>
      <p:sp>
        <p:nvSpPr>
          <p:cNvPr id="5" name="Text Placeholder 4">
            <a:extLst>
              <a:ext uri="{FF2B5EF4-FFF2-40B4-BE49-F238E27FC236}">
                <a16:creationId xmlns:a16="http://schemas.microsoft.com/office/drawing/2014/main" id="{027A6C10-5592-06D4-CD6B-EB9FCF7667F3}"/>
              </a:ext>
            </a:extLst>
          </p:cNvPr>
          <p:cNvSpPr>
            <a:spLocks noGrp="1"/>
          </p:cNvSpPr>
          <p:nvPr>
            <p:ph type="body" sz="quarter" idx="3"/>
          </p:nvPr>
        </p:nvSpPr>
        <p:spPr>
          <a:xfrm>
            <a:off x="6172200" y="823912"/>
            <a:ext cx="5183188" cy="572269"/>
          </a:xfrm>
        </p:spPr>
        <p:txBody>
          <a:bodyPr>
            <a:normAutofit/>
          </a:bodyPr>
          <a:lstStyle/>
          <a:p>
            <a:r>
              <a:rPr lang="en-US" sz="2000" b="0" dirty="0">
                <a:solidFill>
                  <a:schemeClr val="tx1"/>
                </a:solidFill>
                <a:latin typeface="Times New Roman" panose="02020603050405020304" pitchFamily="18" charset="0"/>
                <a:cs typeface="Times New Roman" panose="02020603050405020304" pitchFamily="18" charset="0"/>
              </a:rPr>
              <a:t>AUGMENTED-DICKER FULLER</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E0BE1343-9A46-CE6E-64BE-F045AA2F5E93}"/>
              </a:ext>
            </a:extLst>
          </p:cNvPr>
          <p:cNvSpPr>
            <a:spLocks noGrp="1"/>
          </p:cNvSpPr>
          <p:nvPr>
            <p:ph sz="quarter" idx="4"/>
          </p:nvPr>
        </p:nvSpPr>
        <p:spPr>
          <a:xfrm>
            <a:off x="6172199" y="1474838"/>
            <a:ext cx="5918917" cy="5309419"/>
          </a:xfrm>
        </p:spPr>
        <p:txBody>
          <a:bodyPr>
            <a:normAutofit lnSpcReduction="10000"/>
          </a:bodyPr>
          <a:lstStyle/>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PM2.5 levels in Delhi fluctuate heavily over time</a:t>
            </a:r>
            <a:r>
              <a:rPr lang="en-US" sz="1800" dirty="0">
                <a:latin typeface="Times New Roman" panose="02020603050405020304" pitchFamily="18" charset="0"/>
                <a:cs typeface="Times New Roman" panose="02020603050405020304" pitchFamily="18" charset="0"/>
              </a:rPr>
              <a:t>, with frequent spikes, showing unstable air quality.</a:t>
            </a:r>
          </a:p>
          <a:p>
            <a:r>
              <a:rPr lang="en-US" sz="1800" b="1" dirty="0">
                <a:latin typeface="Times New Roman" panose="02020603050405020304" pitchFamily="18" charset="0"/>
                <a:cs typeface="Times New Roman" panose="02020603050405020304" pitchFamily="18" charset="0"/>
              </a:rPr>
              <a:t>Seasonal pattern is visible</a:t>
            </a:r>
            <a:r>
              <a:rPr lang="en-US" sz="1800" dirty="0">
                <a:latin typeface="Times New Roman" panose="02020603050405020304" pitchFamily="18" charset="0"/>
                <a:cs typeface="Times New Roman" panose="02020603050405020304" pitchFamily="18" charset="0"/>
              </a:rPr>
              <a:t>—higher pollution peaks occur regularly (likely winters), while lower levels appear in other periods.</a:t>
            </a:r>
          </a:p>
          <a:p>
            <a:r>
              <a:rPr lang="en-US" sz="1800" b="1" dirty="0">
                <a:latin typeface="Times New Roman" panose="02020603050405020304" pitchFamily="18" charset="0"/>
                <a:cs typeface="Times New Roman" panose="02020603050405020304" pitchFamily="18" charset="0"/>
              </a:rPr>
              <a:t>Rolling mean and standard deviation vary</a:t>
            </a:r>
            <a:r>
              <a:rPr lang="en-US" sz="1800" dirty="0">
                <a:latin typeface="Times New Roman" panose="02020603050405020304" pitchFamily="18" charset="0"/>
                <a:cs typeface="Times New Roman" panose="02020603050405020304" pitchFamily="18" charset="0"/>
              </a:rPr>
              <a:t>, indicating the data is </a:t>
            </a:r>
            <a:r>
              <a:rPr lang="en-US" sz="1800" b="1" dirty="0">
                <a:latin typeface="Times New Roman" panose="02020603050405020304" pitchFamily="18" charset="0"/>
                <a:cs typeface="Times New Roman" panose="02020603050405020304" pitchFamily="18" charset="0"/>
              </a:rPr>
              <a:t>not fully stationary</a:t>
            </a:r>
            <a:r>
              <a:rPr lang="en-US" sz="1800" dirty="0">
                <a:latin typeface="Times New Roman" panose="02020603050405020304" pitchFamily="18" charset="0"/>
                <a:cs typeface="Times New Roman" panose="02020603050405020304" pitchFamily="18" charset="0"/>
              </a:rPr>
              <a:t> (mean and variability change over time).</a:t>
            </a: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6E0124C-4AF7-9A63-47BD-D9A7D97644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29" y="1474836"/>
            <a:ext cx="5584723" cy="2713705"/>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137747E1-1A59-7E8D-B93B-99F3B61575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474836"/>
            <a:ext cx="5744293" cy="27137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72025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C708C-1E6B-B5DE-6021-10A4F439B4CD}"/>
              </a:ext>
            </a:extLst>
          </p:cNvPr>
          <p:cNvSpPr>
            <a:spLocks noGrp="1"/>
          </p:cNvSpPr>
          <p:nvPr>
            <p:ph type="title"/>
          </p:nvPr>
        </p:nvSpPr>
        <p:spPr>
          <a:xfrm>
            <a:off x="255640" y="306131"/>
            <a:ext cx="11815916" cy="903237"/>
          </a:xfrm>
        </p:spPr>
        <p:txBody>
          <a:bodyPr>
            <a:normAutofit/>
          </a:bodyPr>
          <a:lstStyle/>
          <a:p>
            <a:r>
              <a:rPr lang="en-US" sz="4000" dirty="0">
                <a:latin typeface="Times New Roman" panose="02020603050405020304" pitchFamily="18" charset="0"/>
                <a:cs typeface="Times New Roman" panose="02020603050405020304" pitchFamily="18" charset="0"/>
              </a:rPr>
              <a:t>LOGISTIC REGRESSION ODDS RATIOS (OR)</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55708B-B5DE-4A74-EF3F-F57BDDB83811}"/>
              </a:ext>
            </a:extLst>
          </p:cNvPr>
          <p:cNvSpPr>
            <a:spLocks noGrp="1"/>
          </p:cNvSpPr>
          <p:nvPr>
            <p:ph idx="1"/>
          </p:nvPr>
        </p:nvSpPr>
        <p:spPr>
          <a:xfrm>
            <a:off x="0" y="1209368"/>
            <a:ext cx="12280489" cy="5476567"/>
          </a:xfrm>
        </p:spPr>
        <p:txBody>
          <a:bodyPr>
            <a:normAutofit/>
          </a:bodyPr>
          <a:lstStyle/>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PM2.5 has a very high odds ratio</a:t>
            </a:r>
            <a:r>
              <a:rPr lang="en-US" sz="1800" dirty="0">
                <a:latin typeface="Times New Roman" panose="02020603050405020304" pitchFamily="18" charset="0"/>
                <a:cs typeface="Times New Roman" panose="02020603050405020304" pitchFamily="18" charset="0"/>
              </a:rPr>
              <a:t>, making it the strongest contributor to increased health risk.</a:t>
            </a:r>
          </a:p>
          <a:p>
            <a:r>
              <a:rPr lang="en-US" sz="1800" b="1" dirty="0">
                <a:latin typeface="Times New Roman" panose="02020603050405020304" pitchFamily="18" charset="0"/>
                <a:cs typeface="Times New Roman" panose="02020603050405020304" pitchFamily="18" charset="0"/>
              </a:rPr>
              <a:t>CO, SO₂, NO₂, and O₃ also increase risk (OR &gt; 1)</a:t>
            </a:r>
            <a:r>
              <a:rPr lang="en-US" sz="1800" dirty="0">
                <a:latin typeface="Times New Roman" panose="02020603050405020304" pitchFamily="18" charset="0"/>
                <a:cs typeface="Times New Roman" panose="02020603050405020304" pitchFamily="18" charset="0"/>
              </a:rPr>
              <a:t> but with much smaller effects.</a:t>
            </a:r>
          </a:p>
          <a:p>
            <a:r>
              <a:rPr lang="en-US" sz="1800" b="1" dirty="0">
                <a:latin typeface="Times New Roman" panose="02020603050405020304" pitchFamily="18" charset="0"/>
                <a:cs typeface="Times New Roman" panose="02020603050405020304" pitchFamily="18" charset="0"/>
              </a:rPr>
              <a:t>NH₃ and Benzene (OR &lt; 1)</a:t>
            </a:r>
            <a:r>
              <a:rPr lang="en-US" sz="1800" dirty="0">
                <a:latin typeface="Times New Roman" panose="02020603050405020304" pitchFamily="18" charset="0"/>
                <a:cs typeface="Times New Roman" panose="02020603050405020304" pitchFamily="18" charset="0"/>
              </a:rPr>
              <a:t> show little or no significant risk increase.</a:t>
            </a: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13183F3-2789-9517-A933-A78FD3EA8E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58" y="1209368"/>
            <a:ext cx="10058400" cy="34117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23832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6A002-66D8-74AC-00BE-8D2E59E8F52F}"/>
              </a:ext>
            </a:extLst>
          </p:cNvPr>
          <p:cNvSpPr>
            <a:spLocks noGrp="1"/>
          </p:cNvSpPr>
          <p:nvPr>
            <p:ph type="title"/>
          </p:nvPr>
        </p:nvSpPr>
        <p:spPr>
          <a:xfrm>
            <a:off x="285135" y="149483"/>
            <a:ext cx="11670891" cy="823912"/>
          </a:xfrm>
        </p:spPr>
        <p:txBody>
          <a:bodyPr>
            <a:normAutofit/>
          </a:bodyPr>
          <a:lstStyle/>
          <a:p>
            <a:pPr algn="ctr"/>
            <a:r>
              <a:rPr lang="en-US" sz="4000" dirty="0">
                <a:latin typeface="Times New Roman" panose="02020603050405020304" pitchFamily="18" charset="0"/>
                <a:cs typeface="Times New Roman" panose="02020603050405020304" pitchFamily="18" charset="0"/>
              </a:rPr>
              <a:t>MODEL PERFORMANCE</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22E1491-2997-A97C-5524-75DB7FB3D1B9}"/>
              </a:ext>
            </a:extLst>
          </p:cNvPr>
          <p:cNvSpPr>
            <a:spLocks noGrp="1"/>
          </p:cNvSpPr>
          <p:nvPr>
            <p:ph type="body" idx="1"/>
          </p:nvPr>
        </p:nvSpPr>
        <p:spPr>
          <a:xfrm>
            <a:off x="235974" y="1071717"/>
            <a:ext cx="5761601" cy="511278"/>
          </a:xfrm>
        </p:spPr>
        <p:txBody>
          <a:bodyPr>
            <a:normAutofit/>
          </a:bodyPr>
          <a:lstStyle/>
          <a:p>
            <a:pPr algn="ctr"/>
            <a:r>
              <a:rPr lang="en-US" sz="2000" b="0" dirty="0">
                <a:solidFill>
                  <a:schemeClr val="tx1"/>
                </a:solidFill>
                <a:latin typeface="Times New Roman" panose="02020603050405020304" pitchFamily="18" charset="0"/>
                <a:cs typeface="Times New Roman" panose="02020603050405020304" pitchFamily="18" charset="0"/>
              </a:rPr>
              <a:t>MODEL EVALUATION</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71F515C-4082-6420-AD76-7D7BB12B63B9}"/>
              </a:ext>
            </a:extLst>
          </p:cNvPr>
          <p:cNvSpPr>
            <a:spLocks noGrp="1"/>
          </p:cNvSpPr>
          <p:nvPr>
            <p:ph sz="half" idx="2"/>
          </p:nvPr>
        </p:nvSpPr>
        <p:spPr>
          <a:xfrm>
            <a:off x="285135" y="1750143"/>
            <a:ext cx="5712440" cy="4958374"/>
          </a:xfrm>
        </p:spPr>
        <p:txBody>
          <a:bodyPr>
            <a:norm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Random Forest performs best overall</a:t>
            </a:r>
            <a:r>
              <a:rPr lang="en-US" sz="1800" dirty="0">
                <a:latin typeface="Times New Roman" panose="02020603050405020304" pitchFamily="18" charset="0"/>
                <a:cs typeface="Times New Roman" panose="02020603050405020304" pitchFamily="18" charset="0"/>
              </a:rPr>
              <a:t>, with highest accuracy (89.2%) and F1 scores.</a:t>
            </a:r>
          </a:p>
          <a:p>
            <a:r>
              <a:rPr lang="en-US" sz="1800" b="1" dirty="0">
                <a:latin typeface="Times New Roman" panose="02020603050405020304" pitchFamily="18" charset="0"/>
                <a:cs typeface="Times New Roman" panose="02020603050405020304" pitchFamily="18" charset="0"/>
              </a:rPr>
              <a:t>SVM is the second-best model</a:t>
            </a:r>
            <a:r>
              <a:rPr lang="en-US" sz="1800" dirty="0">
                <a:latin typeface="Times New Roman" panose="02020603050405020304" pitchFamily="18" charset="0"/>
                <a:cs typeface="Times New Roman" panose="02020603050405020304" pitchFamily="18" charset="0"/>
              </a:rPr>
              <a:t>, with slightly lower but strong performance.</a:t>
            </a:r>
          </a:p>
          <a:p>
            <a:r>
              <a:rPr lang="en-US" sz="1800" b="1" dirty="0">
                <a:latin typeface="Times New Roman" panose="02020603050405020304" pitchFamily="18" charset="0"/>
                <a:cs typeface="Times New Roman" panose="02020603050405020304" pitchFamily="18" charset="0"/>
              </a:rPr>
              <a:t>KNN and Logistic Regression perform similarly</a:t>
            </a:r>
            <a:r>
              <a:rPr lang="en-US" sz="1800" dirty="0">
                <a:latin typeface="Times New Roman" panose="02020603050405020304" pitchFamily="18" charset="0"/>
                <a:cs typeface="Times New Roman" panose="02020603050405020304" pitchFamily="18" charset="0"/>
              </a:rPr>
              <a:t>, but slightly weaker than RF and SVM. </a:t>
            </a: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60B73B09-6AFD-C911-9E60-E7FD787DDD2B}"/>
              </a:ext>
            </a:extLst>
          </p:cNvPr>
          <p:cNvSpPr>
            <a:spLocks noGrp="1"/>
          </p:cNvSpPr>
          <p:nvPr>
            <p:ph type="body" sz="quarter" idx="3"/>
          </p:nvPr>
        </p:nvSpPr>
        <p:spPr>
          <a:xfrm>
            <a:off x="6172200" y="1071716"/>
            <a:ext cx="5783826" cy="511279"/>
          </a:xfrm>
        </p:spPr>
        <p:txBody>
          <a:bodyPr>
            <a:normAutofit/>
          </a:bodyPr>
          <a:lstStyle/>
          <a:p>
            <a:pPr algn="ctr"/>
            <a:r>
              <a:rPr lang="en-US" sz="2000" b="0" dirty="0">
                <a:solidFill>
                  <a:schemeClr val="tx1"/>
                </a:solidFill>
                <a:latin typeface="Times New Roman" panose="02020603050405020304" pitchFamily="18" charset="0"/>
                <a:cs typeface="Times New Roman" panose="02020603050405020304" pitchFamily="18" charset="0"/>
              </a:rPr>
              <a:t>CONFUSION MATRIX</a:t>
            </a:r>
            <a:endParaRPr lang="en-IN" sz="2000" b="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0B1E85F6-5BBC-21F3-A81C-1C10F43963AD}"/>
              </a:ext>
            </a:extLst>
          </p:cNvPr>
          <p:cNvSpPr>
            <a:spLocks noGrp="1"/>
          </p:cNvSpPr>
          <p:nvPr>
            <p:ph sz="quarter" idx="4"/>
          </p:nvPr>
        </p:nvSpPr>
        <p:spPr>
          <a:xfrm>
            <a:off x="6172199" y="1750142"/>
            <a:ext cx="5734665" cy="4958373"/>
          </a:xfrm>
        </p:spPr>
        <p:txBody>
          <a:bodyPr>
            <a:normAutofit/>
          </a:bodyPr>
          <a:lstStyle/>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Random Forest performs best</a:t>
            </a:r>
            <a:r>
              <a:rPr lang="en-US" sz="1800" dirty="0">
                <a:latin typeface="Times New Roman" panose="02020603050405020304" pitchFamily="18" charset="0"/>
                <a:cs typeface="Times New Roman" panose="02020603050405020304" pitchFamily="18" charset="0"/>
              </a:rPr>
              <a:t>, with the highest true positives (3,726) and lowest errors (FP &amp; FN).</a:t>
            </a:r>
          </a:p>
          <a:p>
            <a:r>
              <a:rPr lang="en-US" sz="1800" b="1" dirty="0">
                <a:latin typeface="Times New Roman" panose="02020603050405020304" pitchFamily="18" charset="0"/>
                <a:cs typeface="Times New Roman" panose="02020603050405020304" pitchFamily="18" charset="0"/>
              </a:rPr>
              <a:t>SVM and KNN perform well</a:t>
            </a:r>
            <a:r>
              <a:rPr lang="en-US" sz="1800" dirty="0">
                <a:latin typeface="Times New Roman" panose="02020603050405020304" pitchFamily="18" charset="0"/>
                <a:cs typeface="Times New Roman" panose="02020603050405020304" pitchFamily="18" charset="0"/>
              </a:rPr>
              <a:t>, but have slightly more misclassifications than Random Forest.</a:t>
            </a:r>
          </a:p>
          <a:p>
            <a:r>
              <a:rPr lang="en-US" sz="1800" b="1" dirty="0">
                <a:latin typeface="Times New Roman" panose="02020603050405020304" pitchFamily="18" charset="0"/>
                <a:cs typeface="Times New Roman" panose="02020603050405020304" pitchFamily="18" charset="0"/>
              </a:rPr>
              <a:t>Logistic Regression has the highest errors</a:t>
            </a:r>
            <a:r>
              <a:rPr lang="en-US" sz="1800" dirty="0">
                <a:latin typeface="Times New Roman" panose="02020603050405020304" pitchFamily="18" charset="0"/>
                <a:cs typeface="Times New Roman" panose="02020603050405020304" pitchFamily="18" charset="0"/>
              </a:rPr>
              <a:t>, especially false positives, making it the weakest among the four.</a:t>
            </a:r>
            <a:endParaRPr lang="en-IN" sz="1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1550620-A667-4184-0BAB-BE7784EB82AA}"/>
              </a:ext>
            </a:extLst>
          </p:cNvPr>
          <p:cNvPicPr>
            <a:picLocks noChangeAspect="1"/>
          </p:cNvPicPr>
          <p:nvPr/>
        </p:nvPicPr>
        <p:blipFill>
          <a:blip r:embed="rId2"/>
          <a:stretch>
            <a:fillRect/>
          </a:stretch>
        </p:blipFill>
        <p:spPr>
          <a:xfrm>
            <a:off x="110511" y="1848990"/>
            <a:ext cx="5208741" cy="2329720"/>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CA307A7B-882F-2AD2-95AB-8241AB0FE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575" y="1750142"/>
            <a:ext cx="5614322" cy="23297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01116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9EDE0-734E-2382-E1B4-DED3E87BE720}"/>
              </a:ext>
            </a:extLst>
          </p:cNvPr>
          <p:cNvSpPr>
            <a:spLocks noGrp="1"/>
          </p:cNvSpPr>
          <p:nvPr>
            <p:ph type="title"/>
          </p:nvPr>
        </p:nvSpPr>
        <p:spPr>
          <a:xfrm>
            <a:off x="1" y="365125"/>
            <a:ext cx="12192000" cy="1011391"/>
          </a:xfrm>
        </p:spPr>
        <p:txBody>
          <a:bodyPr>
            <a:normAutofit/>
          </a:bodyPr>
          <a:lstStyle/>
          <a:p>
            <a:pPr algn="ctr"/>
            <a:r>
              <a:rPr lang="en-IN" sz="4000" dirty="0">
                <a:latin typeface="Times New Roman" panose="02020603050405020304" pitchFamily="18" charset="0"/>
                <a:cs typeface="Times New Roman" panose="02020603050405020304" pitchFamily="18" charset="0"/>
              </a:rPr>
              <a:t>CONCLUSIONS</a:t>
            </a:r>
          </a:p>
        </p:txBody>
      </p:sp>
      <p:sp>
        <p:nvSpPr>
          <p:cNvPr id="3" name="Content Placeholder 2">
            <a:extLst>
              <a:ext uri="{FF2B5EF4-FFF2-40B4-BE49-F238E27FC236}">
                <a16:creationId xmlns:a16="http://schemas.microsoft.com/office/drawing/2014/main" id="{B8C0F23E-CECB-7E68-EAB9-EC06C9093D97}"/>
              </a:ext>
            </a:extLst>
          </p:cNvPr>
          <p:cNvSpPr>
            <a:spLocks noGrp="1"/>
          </p:cNvSpPr>
          <p:nvPr>
            <p:ph idx="1"/>
          </p:nvPr>
        </p:nvSpPr>
        <p:spPr>
          <a:xfrm>
            <a:off x="265471" y="1376516"/>
            <a:ext cx="11631561" cy="5319252"/>
          </a:xfrm>
        </p:spPr>
        <p:txBody>
          <a:bodyPr>
            <a:normAutofit/>
          </a:bodyPr>
          <a:lstStyle/>
          <a:p>
            <a:r>
              <a:rPr lang="en-US" sz="1800" b="1" dirty="0">
                <a:latin typeface="Times New Roman" panose="02020603050405020304" pitchFamily="18" charset="0"/>
                <a:cs typeface="Times New Roman" panose="02020603050405020304" pitchFamily="18" charset="0"/>
              </a:rPr>
              <a:t>PM2.5 is the most important pollutant</a:t>
            </a:r>
            <a:r>
              <a:rPr lang="en-US" sz="1800" dirty="0">
                <a:latin typeface="Times New Roman" panose="02020603050405020304" pitchFamily="18" charset="0"/>
                <a:cs typeface="Times New Roman" panose="02020603050405020304" pitchFamily="18" charset="0"/>
              </a:rPr>
              <a:t> for health risk. largest effect size (r=0.81), OR=399, and 48.6% feature importance in Random Forest</a:t>
            </a:r>
          </a:p>
          <a:p>
            <a:r>
              <a:rPr lang="en-US" sz="1800" b="1" dirty="0">
                <a:latin typeface="Times New Roman" panose="02020603050405020304" pitchFamily="18" charset="0"/>
                <a:cs typeface="Times New Roman" panose="02020603050405020304" pitchFamily="18" charset="0"/>
              </a:rPr>
              <a:t>Risk is different in each city</a:t>
            </a:r>
            <a:r>
              <a:rPr lang="en-US" sz="1800" dirty="0">
                <a:latin typeface="Times New Roman" panose="02020603050405020304" pitchFamily="18" charset="0"/>
                <a:cs typeface="Times New Roman" panose="02020603050405020304" pitchFamily="18" charset="0"/>
              </a:rPr>
              <a:t>, not the same everywhere(</a:t>
            </a:r>
            <a:r>
              <a:rPr lang="en-IN" sz="1800" dirty="0">
                <a:latin typeface="Times New Roman" panose="02020603050405020304" pitchFamily="18" charset="0"/>
                <a:cs typeface="Times New Roman" panose="02020603050405020304" pitchFamily="18" charset="0"/>
              </a:rPr>
              <a:t>Chi-Square p≈0).</a:t>
            </a:r>
          </a:p>
          <a:p>
            <a:r>
              <a:rPr lang="en-US" sz="1800" b="1" dirty="0">
                <a:latin typeface="Times New Roman" panose="02020603050405020304" pitchFamily="18" charset="0"/>
                <a:cs typeface="Times New Roman" panose="02020603050405020304" pitchFamily="18" charset="0"/>
              </a:rPr>
              <a:t>Random Forest with lag features achieves 89.2% accuracy</a:t>
            </a:r>
            <a:r>
              <a:rPr lang="en-US" sz="1800" dirty="0">
                <a:latin typeface="Times New Roman" panose="02020603050405020304" pitchFamily="18" charset="0"/>
                <a:cs typeface="Times New Roman" panose="02020603050405020304" pitchFamily="18" charset="0"/>
              </a:rPr>
              <a:t> — best among all 4 models tested.</a:t>
            </a:r>
          </a:p>
          <a:p>
            <a:r>
              <a:rPr lang="en-US" sz="1800" b="1" dirty="0">
                <a:latin typeface="Times New Roman" panose="02020603050405020304" pitchFamily="18" charset="0"/>
                <a:cs typeface="Times New Roman" panose="02020603050405020304" pitchFamily="18" charset="0"/>
              </a:rPr>
              <a:t>Recent exposure (1–3 days) strongly predicts risk</a:t>
            </a:r>
            <a:r>
              <a:rPr lang="en-US" sz="1800" dirty="0">
                <a:latin typeface="Times New Roman" panose="02020603050405020304" pitchFamily="18" charset="0"/>
                <a:cs typeface="Times New Roman" panose="02020603050405020304" pitchFamily="18" charset="0"/>
              </a:rPr>
              <a:t>.</a:t>
            </a:r>
          </a:p>
          <a:p>
            <a:r>
              <a:rPr lang="en-US" sz="1800" b="1" dirty="0">
                <a:latin typeface="Times New Roman" panose="02020603050405020304" pitchFamily="18" charset="0"/>
                <a:cs typeface="Times New Roman" panose="02020603050405020304" pitchFamily="18" charset="0"/>
              </a:rPr>
              <a:t>All pollutants differ significantly</a:t>
            </a:r>
            <a:r>
              <a:rPr lang="en-US" sz="1800" dirty="0">
                <a:latin typeface="Times New Roman" panose="02020603050405020304" pitchFamily="18" charset="0"/>
                <a:cs typeface="Times New Roman" panose="02020603050405020304" pitchFamily="18" charset="0"/>
              </a:rPr>
              <a:t> between low and high risk(Mann-Whitney U, all p &lt; 0.001).</a:t>
            </a:r>
          </a:p>
          <a:p>
            <a:r>
              <a:rPr lang="en-US" sz="1800" b="1" dirty="0">
                <a:latin typeface="Times New Roman" panose="02020603050405020304" pitchFamily="18" charset="0"/>
                <a:cs typeface="Times New Roman" panose="02020603050405020304" pitchFamily="18" charset="0"/>
              </a:rPr>
              <a:t>City-specific pollution policies are statistically justified</a:t>
            </a:r>
            <a:r>
              <a:rPr lang="en-US" sz="1800" dirty="0">
                <a:latin typeface="Times New Roman" panose="02020603050405020304" pitchFamily="18" charset="0"/>
                <a:cs typeface="Times New Roman" panose="02020603050405020304" pitchFamily="18" charset="0"/>
              </a:rPr>
              <a:t> — PM2.5 varies significantly across 26 cities (Kruskal-Wallis p≈0)</a:t>
            </a:r>
          </a:p>
          <a:p>
            <a:pPr marL="0" indent="0">
              <a:buNone/>
            </a:pPr>
            <a:r>
              <a:rPr lang="en-IN" sz="2000" b="1" dirty="0">
                <a:latin typeface="Times New Roman" panose="02020603050405020304" pitchFamily="18" charset="0"/>
                <a:cs typeface="Times New Roman" panose="02020603050405020304" pitchFamily="18" charset="0"/>
              </a:rPr>
              <a:t>SOLUTION DEPLOYABILITY:</a:t>
            </a:r>
          </a:p>
          <a:p>
            <a:r>
              <a:rPr lang="en-US" sz="1800" dirty="0">
                <a:latin typeface="Times New Roman" panose="02020603050405020304" pitchFamily="18" charset="0"/>
                <a:cs typeface="Times New Roman" panose="02020603050405020304" pitchFamily="18" charset="0"/>
              </a:rPr>
              <a:t>Use the last 3 days of data to </a:t>
            </a:r>
            <a:r>
              <a:rPr lang="en-US" sz="1800" b="1" dirty="0">
                <a:latin typeface="Times New Roman" panose="02020603050405020304" pitchFamily="18" charset="0"/>
                <a:cs typeface="Times New Roman" panose="02020603050405020304" pitchFamily="18" charset="0"/>
              </a:rPr>
              <a:t>predict next-day health risk and give alerts</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Hospitals can </a:t>
            </a:r>
            <a:r>
              <a:rPr lang="en-US" sz="1800" b="1" dirty="0">
                <a:latin typeface="Times New Roman" panose="02020603050405020304" pitchFamily="18" charset="0"/>
                <a:cs typeface="Times New Roman" panose="02020603050405020304" pitchFamily="18" charset="0"/>
              </a:rPr>
              <a:t>prepare in advance</a:t>
            </a:r>
            <a:r>
              <a:rPr lang="en-US" sz="1800" dirty="0">
                <a:latin typeface="Times New Roman" panose="02020603050405020304" pitchFamily="18" charset="0"/>
                <a:cs typeface="Times New Roman" panose="02020603050405020304" pitchFamily="18" charset="0"/>
              </a:rPr>
              <a:t> for high-risk days.</a:t>
            </a:r>
          </a:p>
          <a:p>
            <a:r>
              <a:rPr lang="en-US" sz="1800" dirty="0">
                <a:latin typeface="Times New Roman" panose="02020603050405020304" pitchFamily="18" charset="0"/>
                <a:cs typeface="Times New Roman" panose="02020603050405020304" pitchFamily="18" charset="0"/>
              </a:rPr>
              <a:t>Create an app to </a:t>
            </a:r>
            <a:r>
              <a:rPr lang="en-US" sz="1800" b="1" dirty="0">
                <a:latin typeface="Times New Roman" panose="02020603050405020304" pitchFamily="18" charset="0"/>
                <a:cs typeface="Times New Roman" panose="02020603050405020304" pitchFamily="18" charset="0"/>
              </a:rPr>
              <a:t>show daily risk levels to people</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Make </a:t>
            </a:r>
            <a:r>
              <a:rPr lang="en-US" sz="1800" b="1" dirty="0">
                <a:latin typeface="Times New Roman" panose="02020603050405020304" pitchFamily="18" charset="0"/>
                <a:cs typeface="Times New Roman" panose="02020603050405020304" pitchFamily="18" charset="0"/>
              </a:rPr>
              <a:t>city-specific pollution rules</a:t>
            </a:r>
            <a:r>
              <a:rPr lang="en-US" sz="1800" dirty="0">
                <a:latin typeface="Times New Roman" panose="02020603050405020304" pitchFamily="18" charset="0"/>
                <a:cs typeface="Times New Roman" panose="02020603050405020304" pitchFamily="18" charset="0"/>
              </a:rPr>
              <a:t> instead of same rules for all.</a:t>
            </a:r>
          </a:p>
          <a:p>
            <a:r>
              <a:rPr lang="en-US" sz="1800" dirty="0">
                <a:latin typeface="Times New Roman" panose="02020603050405020304" pitchFamily="18" charset="0"/>
                <a:cs typeface="Times New Roman" panose="02020603050405020304" pitchFamily="18" charset="0"/>
              </a:rPr>
              <a:t>Focus on reducing </a:t>
            </a:r>
            <a:r>
              <a:rPr lang="en-US" sz="1800" b="1" dirty="0">
                <a:latin typeface="Times New Roman" panose="02020603050405020304" pitchFamily="18" charset="0"/>
                <a:cs typeface="Times New Roman" panose="02020603050405020304" pitchFamily="18" charset="0"/>
              </a:rPr>
              <a:t>PM2.5 and CO</a:t>
            </a:r>
            <a:r>
              <a:rPr lang="en-US" sz="1800" dirty="0">
                <a:latin typeface="Times New Roman" panose="02020603050405020304" pitchFamily="18" charset="0"/>
                <a:cs typeface="Times New Roman" panose="02020603050405020304" pitchFamily="18" charset="0"/>
              </a:rPr>
              <a:t> for better health impact.</a:t>
            </a: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72562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860</TotalTime>
  <Words>2251</Words>
  <Application>Microsoft Office PowerPoint</Application>
  <PresentationFormat>Widescreen</PresentationFormat>
  <Paragraphs>415</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Century Gothic</vt:lpstr>
      <vt:lpstr>Garamond</vt:lpstr>
      <vt:lpstr>Times New Roman</vt:lpstr>
      <vt:lpstr>Savon</vt:lpstr>
      <vt:lpstr>Lag-Based Health Risk Prediction from Urban Air Pollution: A Statistical and Machine Learning Approach Across Indian Cities</vt:lpstr>
      <vt:lpstr>PROBLEM STATEMENT</vt:lpstr>
      <vt:lpstr>RESEARCH GAP IDENTIFIED</vt:lpstr>
      <vt:lpstr>PowerPoint Presentation</vt:lpstr>
      <vt:lpstr>DATASET OVERVIEW</vt:lpstr>
      <vt:lpstr>DATA PREPROCESSING</vt:lpstr>
      <vt:lpstr>EDA</vt:lpstr>
      <vt:lpstr>EDA</vt:lpstr>
      <vt:lpstr>FEATURE IMPORTANCE ANALYSIS</vt:lpstr>
      <vt:lpstr>FEATURE IMPORTANCE ANALYSIS</vt:lpstr>
      <vt:lpstr>STATISTICAL RESULTS</vt:lpstr>
      <vt:lpstr>STATISTICAL RESULTS</vt:lpstr>
      <vt:lpstr>LOGISTIC REGRESSION ODDS RATIOS (OR)</vt:lpstr>
      <vt:lpstr>MODEL PERFORMANCE</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Susrita Panda</dc:creator>
  <cp:lastModifiedBy>Susrita Panda</cp:lastModifiedBy>
  <cp:revision>1</cp:revision>
  <dcterms:created xsi:type="dcterms:W3CDTF">2026-04-06T12:43:09Z</dcterms:created>
  <dcterms:modified xsi:type="dcterms:W3CDTF">2026-04-18T05:50:41Z</dcterms:modified>
</cp:coreProperties>
</file>